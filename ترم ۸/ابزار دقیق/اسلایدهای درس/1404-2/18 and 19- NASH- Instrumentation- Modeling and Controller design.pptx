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94" r:id="rId2"/>
    <p:sldId id="633" r:id="rId3"/>
    <p:sldId id="636" r:id="rId4"/>
    <p:sldId id="635" r:id="rId5"/>
    <p:sldId id="637" r:id="rId6"/>
    <p:sldId id="638" r:id="rId7"/>
    <p:sldId id="539" r:id="rId8"/>
    <p:sldId id="639" r:id="rId9"/>
    <p:sldId id="640" r:id="rId10"/>
    <p:sldId id="641" r:id="rId11"/>
    <p:sldId id="642" r:id="rId12"/>
    <p:sldId id="643" r:id="rId13"/>
    <p:sldId id="607" r:id="rId14"/>
    <p:sldId id="606" r:id="rId15"/>
    <p:sldId id="608" r:id="rId16"/>
    <p:sldId id="609" r:id="rId17"/>
    <p:sldId id="610" r:id="rId18"/>
    <p:sldId id="611" r:id="rId19"/>
    <p:sldId id="612" r:id="rId20"/>
    <p:sldId id="650" r:id="rId21"/>
    <p:sldId id="613" r:id="rId22"/>
    <p:sldId id="615" r:id="rId23"/>
    <p:sldId id="652" r:id="rId24"/>
    <p:sldId id="651" r:id="rId25"/>
    <p:sldId id="617" r:id="rId26"/>
    <p:sldId id="619" r:id="rId27"/>
    <p:sldId id="620" r:id="rId28"/>
    <p:sldId id="653" r:id="rId29"/>
    <p:sldId id="621" r:id="rId30"/>
    <p:sldId id="622" r:id="rId31"/>
    <p:sldId id="644" r:id="rId32"/>
    <p:sldId id="645" r:id="rId33"/>
    <p:sldId id="649" r:id="rId34"/>
    <p:sldId id="646" r:id="rId35"/>
    <p:sldId id="647" r:id="rId36"/>
    <p:sldId id="648" r:id="rId37"/>
    <p:sldId id="623" r:id="rId38"/>
    <p:sldId id="624" r:id="rId39"/>
    <p:sldId id="625" r:id="rId40"/>
    <p:sldId id="626" r:id="rId41"/>
    <p:sldId id="657" r:id="rId42"/>
    <p:sldId id="656" r:id="rId43"/>
    <p:sldId id="628" r:id="rId44"/>
    <p:sldId id="629" r:id="rId45"/>
    <p:sldId id="630" r:id="rId46"/>
    <p:sldId id="631" r:id="rId47"/>
    <p:sldId id="632" r:id="rId48"/>
    <p:sldId id="658" r:id="rId49"/>
    <p:sldId id="660" r:id="rId50"/>
    <p:sldId id="662" r:id="rId51"/>
    <p:sldId id="661" r:id="rId52"/>
    <p:sldId id="655" r:id="rId53"/>
  </p:sldIdLst>
  <p:sldSz cx="9144000" cy="6858000" type="screen4x3"/>
  <p:notesSz cx="7102475" cy="10231438"/>
  <p:custDataLst>
    <p:tags r:id="rId55"/>
  </p:custDataLst>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r" defTabSz="914400" rtl="1" eaLnBrk="1" latinLnBrk="0" hangingPunct="1">
      <a:defRPr kern="1200">
        <a:solidFill>
          <a:schemeClr val="tx1"/>
        </a:solidFill>
        <a:latin typeface="Arial" pitchFamily="34" charset="0"/>
        <a:ea typeface="+mn-ea"/>
        <a:cs typeface="+mn-cs"/>
      </a:defRPr>
    </a:lvl6pPr>
    <a:lvl7pPr marL="2743200" algn="r" defTabSz="914400" rtl="1" eaLnBrk="1" latinLnBrk="0" hangingPunct="1">
      <a:defRPr kern="1200">
        <a:solidFill>
          <a:schemeClr val="tx1"/>
        </a:solidFill>
        <a:latin typeface="Arial" pitchFamily="34" charset="0"/>
        <a:ea typeface="+mn-ea"/>
        <a:cs typeface="+mn-cs"/>
      </a:defRPr>
    </a:lvl7pPr>
    <a:lvl8pPr marL="3200400" algn="r" defTabSz="914400" rtl="1" eaLnBrk="1" latinLnBrk="0" hangingPunct="1">
      <a:defRPr kern="1200">
        <a:solidFill>
          <a:schemeClr val="tx1"/>
        </a:solidFill>
        <a:latin typeface="Arial" pitchFamily="34" charset="0"/>
        <a:ea typeface="+mn-ea"/>
        <a:cs typeface="+mn-cs"/>
      </a:defRPr>
    </a:lvl8pPr>
    <a:lvl9pPr marL="3657600" algn="r" defTabSz="914400" rtl="1"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FFFFFF"/>
    <a:srgbClr val="FF0000"/>
    <a:srgbClr val="FFFFCC"/>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794" autoAdjust="0"/>
    <p:restoredTop sz="91818" autoAdjust="0"/>
  </p:normalViewPr>
  <p:slideViewPr>
    <p:cSldViewPr>
      <p:cViewPr varScale="1">
        <p:scale>
          <a:sx n="62" d="100"/>
          <a:sy n="62" d="100"/>
        </p:scale>
        <p:origin x="1124" y="88"/>
      </p:cViewPr>
      <p:guideLst>
        <p:guide orient="horz" pos="2160"/>
        <p:guide pos="2880"/>
      </p:guideLst>
    </p:cSldViewPr>
  </p:slideViewPr>
  <p:outlineViewPr>
    <p:cViewPr>
      <p:scale>
        <a:sx n="33" d="100"/>
        <a:sy n="33" d="100"/>
      </p:scale>
      <p:origin x="0" y="-8130"/>
    </p:cViewPr>
  </p:outlineViewPr>
  <p:notesTextViewPr>
    <p:cViewPr>
      <p:scale>
        <a:sx n="100" d="100"/>
        <a:sy n="100" d="100"/>
      </p:scale>
      <p:origin x="0" y="0"/>
    </p:cViewPr>
  </p:notesTextViewPr>
  <p:sorterViewPr>
    <p:cViewPr>
      <p:scale>
        <a:sx n="66" d="100"/>
        <a:sy n="66" d="100"/>
      </p:scale>
      <p:origin x="0" y="147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3077739" cy="511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defRPr sz="1300"/>
            </a:lvl1pPr>
          </a:lstStyle>
          <a:p>
            <a:endParaRPr lang="en-US" altLang="fa-IR"/>
          </a:p>
        </p:txBody>
      </p:sp>
      <p:sp>
        <p:nvSpPr>
          <p:cNvPr id="16387" name="Rectangle 3"/>
          <p:cNvSpPr>
            <a:spLocks noGrp="1" noChangeArrowheads="1"/>
          </p:cNvSpPr>
          <p:nvPr>
            <p:ph type="dt" idx="1"/>
          </p:nvPr>
        </p:nvSpPr>
        <p:spPr bwMode="auto">
          <a:xfrm>
            <a:off x="4023092" y="0"/>
            <a:ext cx="3077739" cy="511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lgn="r">
              <a:defRPr sz="1300"/>
            </a:lvl1pPr>
          </a:lstStyle>
          <a:p>
            <a:endParaRPr lang="en-US" altLang="fa-IR"/>
          </a:p>
        </p:txBody>
      </p:sp>
      <p:sp>
        <p:nvSpPr>
          <p:cNvPr id="16388" name="Rectangle 4"/>
          <p:cNvSpPr>
            <a:spLocks noGrp="1" noRot="1" noChangeAspect="1" noChangeArrowheads="1" noTextEdit="1"/>
          </p:cNvSpPr>
          <p:nvPr>
            <p:ph type="sldImg" idx="2"/>
          </p:nvPr>
        </p:nvSpPr>
        <p:spPr bwMode="auto">
          <a:xfrm>
            <a:off x="993775" y="766763"/>
            <a:ext cx="5114925" cy="3836987"/>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6389" name="Rectangle 5"/>
          <p:cNvSpPr>
            <a:spLocks noGrp="1" noChangeArrowheads="1"/>
          </p:cNvSpPr>
          <p:nvPr>
            <p:ph type="body" sz="quarter" idx="3"/>
          </p:nvPr>
        </p:nvSpPr>
        <p:spPr bwMode="auto">
          <a:xfrm>
            <a:off x="710248" y="4859933"/>
            <a:ext cx="5681980" cy="4604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p>
            <a:pPr lvl="0"/>
            <a:r>
              <a:rPr lang="en-US" altLang="fa-IR" smtClean="0"/>
              <a:t>Textmasterformate durch Klicken bearbeiten</a:t>
            </a:r>
          </a:p>
          <a:p>
            <a:pPr lvl="1"/>
            <a:r>
              <a:rPr lang="en-US" altLang="fa-IR" smtClean="0"/>
              <a:t>Zweite Ebene</a:t>
            </a:r>
          </a:p>
          <a:p>
            <a:pPr lvl="2"/>
            <a:r>
              <a:rPr lang="en-US" altLang="fa-IR" smtClean="0"/>
              <a:t>Dritte Ebene</a:t>
            </a:r>
          </a:p>
          <a:p>
            <a:pPr lvl="3"/>
            <a:r>
              <a:rPr lang="en-US" altLang="fa-IR" smtClean="0"/>
              <a:t>Vierte Ebene</a:t>
            </a:r>
          </a:p>
          <a:p>
            <a:pPr lvl="4"/>
            <a:r>
              <a:rPr lang="en-US" altLang="fa-IR" smtClean="0"/>
              <a:t>Fünfte Ebene</a:t>
            </a:r>
          </a:p>
        </p:txBody>
      </p:sp>
      <p:sp>
        <p:nvSpPr>
          <p:cNvPr id="16390" name="Rectangle 6"/>
          <p:cNvSpPr>
            <a:spLocks noGrp="1" noChangeArrowheads="1"/>
          </p:cNvSpPr>
          <p:nvPr>
            <p:ph type="ftr" sz="quarter" idx="4"/>
          </p:nvPr>
        </p:nvSpPr>
        <p:spPr bwMode="auto">
          <a:xfrm>
            <a:off x="0" y="9718090"/>
            <a:ext cx="3077739" cy="511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defRPr sz="1300"/>
            </a:lvl1pPr>
          </a:lstStyle>
          <a:p>
            <a:endParaRPr lang="en-US" altLang="fa-IR"/>
          </a:p>
        </p:txBody>
      </p:sp>
      <p:sp>
        <p:nvSpPr>
          <p:cNvPr id="16391" name="Rectangle 7"/>
          <p:cNvSpPr>
            <a:spLocks noGrp="1" noChangeArrowheads="1"/>
          </p:cNvSpPr>
          <p:nvPr>
            <p:ph type="sldNum" sz="quarter" idx="5"/>
          </p:nvPr>
        </p:nvSpPr>
        <p:spPr bwMode="auto">
          <a:xfrm>
            <a:off x="4023092" y="9718090"/>
            <a:ext cx="3077739" cy="511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a:defRPr sz="1300"/>
            </a:lvl1pPr>
          </a:lstStyle>
          <a:p>
            <a:fld id="{5223D8BE-E198-468C-8D11-BE3BD2D5AC70}" type="slidenum">
              <a:rPr lang="en-US" altLang="fa-IR"/>
              <a:pPr/>
              <a:t>‹#›</a:t>
            </a:fld>
            <a:endParaRPr lang="en-US" altLang="fa-IR"/>
          </a:p>
        </p:txBody>
      </p:sp>
    </p:spTree>
    <p:extLst>
      <p:ext uri="{BB962C8B-B14F-4D97-AF65-F5344CB8AC3E}">
        <p14:creationId xmlns:p14="http://schemas.microsoft.com/office/powerpoint/2010/main" val="2964782199"/>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mn-ea"/>
        <a:cs typeface="+mn-cs"/>
      </a:defRPr>
    </a:lvl1pPr>
    <a:lvl2pPr marL="457200" algn="l" rtl="0" fontAlgn="base">
      <a:spcBef>
        <a:spcPct val="30000"/>
      </a:spcBef>
      <a:spcAft>
        <a:spcPct val="0"/>
      </a:spcAft>
      <a:defRPr sz="1200" kern="1200">
        <a:solidFill>
          <a:schemeClr val="tx1"/>
        </a:solidFill>
        <a:latin typeface="Arial" pitchFamily="34" charset="0"/>
        <a:ea typeface="+mn-ea"/>
        <a:cs typeface="+mn-cs"/>
      </a:defRPr>
    </a:lvl2pPr>
    <a:lvl3pPr marL="914400" algn="l" rtl="0" fontAlgn="base">
      <a:spcBef>
        <a:spcPct val="30000"/>
      </a:spcBef>
      <a:spcAft>
        <a:spcPct val="0"/>
      </a:spcAft>
      <a:defRPr sz="1200" kern="1200">
        <a:solidFill>
          <a:schemeClr val="tx1"/>
        </a:solidFill>
        <a:latin typeface="Arial" pitchFamily="34" charset="0"/>
        <a:ea typeface="+mn-ea"/>
        <a:cs typeface="+mn-cs"/>
      </a:defRPr>
    </a:lvl3pPr>
    <a:lvl4pPr marL="1371600" algn="l" rtl="0" fontAlgn="base">
      <a:spcBef>
        <a:spcPct val="30000"/>
      </a:spcBef>
      <a:spcAft>
        <a:spcPct val="0"/>
      </a:spcAft>
      <a:defRPr sz="1200" kern="1200">
        <a:solidFill>
          <a:schemeClr val="tx1"/>
        </a:solidFill>
        <a:latin typeface="Arial" pitchFamily="34" charset="0"/>
        <a:ea typeface="+mn-ea"/>
        <a:cs typeface="+mn-cs"/>
      </a:defRPr>
    </a:lvl4pPr>
    <a:lvl5pPr marL="1828800" algn="l" rtl="0" fontAlgn="base">
      <a:spcBef>
        <a:spcPct val="30000"/>
      </a:spcBef>
      <a:spcAft>
        <a:spcPct val="0"/>
      </a:spcAft>
      <a:defRPr sz="1200" kern="1200">
        <a:solidFill>
          <a:schemeClr val="tx1"/>
        </a:solidFill>
        <a:latin typeface="Arial" pitchFamily="34" charset="0"/>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2</a:t>
            </a:fld>
            <a:endParaRPr lang="en-US" altLang="fa-IR"/>
          </a:p>
        </p:txBody>
      </p:sp>
    </p:spTree>
    <p:extLst>
      <p:ext uri="{BB962C8B-B14F-4D97-AF65-F5344CB8AC3E}">
        <p14:creationId xmlns:p14="http://schemas.microsoft.com/office/powerpoint/2010/main" val="3386061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3</a:t>
            </a:fld>
            <a:endParaRPr lang="en-US" altLang="fa-IR"/>
          </a:p>
        </p:txBody>
      </p:sp>
    </p:spTree>
    <p:extLst>
      <p:ext uri="{BB962C8B-B14F-4D97-AF65-F5344CB8AC3E}">
        <p14:creationId xmlns:p14="http://schemas.microsoft.com/office/powerpoint/2010/main" val="21897449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4</a:t>
            </a:fld>
            <a:endParaRPr lang="en-US" altLang="fa-IR"/>
          </a:p>
        </p:txBody>
      </p:sp>
    </p:spTree>
    <p:extLst>
      <p:ext uri="{BB962C8B-B14F-4D97-AF65-F5344CB8AC3E}">
        <p14:creationId xmlns:p14="http://schemas.microsoft.com/office/powerpoint/2010/main" val="6119277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5</a:t>
            </a:fld>
            <a:endParaRPr lang="en-US" altLang="fa-IR"/>
          </a:p>
        </p:txBody>
      </p:sp>
    </p:spTree>
    <p:extLst>
      <p:ext uri="{BB962C8B-B14F-4D97-AF65-F5344CB8AC3E}">
        <p14:creationId xmlns:p14="http://schemas.microsoft.com/office/powerpoint/2010/main" val="4422547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6</a:t>
            </a:fld>
            <a:endParaRPr lang="en-US" altLang="fa-IR"/>
          </a:p>
        </p:txBody>
      </p:sp>
    </p:spTree>
    <p:extLst>
      <p:ext uri="{BB962C8B-B14F-4D97-AF65-F5344CB8AC3E}">
        <p14:creationId xmlns:p14="http://schemas.microsoft.com/office/powerpoint/2010/main" val="26070107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7</a:t>
            </a:fld>
            <a:endParaRPr lang="en-US" altLang="fa-IR"/>
          </a:p>
        </p:txBody>
      </p:sp>
    </p:spTree>
    <p:extLst>
      <p:ext uri="{BB962C8B-B14F-4D97-AF65-F5344CB8AC3E}">
        <p14:creationId xmlns:p14="http://schemas.microsoft.com/office/powerpoint/2010/main" val="35062905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8</a:t>
            </a:fld>
            <a:endParaRPr lang="en-US" altLang="fa-IR"/>
          </a:p>
        </p:txBody>
      </p:sp>
    </p:spTree>
    <p:extLst>
      <p:ext uri="{BB962C8B-B14F-4D97-AF65-F5344CB8AC3E}">
        <p14:creationId xmlns:p14="http://schemas.microsoft.com/office/powerpoint/2010/main" val="36601162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9</a:t>
            </a:fld>
            <a:endParaRPr lang="en-US" altLang="fa-IR"/>
          </a:p>
        </p:txBody>
      </p:sp>
    </p:spTree>
    <p:extLst>
      <p:ext uri="{BB962C8B-B14F-4D97-AF65-F5344CB8AC3E}">
        <p14:creationId xmlns:p14="http://schemas.microsoft.com/office/powerpoint/2010/main" val="1035258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10</a:t>
            </a:fld>
            <a:endParaRPr lang="en-US" altLang="fa-IR"/>
          </a:p>
        </p:txBody>
      </p:sp>
    </p:spTree>
    <p:extLst>
      <p:ext uri="{BB962C8B-B14F-4D97-AF65-F5344CB8AC3E}">
        <p14:creationId xmlns:p14="http://schemas.microsoft.com/office/powerpoint/2010/main" val="9472331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11</a:t>
            </a:fld>
            <a:endParaRPr lang="en-US" altLang="fa-IR"/>
          </a:p>
        </p:txBody>
      </p:sp>
    </p:spTree>
    <p:extLst>
      <p:ext uri="{BB962C8B-B14F-4D97-AF65-F5344CB8AC3E}">
        <p14:creationId xmlns:p14="http://schemas.microsoft.com/office/powerpoint/2010/main" val="19621858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12</a:t>
            </a:fld>
            <a:endParaRPr lang="en-US" altLang="fa-IR"/>
          </a:p>
        </p:txBody>
      </p:sp>
    </p:spTree>
    <p:extLst>
      <p:ext uri="{BB962C8B-B14F-4D97-AF65-F5344CB8AC3E}">
        <p14:creationId xmlns:p14="http://schemas.microsoft.com/office/powerpoint/2010/main" val="8084592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13</a:t>
            </a:fld>
            <a:endParaRPr lang="en-US" altLang="fa-IR"/>
          </a:p>
        </p:txBody>
      </p:sp>
    </p:spTree>
    <p:extLst>
      <p:ext uri="{BB962C8B-B14F-4D97-AF65-F5344CB8AC3E}">
        <p14:creationId xmlns:p14="http://schemas.microsoft.com/office/powerpoint/2010/main" val="35062905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14</a:t>
            </a:fld>
            <a:endParaRPr lang="en-US" altLang="fa-IR"/>
          </a:p>
        </p:txBody>
      </p:sp>
    </p:spTree>
    <p:extLst>
      <p:ext uri="{BB962C8B-B14F-4D97-AF65-F5344CB8AC3E}">
        <p14:creationId xmlns:p14="http://schemas.microsoft.com/office/powerpoint/2010/main" val="35062905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15</a:t>
            </a:fld>
            <a:endParaRPr lang="en-US" altLang="fa-IR"/>
          </a:p>
        </p:txBody>
      </p:sp>
    </p:spTree>
    <p:extLst>
      <p:ext uri="{BB962C8B-B14F-4D97-AF65-F5344CB8AC3E}">
        <p14:creationId xmlns:p14="http://schemas.microsoft.com/office/powerpoint/2010/main" val="35062905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16</a:t>
            </a:fld>
            <a:endParaRPr lang="en-US" altLang="fa-IR"/>
          </a:p>
        </p:txBody>
      </p:sp>
    </p:spTree>
    <p:extLst>
      <p:ext uri="{BB962C8B-B14F-4D97-AF65-F5344CB8AC3E}">
        <p14:creationId xmlns:p14="http://schemas.microsoft.com/office/powerpoint/2010/main" val="35062905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17</a:t>
            </a:fld>
            <a:endParaRPr lang="en-US" altLang="fa-IR"/>
          </a:p>
        </p:txBody>
      </p:sp>
    </p:spTree>
    <p:extLst>
      <p:ext uri="{BB962C8B-B14F-4D97-AF65-F5344CB8AC3E}">
        <p14:creationId xmlns:p14="http://schemas.microsoft.com/office/powerpoint/2010/main" val="35062905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18</a:t>
            </a:fld>
            <a:endParaRPr lang="en-US" altLang="fa-IR"/>
          </a:p>
        </p:txBody>
      </p:sp>
    </p:spTree>
    <p:extLst>
      <p:ext uri="{BB962C8B-B14F-4D97-AF65-F5344CB8AC3E}">
        <p14:creationId xmlns:p14="http://schemas.microsoft.com/office/powerpoint/2010/main" val="35062905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19</a:t>
            </a:fld>
            <a:endParaRPr lang="en-US" altLang="fa-IR"/>
          </a:p>
        </p:txBody>
      </p:sp>
    </p:spTree>
    <p:extLst>
      <p:ext uri="{BB962C8B-B14F-4D97-AF65-F5344CB8AC3E}">
        <p14:creationId xmlns:p14="http://schemas.microsoft.com/office/powerpoint/2010/main" val="35062905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20</a:t>
            </a:fld>
            <a:endParaRPr lang="en-US" altLang="fa-IR"/>
          </a:p>
        </p:txBody>
      </p:sp>
    </p:spTree>
    <p:extLst>
      <p:ext uri="{BB962C8B-B14F-4D97-AF65-F5344CB8AC3E}">
        <p14:creationId xmlns:p14="http://schemas.microsoft.com/office/powerpoint/2010/main" val="13429143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21</a:t>
            </a:fld>
            <a:endParaRPr lang="en-US" altLang="fa-IR"/>
          </a:p>
        </p:txBody>
      </p:sp>
    </p:spTree>
    <p:extLst>
      <p:ext uri="{BB962C8B-B14F-4D97-AF65-F5344CB8AC3E}">
        <p14:creationId xmlns:p14="http://schemas.microsoft.com/office/powerpoint/2010/main" val="35062905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22</a:t>
            </a:fld>
            <a:endParaRPr lang="en-US" altLang="fa-IR"/>
          </a:p>
        </p:txBody>
      </p:sp>
    </p:spTree>
    <p:extLst>
      <p:ext uri="{BB962C8B-B14F-4D97-AF65-F5344CB8AC3E}">
        <p14:creationId xmlns:p14="http://schemas.microsoft.com/office/powerpoint/2010/main" val="35062905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23</a:t>
            </a:fld>
            <a:endParaRPr lang="en-US" altLang="fa-IR"/>
          </a:p>
        </p:txBody>
      </p:sp>
    </p:spTree>
    <p:extLst>
      <p:ext uri="{BB962C8B-B14F-4D97-AF65-F5344CB8AC3E}">
        <p14:creationId xmlns:p14="http://schemas.microsoft.com/office/powerpoint/2010/main" val="39365671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24</a:t>
            </a:fld>
            <a:endParaRPr lang="en-US" altLang="fa-IR"/>
          </a:p>
        </p:txBody>
      </p:sp>
    </p:spTree>
    <p:extLst>
      <p:ext uri="{BB962C8B-B14F-4D97-AF65-F5344CB8AC3E}">
        <p14:creationId xmlns:p14="http://schemas.microsoft.com/office/powerpoint/2010/main" val="10944301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25</a:t>
            </a:fld>
            <a:endParaRPr lang="en-US" altLang="fa-IR"/>
          </a:p>
        </p:txBody>
      </p:sp>
    </p:spTree>
    <p:extLst>
      <p:ext uri="{BB962C8B-B14F-4D97-AF65-F5344CB8AC3E}">
        <p14:creationId xmlns:p14="http://schemas.microsoft.com/office/powerpoint/2010/main" val="35062905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26</a:t>
            </a:fld>
            <a:endParaRPr lang="en-US" altLang="fa-IR"/>
          </a:p>
        </p:txBody>
      </p:sp>
    </p:spTree>
    <p:extLst>
      <p:ext uri="{BB962C8B-B14F-4D97-AF65-F5344CB8AC3E}">
        <p14:creationId xmlns:p14="http://schemas.microsoft.com/office/powerpoint/2010/main" val="35062905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27</a:t>
            </a:fld>
            <a:endParaRPr lang="en-US" altLang="fa-IR"/>
          </a:p>
        </p:txBody>
      </p:sp>
    </p:spTree>
    <p:extLst>
      <p:ext uri="{BB962C8B-B14F-4D97-AF65-F5344CB8AC3E}">
        <p14:creationId xmlns:p14="http://schemas.microsoft.com/office/powerpoint/2010/main" val="35062905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29</a:t>
            </a:fld>
            <a:endParaRPr lang="en-US" altLang="fa-IR"/>
          </a:p>
        </p:txBody>
      </p:sp>
    </p:spTree>
    <p:extLst>
      <p:ext uri="{BB962C8B-B14F-4D97-AF65-F5344CB8AC3E}">
        <p14:creationId xmlns:p14="http://schemas.microsoft.com/office/powerpoint/2010/main" val="35062905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30</a:t>
            </a:fld>
            <a:endParaRPr lang="en-US" altLang="fa-IR"/>
          </a:p>
        </p:txBody>
      </p:sp>
    </p:spTree>
    <p:extLst>
      <p:ext uri="{BB962C8B-B14F-4D97-AF65-F5344CB8AC3E}">
        <p14:creationId xmlns:p14="http://schemas.microsoft.com/office/powerpoint/2010/main" val="35062905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31</a:t>
            </a:fld>
            <a:endParaRPr lang="en-US" altLang="fa-IR"/>
          </a:p>
        </p:txBody>
      </p:sp>
    </p:spTree>
    <p:extLst>
      <p:ext uri="{BB962C8B-B14F-4D97-AF65-F5344CB8AC3E}">
        <p14:creationId xmlns:p14="http://schemas.microsoft.com/office/powerpoint/2010/main" val="18471016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32</a:t>
            </a:fld>
            <a:endParaRPr lang="en-US" altLang="fa-IR"/>
          </a:p>
        </p:txBody>
      </p:sp>
    </p:spTree>
    <p:extLst>
      <p:ext uri="{BB962C8B-B14F-4D97-AF65-F5344CB8AC3E}">
        <p14:creationId xmlns:p14="http://schemas.microsoft.com/office/powerpoint/2010/main" val="38835445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33</a:t>
            </a:fld>
            <a:endParaRPr lang="en-US" altLang="fa-IR"/>
          </a:p>
        </p:txBody>
      </p:sp>
    </p:spTree>
    <p:extLst>
      <p:ext uri="{BB962C8B-B14F-4D97-AF65-F5344CB8AC3E}">
        <p14:creationId xmlns:p14="http://schemas.microsoft.com/office/powerpoint/2010/main" val="33350361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34</a:t>
            </a:fld>
            <a:endParaRPr lang="en-US" altLang="fa-IR"/>
          </a:p>
        </p:txBody>
      </p:sp>
    </p:spTree>
    <p:extLst>
      <p:ext uri="{BB962C8B-B14F-4D97-AF65-F5344CB8AC3E}">
        <p14:creationId xmlns:p14="http://schemas.microsoft.com/office/powerpoint/2010/main" val="25367803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35</a:t>
            </a:fld>
            <a:endParaRPr lang="en-US" altLang="fa-IR"/>
          </a:p>
        </p:txBody>
      </p:sp>
    </p:spTree>
    <p:extLst>
      <p:ext uri="{BB962C8B-B14F-4D97-AF65-F5344CB8AC3E}">
        <p14:creationId xmlns:p14="http://schemas.microsoft.com/office/powerpoint/2010/main" val="19580219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36</a:t>
            </a:fld>
            <a:endParaRPr lang="en-US" altLang="fa-IR"/>
          </a:p>
        </p:txBody>
      </p:sp>
    </p:spTree>
    <p:extLst>
      <p:ext uri="{BB962C8B-B14F-4D97-AF65-F5344CB8AC3E}">
        <p14:creationId xmlns:p14="http://schemas.microsoft.com/office/powerpoint/2010/main" val="6706623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37</a:t>
            </a:fld>
            <a:endParaRPr lang="en-US" altLang="fa-IR"/>
          </a:p>
        </p:txBody>
      </p:sp>
    </p:spTree>
    <p:extLst>
      <p:ext uri="{BB962C8B-B14F-4D97-AF65-F5344CB8AC3E}">
        <p14:creationId xmlns:p14="http://schemas.microsoft.com/office/powerpoint/2010/main" val="35062905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38</a:t>
            </a:fld>
            <a:endParaRPr lang="en-US" altLang="fa-IR"/>
          </a:p>
        </p:txBody>
      </p:sp>
    </p:spTree>
    <p:extLst>
      <p:ext uri="{BB962C8B-B14F-4D97-AF65-F5344CB8AC3E}">
        <p14:creationId xmlns:p14="http://schemas.microsoft.com/office/powerpoint/2010/main" val="35062905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39</a:t>
            </a:fld>
            <a:endParaRPr lang="en-US" altLang="fa-IR"/>
          </a:p>
        </p:txBody>
      </p:sp>
    </p:spTree>
    <p:extLst>
      <p:ext uri="{BB962C8B-B14F-4D97-AF65-F5344CB8AC3E}">
        <p14:creationId xmlns:p14="http://schemas.microsoft.com/office/powerpoint/2010/main" val="35062905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40</a:t>
            </a:fld>
            <a:endParaRPr lang="en-US" altLang="fa-IR"/>
          </a:p>
        </p:txBody>
      </p:sp>
    </p:spTree>
    <p:extLst>
      <p:ext uri="{BB962C8B-B14F-4D97-AF65-F5344CB8AC3E}">
        <p14:creationId xmlns:p14="http://schemas.microsoft.com/office/powerpoint/2010/main" val="350629054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41</a:t>
            </a:fld>
            <a:endParaRPr lang="en-US" altLang="fa-IR"/>
          </a:p>
        </p:txBody>
      </p:sp>
    </p:spTree>
    <p:extLst>
      <p:ext uri="{BB962C8B-B14F-4D97-AF65-F5344CB8AC3E}">
        <p14:creationId xmlns:p14="http://schemas.microsoft.com/office/powerpoint/2010/main" val="17101294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42</a:t>
            </a:fld>
            <a:endParaRPr lang="en-US" altLang="fa-IR"/>
          </a:p>
        </p:txBody>
      </p:sp>
    </p:spTree>
    <p:extLst>
      <p:ext uri="{BB962C8B-B14F-4D97-AF65-F5344CB8AC3E}">
        <p14:creationId xmlns:p14="http://schemas.microsoft.com/office/powerpoint/2010/main" val="2055984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43</a:t>
            </a:fld>
            <a:endParaRPr lang="en-US" altLang="fa-IR"/>
          </a:p>
        </p:txBody>
      </p:sp>
    </p:spTree>
    <p:extLst>
      <p:ext uri="{BB962C8B-B14F-4D97-AF65-F5344CB8AC3E}">
        <p14:creationId xmlns:p14="http://schemas.microsoft.com/office/powerpoint/2010/main" val="350629054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44</a:t>
            </a:fld>
            <a:endParaRPr lang="en-US" altLang="fa-IR"/>
          </a:p>
        </p:txBody>
      </p:sp>
    </p:spTree>
    <p:extLst>
      <p:ext uri="{BB962C8B-B14F-4D97-AF65-F5344CB8AC3E}">
        <p14:creationId xmlns:p14="http://schemas.microsoft.com/office/powerpoint/2010/main" val="350629054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45</a:t>
            </a:fld>
            <a:endParaRPr lang="en-US" altLang="fa-IR"/>
          </a:p>
        </p:txBody>
      </p:sp>
    </p:spTree>
    <p:extLst>
      <p:ext uri="{BB962C8B-B14F-4D97-AF65-F5344CB8AC3E}">
        <p14:creationId xmlns:p14="http://schemas.microsoft.com/office/powerpoint/2010/main" val="350629054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46</a:t>
            </a:fld>
            <a:endParaRPr lang="en-US" altLang="fa-IR"/>
          </a:p>
        </p:txBody>
      </p:sp>
    </p:spTree>
    <p:extLst>
      <p:ext uri="{BB962C8B-B14F-4D97-AF65-F5344CB8AC3E}">
        <p14:creationId xmlns:p14="http://schemas.microsoft.com/office/powerpoint/2010/main" val="350629054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47</a:t>
            </a:fld>
            <a:endParaRPr lang="en-US" altLang="fa-IR"/>
          </a:p>
        </p:txBody>
      </p:sp>
    </p:spTree>
    <p:extLst>
      <p:ext uri="{BB962C8B-B14F-4D97-AF65-F5344CB8AC3E}">
        <p14:creationId xmlns:p14="http://schemas.microsoft.com/office/powerpoint/2010/main" val="350629054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48</a:t>
            </a:fld>
            <a:endParaRPr lang="en-US" altLang="fa-IR"/>
          </a:p>
        </p:txBody>
      </p:sp>
    </p:spTree>
    <p:extLst>
      <p:ext uri="{BB962C8B-B14F-4D97-AF65-F5344CB8AC3E}">
        <p14:creationId xmlns:p14="http://schemas.microsoft.com/office/powerpoint/2010/main" val="281305563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49</a:t>
            </a:fld>
            <a:endParaRPr lang="en-US" altLang="fa-IR"/>
          </a:p>
        </p:txBody>
      </p:sp>
    </p:spTree>
    <p:extLst>
      <p:ext uri="{BB962C8B-B14F-4D97-AF65-F5344CB8AC3E}">
        <p14:creationId xmlns:p14="http://schemas.microsoft.com/office/powerpoint/2010/main" val="127057070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50</a:t>
            </a:fld>
            <a:endParaRPr lang="en-US" altLang="fa-IR"/>
          </a:p>
        </p:txBody>
      </p:sp>
    </p:spTree>
    <p:extLst>
      <p:ext uri="{BB962C8B-B14F-4D97-AF65-F5344CB8AC3E}">
        <p14:creationId xmlns:p14="http://schemas.microsoft.com/office/powerpoint/2010/main" val="365704463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51</a:t>
            </a:fld>
            <a:endParaRPr lang="en-US" altLang="fa-IR"/>
          </a:p>
        </p:txBody>
      </p:sp>
    </p:spTree>
    <p:extLst>
      <p:ext uri="{BB962C8B-B14F-4D97-AF65-F5344CB8AC3E}">
        <p14:creationId xmlns:p14="http://schemas.microsoft.com/office/powerpoint/2010/main" val="177368056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fld id="{5223D8BE-E198-468C-8D11-BE3BD2D5AC70}" type="slidenum">
              <a:rPr lang="en-US" altLang="fa-IR" smtClean="0"/>
              <a:pPr/>
              <a:t>52</a:t>
            </a:fld>
            <a:endParaRPr lang="en-US" altLang="fa-IR"/>
          </a:p>
        </p:txBody>
      </p:sp>
    </p:spTree>
    <p:extLst>
      <p:ext uri="{BB962C8B-B14F-4D97-AF65-F5344CB8AC3E}">
        <p14:creationId xmlns:p14="http://schemas.microsoft.com/office/powerpoint/2010/main" val="36457455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fa-I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fa-IR"/>
          </a:p>
        </p:txBody>
      </p:sp>
      <p:sp>
        <p:nvSpPr>
          <p:cNvPr id="4" name="Date Placeholder 3"/>
          <p:cNvSpPr>
            <a:spLocks noGrp="1"/>
          </p:cNvSpPr>
          <p:nvPr>
            <p:ph type="dt" sz="half" idx="10"/>
          </p:nvPr>
        </p:nvSpPr>
        <p:spPr/>
        <p:txBody>
          <a:bodyPr/>
          <a:lstStyle>
            <a:lvl1pPr>
              <a:defRPr/>
            </a:lvl1pPr>
          </a:lstStyle>
          <a:p>
            <a:endParaRPr lang="en-US" altLang="fa-IR"/>
          </a:p>
        </p:txBody>
      </p:sp>
      <p:sp>
        <p:nvSpPr>
          <p:cNvPr id="5" name="Footer Placeholder 4"/>
          <p:cNvSpPr>
            <a:spLocks noGrp="1"/>
          </p:cNvSpPr>
          <p:nvPr>
            <p:ph type="ftr" sz="quarter" idx="11"/>
          </p:nvPr>
        </p:nvSpPr>
        <p:spPr/>
        <p:txBody>
          <a:bodyPr/>
          <a:lstStyle>
            <a:lvl1pPr>
              <a:defRPr/>
            </a:lvl1pPr>
          </a:lstStyle>
          <a:p>
            <a:endParaRPr lang="en-US" altLang="fa-IR"/>
          </a:p>
        </p:txBody>
      </p:sp>
      <p:sp>
        <p:nvSpPr>
          <p:cNvPr id="6" name="Slide Number Placeholder 5"/>
          <p:cNvSpPr>
            <a:spLocks noGrp="1"/>
          </p:cNvSpPr>
          <p:nvPr>
            <p:ph type="sldNum" sz="quarter" idx="12"/>
          </p:nvPr>
        </p:nvSpPr>
        <p:spPr/>
        <p:txBody>
          <a:bodyPr/>
          <a:lstStyle>
            <a:lvl1pPr>
              <a:defRPr/>
            </a:lvl1pPr>
          </a:lstStyle>
          <a:p>
            <a:fld id="{F4EE4024-07EF-4350-8DA1-BE88749D3BE4}" type="slidenum">
              <a:rPr lang="en-US" altLang="fa-IR"/>
              <a:pPr/>
              <a:t>‹#›</a:t>
            </a:fld>
            <a:endParaRPr lang="en-US" altLang="fa-IR"/>
          </a:p>
        </p:txBody>
      </p:sp>
    </p:spTree>
    <p:extLst>
      <p:ext uri="{BB962C8B-B14F-4D97-AF65-F5344CB8AC3E}">
        <p14:creationId xmlns:p14="http://schemas.microsoft.com/office/powerpoint/2010/main" val="3890065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a-I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Date Placeholder 3"/>
          <p:cNvSpPr>
            <a:spLocks noGrp="1"/>
          </p:cNvSpPr>
          <p:nvPr>
            <p:ph type="dt" sz="half" idx="10"/>
          </p:nvPr>
        </p:nvSpPr>
        <p:spPr/>
        <p:txBody>
          <a:bodyPr/>
          <a:lstStyle>
            <a:lvl1pPr>
              <a:defRPr/>
            </a:lvl1pPr>
          </a:lstStyle>
          <a:p>
            <a:endParaRPr lang="en-US" altLang="fa-IR"/>
          </a:p>
        </p:txBody>
      </p:sp>
      <p:sp>
        <p:nvSpPr>
          <p:cNvPr id="5" name="Footer Placeholder 4"/>
          <p:cNvSpPr>
            <a:spLocks noGrp="1"/>
          </p:cNvSpPr>
          <p:nvPr>
            <p:ph type="ftr" sz="quarter" idx="11"/>
          </p:nvPr>
        </p:nvSpPr>
        <p:spPr/>
        <p:txBody>
          <a:bodyPr/>
          <a:lstStyle>
            <a:lvl1pPr>
              <a:defRPr/>
            </a:lvl1pPr>
          </a:lstStyle>
          <a:p>
            <a:endParaRPr lang="en-US" altLang="fa-IR"/>
          </a:p>
        </p:txBody>
      </p:sp>
      <p:sp>
        <p:nvSpPr>
          <p:cNvPr id="6" name="Slide Number Placeholder 5"/>
          <p:cNvSpPr>
            <a:spLocks noGrp="1"/>
          </p:cNvSpPr>
          <p:nvPr>
            <p:ph type="sldNum" sz="quarter" idx="12"/>
          </p:nvPr>
        </p:nvSpPr>
        <p:spPr/>
        <p:txBody>
          <a:bodyPr/>
          <a:lstStyle>
            <a:lvl1pPr>
              <a:defRPr/>
            </a:lvl1pPr>
          </a:lstStyle>
          <a:p>
            <a:fld id="{EB94FB5C-F39B-4DB1-AC93-B7A7941F1081}" type="slidenum">
              <a:rPr lang="en-US" altLang="fa-IR"/>
              <a:pPr/>
              <a:t>‹#›</a:t>
            </a:fld>
            <a:endParaRPr lang="en-US" altLang="fa-IR"/>
          </a:p>
        </p:txBody>
      </p:sp>
    </p:spTree>
    <p:extLst>
      <p:ext uri="{BB962C8B-B14F-4D97-AF65-F5344CB8AC3E}">
        <p14:creationId xmlns:p14="http://schemas.microsoft.com/office/powerpoint/2010/main" val="10885506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r">
              <a:defRPr sz="4000" b="1" cap="all"/>
            </a:lvl1pPr>
          </a:lstStyle>
          <a:p>
            <a:r>
              <a:rPr lang="en-US" smtClean="0"/>
              <a:t>Click to edit Master title style</a:t>
            </a:r>
            <a:endParaRPr lang="fa-I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ltLang="fa-IR"/>
          </a:p>
        </p:txBody>
      </p:sp>
      <p:sp>
        <p:nvSpPr>
          <p:cNvPr id="5" name="Footer Placeholder 4"/>
          <p:cNvSpPr>
            <a:spLocks noGrp="1"/>
          </p:cNvSpPr>
          <p:nvPr>
            <p:ph type="ftr" sz="quarter" idx="11"/>
          </p:nvPr>
        </p:nvSpPr>
        <p:spPr/>
        <p:txBody>
          <a:bodyPr/>
          <a:lstStyle>
            <a:lvl1pPr>
              <a:defRPr/>
            </a:lvl1pPr>
          </a:lstStyle>
          <a:p>
            <a:endParaRPr lang="en-US" altLang="fa-IR"/>
          </a:p>
        </p:txBody>
      </p:sp>
      <p:sp>
        <p:nvSpPr>
          <p:cNvPr id="6" name="Slide Number Placeholder 5"/>
          <p:cNvSpPr>
            <a:spLocks noGrp="1"/>
          </p:cNvSpPr>
          <p:nvPr>
            <p:ph type="sldNum" sz="quarter" idx="12"/>
          </p:nvPr>
        </p:nvSpPr>
        <p:spPr/>
        <p:txBody>
          <a:bodyPr/>
          <a:lstStyle>
            <a:lvl1pPr>
              <a:defRPr/>
            </a:lvl1pPr>
          </a:lstStyle>
          <a:p>
            <a:fld id="{D1649B91-F6A1-4AA4-8EF1-C1AF334CD053}" type="slidenum">
              <a:rPr lang="en-US" altLang="fa-IR"/>
              <a:pPr/>
              <a:t>‹#›</a:t>
            </a:fld>
            <a:endParaRPr lang="en-US" altLang="fa-IR"/>
          </a:p>
        </p:txBody>
      </p:sp>
    </p:spTree>
    <p:extLst>
      <p:ext uri="{BB962C8B-B14F-4D97-AF65-F5344CB8AC3E}">
        <p14:creationId xmlns:p14="http://schemas.microsoft.com/office/powerpoint/2010/main" val="39843862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a-I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5" name="Date Placeholder 4"/>
          <p:cNvSpPr>
            <a:spLocks noGrp="1"/>
          </p:cNvSpPr>
          <p:nvPr>
            <p:ph type="dt" sz="half" idx="10"/>
          </p:nvPr>
        </p:nvSpPr>
        <p:spPr/>
        <p:txBody>
          <a:bodyPr/>
          <a:lstStyle>
            <a:lvl1pPr>
              <a:defRPr/>
            </a:lvl1pPr>
          </a:lstStyle>
          <a:p>
            <a:endParaRPr lang="en-US" altLang="fa-IR"/>
          </a:p>
        </p:txBody>
      </p:sp>
      <p:sp>
        <p:nvSpPr>
          <p:cNvPr id="6" name="Footer Placeholder 5"/>
          <p:cNvSpPr>
            <a:spLocks noGrp="1"/>
          </p:cNvSpPr>
          <p:nvPr>
            <p:ph type="ftr" sz="quarter" idx="11"/>
          </p:nvPr>
        </p:nvSpPr>
        <p:spPr/>
        <p:txBody>
          <a:bodyPr/>
          <a:lstStyle>
            <a:lvl1pPr>
              <a:defRPr/>
            </a:lvl1pPr>
          </a:lstStyle>
          <a:p>
            <a:endParaRPr lang="en-US" altLang="fa-IR"/>
          </a:p>
        </p:txBody>
      </p:sp>
      <p:sp>
        <p:nvSpPr>
          <p:cNvPr id="7" name="Slide Number Placeholder 6"/>
          <p:cNvSpPr>
            <a:spLocks noGrp="1"/>
          </p:cNvSpPr>
          <p:nvPr>
            <p:ph type="sldNum" sz="quarter" idx="12"/>
          </p:nvPr>
        </p:nvSpPr>
        <p:spPr/>
        <p:txBody>
          <a:bodyPr/>
          <a:lstStyle>
            <a:lvl1pPr>
              <a:defRPr/>
            </a:lvl1pPr>
          </a:lstStyle>
          <a:p>
            <a:fld id="{CC7DA397-28F4-4C00-BED6-C82FDADCD37D}" type="slidenum">
              <a:rPr lang="en-US" altLang="fa-IR"/>
              <a:pPr/>
              <a:t>‹#›</a:t>
            </a:fld>
            <a:endParaRPr lang="en-US" altLang="fa-IR"/>
          </a:p>
        </p:txBody>
      </p:sp>
    </p:spTree>
    <p:extLst>
      <p:ext uri="{BB962C8B-B14F-4D97-AF65-F5344CB8AC3E}">
        <p14:creationId xmlns:p14="http://schemas.microsoft.com/office/powerpoint/2010/main" val="25265134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fa-I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7" name="Date Placeholder 6"/>
          <p:cNvSpPr>
            <a:spLocks noGrp="1"/>
          </p:cNvSpPr>
          <p:nvPr>
            <p:ph type="dt" sz="half" idx="10"/>
          </p:nvPr>
        </p:nvSpPr>
        <p:spPr/>
        <p:txBody>
          <a:bodyPr/>
          <a:lstStyle>
            <a:lvl1pPr>
              <a:defRPr/>
            </a:lvl1pPr>
          </a:lstStyle>
          <a:p>
            <a:endParaRPr lang="en-US" altLang="fa-IR"/>
          </a:p>
        </p:txBody>
      </p:sp>
      <p:sp>
        <p:nvSpPr>
          <p:cNvPr id="8" name="Footer Placeholder 7"/>
          <p:cNvSpPr>
            <a:spLocks noGrp="1"/>
          </p:cNvSpPr>
          <p:nvPr>
            <p:ph type="ftr" sz="quarter" idx="11"/>
          </p:nvPr>
        </p:nvSpPr>
        <p:spPr/>
        <p:txBody>
          <a:bodyPr/>
          <a:lstStyle>
            <a:lvl1pPr>
              <a:defRPr/>
            </a:lvl1pPr>
          </a:lstStyle>
          <a:p>
            <a:endParaRPr lang="en-US" altLang="fa-IR"/>
          </a:p>
        </p:txBody>
      </p:sp>
      <p:sp>
        <p:nvSpPr>
          <p:cNvPr id="9" name="Slide Number Placeholder 8"/>
          <p:cNvSpPr>
            <a:spLocks noGrp="1"/>
          </p:cNvSpPr>
          <p:nvPr>
            <p:ph type="sldNum" sz="quarter" idx="12"/>
          </p:nvPr>
        </p:nvSpPr>
        <p:spPr/>
        <p:txBody>
          <a:bodyPr/>
          <a:lstStyle>
            <a:lvl1pPr>
              <a:defRPr/>
            </a:lvl1pPr>
          </a:lstStyle>
          <a:p>
            <a:fld id="{40FC702E-F9EC-40D6-9BC9-E65E6A9951C4}" type="slidenum">
              <a:rPr lang="en-US" altLang="fa-IR"/>
              <a:pPr/>
              <a:t>‹#›</a:t>
            </a:fld>
            <a:endParaRPr lang="en-US" altLang="fa-IR"/>
          </a:p>
        </p:txBody>
      </p:sp>
    </p:spTree>
    <p:extLst>
      <p:ext uri="{BB962C8B-B14F-4D97-AF65-F5344CB8AC3E}">
        <p14:creationId xmlns:p14="http://schemas.microsoft.com/office/powerpoint/2010/main" val="932475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a-IR"/>
          </a:p>
        </p:txBody>
      </p:sp>
      <p:sp>
        <p:nvSpPr>
          <p:cNvPr id="3" name="Date Placeholder 2"/>
          <p:cNvSpPr>
            <a:spLocks noGrp="1"/>
          </p:cNvSpPr>
          <p:nvPr>
            <p:ph type="dt" sz="half" idx="10"/>
          </p:nvPr>
        </p:nvSpPr>
        <p:spPr/>
        <p:txBody>
          <a:bodyPr/>
          <a:lstStyle>
            <a:lvl1pPr>
              <a:defRPr/>
            </a:lvl1pPr>
          </a:lstStyle>
          <a:p>
            <a:endParaRPr lang="en-US" altLang="fa-IR"/>
          </a:p>
        </p:txBody>
      </p:sp>
      <p:sp>
        <p:nvSpPr>
          <p:cNvPr id="4" name="Footer Placeholder 3"/>
          <p:cNvSpPr>
            <a:spLocks noGrp="1"/>
          </p:cNvSpPr>
          <p:nvPr>
            <p:ph type="ftr" sz="quarter" idx="11"/>
          </p:nvPr>
        </p:nvSpPr>
        <p:spPr/>
        <p:txBody>
          <a:bodyPr/>
          <a:lstStyle>
            <a:lvl1pPr>
              <a:defRPr/>
            </a:lvl1pPr>
          </a:lstStyle>
          <a:p>
            <a:endParaRPr lang="en-US" altLang="fa-IR"/>
          </a:p>
        </p:txBody>
      </p:sp>
      <p:sp>
        <p:nvSpPr>
          <p:cNvPr id="5" name="Slide Number Placeholder 4"/>
          <p:cNvSpPr>
            <a:spLocks noGrp="1"/>
          </p:cNvSpPr>
          <p:nvPr>
            <p:ph type="sldNum" sz="quarter" idx="12"/>
          </p:nvPr>
        </p:nvSpPr>
        <p:spPr/>
        <p:txBody>
          <a:bodyPr/>
          <a:lstStyle>
            <a:lvl1pPr>
              <a:defRPr/>
            </a:lvl1pPr>
          </a:lstStyle>
          <a:p>
            <a:fld id="{4A328935-7553-492B-905D-6F3CFA92109F}" type="slidenum">
              <a:rPr lang="en-US" altLang="fa-IR"/>
              <a:pPr/>
              <a:t>‹#›</a:t>
            </a:fld>
            <a:endParaRPr lang="en-US" altLang="fa-IR"/>
          </a:p>
        </p:txBody>
      </p:sp>
    </p:spTree>
    <p:extLst>
      <p:ext uri="{BB962C8B-B14F-4D97-AF65-F5344CB8AC3E}">
        <p14:creationId xmlns:p14="http://schemas.microsoft.com/office/powerpoint/2010/main" val="28275615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ltLang="fa-IR"/>
          </a:p>
        </p:txBody>
      </p:sp>
      <p:sp>
        <p:nvSpPr>
          <p:cNvPr id="3" name="Footer Placeholder 2"/>
          <p:cNvSpPr>
            <a:spLocks noGrp="1"/>
          </p:cNvSpPr>
          <p:nvPr>
            <p:ph type="ftr" sz="quarter" idx="11"/>
          </p:nvPr>
        </p:nvSpPr>
        <p:spPr/>
        <p:txBody>
          <a:bodyPr/>
          <a:lstStyle>
            <a:lvl1pPr>
              <a:defRPr/>
            </a:lvl1pPr>
          </a:lstStyle>
          <a:p>
            <a:endParaRPr lang="en-US" altLang="fa-IR"/>
          </a:p>
        </p:txBody>
      </p:sp>
      <p:sp>
        <p:nvSpPr>
          <p:cNvPr id="4" name="Slide Number Placeholder 3"/>
          <p:cNvSpPr>
            <a:spLocks noGrp="1"/>
          </p:cNvSpPr>
          <p:nvPr>
            <p:ph type="sldNum" sz="quarter" idx="12"/>
          </p:nvPr>
        </p:nvSpPr>
        <p:spPr/>
        <p:txBody>
          <a:bodyPr/>
          <a:lstStyle>
            <a:lvl1pPr>
              <a:defRPr/>
            </a:lvl1pPr>
          </a:lstStyle>
          <a:p>
            <a:fld id="{D7B15733-9C57-40F3-9169-71E7DF9F6350}" type="slidenum">
              <a:rPr lang="en-US" altLang="fa-IR"/>
              <a:pPr/>
              <a:t>‹#›</a:t>
            </a:fld>
            <a:endParaRPr lang="en-US" altLang="fa-IR"/>
          </a:p>
        </p:txBody>
      </p:sp>
    </p:spTree>
    <p:extLst>
      <p:ext uri="{BB962C8B-B14F-4D97-AF65-F5344CB8AC3E}">
        <p14:creationId xmlns:p14="http://schemas.microsoft.com/office/powerpoint/2010/main" val="136819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r">
              <a:defRPr sz="2000" b="1"/>
            </a:lvl1pPr>
          </a:lstStyle>
          <a:p>
            <a:r>
              <a:rPr lang="en-US" smtClean="0"/>
              <a:t>Click to edit Master title style</a:t>
            </a:r>
            <a:endParaRPr lang="fa-I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ltLang="fa-IR"/>
          </a:p>
        </p:txBody>
      </p:sp>
      <p:sp>
        <p:nvSpPr>
          <p:cNvPr id="6" name="Footer Placeholder 5"/>
          <p:cNvSpPr>
            <a:spLocks noGrp="1"/>
          </p:cNvSpPr>
          <p:nvPr>
            <p:ph type="ftr" sz="quarter" idx="11"/>
          </p:nvPr>
        </p:nvSpPr>
        <p:spPr/>
        <p:txBody>
          <a:bodyPr/>
          <a:lstStyle>
            <a:lvl1pPr>
              <a:defRPr/>
            </a:lvl1pPr>
          </a:lstStyle>
          <a:p>
            <a:endParaRPr lang="en-US" altLang="fa-IR"/>
          </a:p>
        </p:txBody>
      </p:sp>
      <p:sp>
        <p:nvSpPr>
          <p:cNvPr id="7" name="Slide Number Placeholder 6"/>
          <p:cNvSpPr>
            <a:spLocks noGrp="1"/>
          </p:cNvSpPr>
          <p:nvPr>
            <p:ph type="sldNum" sz="quarter" idx="12"/>
          </p:nvPr>
        </p:nvSpPr>
        <p:spPr/>
        <p:txBody>
          <a:bodyPr/>
          <a:lstStyle>
            <a:lvl1pPr>
              <a:defRPr/>
            </a:lvl1pPr>
          </a:lstStyle>
          <a:p>
            <a:fld id="{0DEED4E1-9A96-4F6F-9F2D-A5941060796C}" type="slidenum">
              <a:rPr lang="en-US" altLang="fa-IR"/>
              <a:pPr/>
              <a:t>‹#›</a:t>
            </a:fld>
            <a:endParaRPr lang="en-US" altLang="fa-IR"/>
          </a:p>
        </p:txBody>
      </p:sp>
    </p:spTree>
    <p:extLst>
      <p:ext uri="{BB962C8B-B14F-4D97-AF65-F5344CB8AC3E}">
        <p14:creationId xmlns:p14="http://schemas.microsoft.com/office/powerpoint/2010/main" val="2276430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r">
              <a:defRPr sz="2000" b="1"/>
            </a:lvl1pPr>
          </a:lstStyle>
          <a:p>
            <a:r>
              <a:rPr lang="en-US" smtClean="0"/>
              <a:t>Click to edit Master title style</a:t>
            </a:r>
            <a:endParaRPr lang="fa-I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a-I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ltLang="fa-IR"/>
          </a:p>
        </p:txBody>
      </p:sp>
      <p:sp>
        <p:nvSpPr>
          <p:cNvPr id="6" name="Footer Placeholder 5"/>
          <p:cNvSpPr>
            <a:spLocks noGrp="1"/>
          </p:cNvSpPr>
          <p:nvPr>
            <p:ph type="ftr" sz="quarter" idx="11"/>
          </p:nvPr>
        </p:nvSpPr>
        <p:spPr/>
        <p:txBody>
          <a:bodyPr/>
          <a:lstStyle>
            <a:lvl1pPr>
              <a:defRPr/>
            </a:lvl1pPr>
          </a:lstStyle>
          <a:p>
            <a:endParaRPr lang="en-US" altLang="fa-IR"/>
          </a:p>
        </p:txBody>
      </p:sp>
      <p:sp>
        <p:nvSpPr>
          <p:cNvPr id="7" name="Slide Number Placeholder 6"/>
          <p:cNvSpPr>
            <a:spLocks noGrp="1"/>
          </p:cNvSpPr>
          <p:nvPr>
            <p:ph type="sldNum" sz="quarter" idx="12"/>
          </p:nvPr>
        </p:nvSpPr>
        <p:spPr/>
        <p:txBody>
          <a:bodyPr/>
          <a:lstStyle>
            <a:lvl1pPr>
              <a:defRPr/>
            </a:lvl1pPr>
          </a:lstStyle>
          <a:p>
            <a:fld id="{A9C94473-AE00-4C6E-9D71-18488F6946CC}" type="slidenum">
              <a:rPr lang="en-US" altLang="fa-IR"/>
              <a:pPr/>
              <a:t>‹#›</a:t>
            </a:fld>
            <a:endParaRPr lang="en-US" altLang="fa-IR"/>
          </a:p>
        </p:txBody>
      </p:sp>
    </p:spTree>
    <p:extLst>
      <p:ext uri="{BB962C8B-B14F-4D97-AF65-F5344CB8AC3E}">
        <p14:creationId xmlns:p14="http://schemas.microsoft.com/office/powerpoint/2010/main" val="27848090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a-I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Date Placeholder 3"/>
          <p:cNvSpPr>
            <a:spLocks noGrp="1"/>
          </p:cNvSpPr>
          <p:nvPr>
            <p:ph type="dt" sz="half" idx="10"/>
          </p:nvPr>
        </p:nvSpPr>
        <p:spPr/>
        <p:txBody>
          <a:bodyPr/>
          <a:lstStyle>
            <a:lvl1pPr>
              <a:defRPr/>
            </a:lvl1pPr>
          </a:lstStyle>
          <a:p>
            <a:endParaRPr lang="en-US" altLang="fa-IR"/>
          </a:p>
        </p:txBody>
      </p:sp>
      <p:sp>
        <p:nvSpPr>
          <p:cNvPr id="5" name="Footer Placeholder 4"/>
          <p:cNvSpPr>
            <a:spLocks noGrp="1"/>
          </p:cNvSpPr>
          <p:nvPr>
            <p:ph type="ftr" sz="quarter" idx="11"/>
          </p:nvPr>
        </p:nvSpPr>
        <p:spPr/>
        <p:txBody>
          <a:bodyPr/>
          <a:lstStyle>
            <a:lvl1pPr>
              <a:defRPr/>
            </a:lvl1pPr>
          </a:lstStyle>
          <a:p>
            <a:endParaRPr lang="en-US" altLang="fa-IR"/>
          </a:p>
        </p:txBody>
      </p:sp>
      <p:sp>
        <p:nvSpPr>
          <p:cNvPr id="6" name="Slide Number Placeholder 5"/>
          <p:cNvSpPr>
            <a:spLocks noGrp="1"/>
          </p:cNvSpPr>
          <p:nvPr>
            <p:ph type="sldNum" sz="quarter" idx="12"/>
          </p:nvPr>
        </p:nvSpPr>
        <p:spPr/>
        <p:txBody>
          <a:bodyPr/>
          <a:lstStyle>
            <a:lvl1pPr>
              <a:defRPr/>
            </a:lvl1pPr>
          </a:lstStyle>
          <a:p>
            <a:fld id="{57037C5A-D30A-4CE3-B36B-F7125332BBAA}" type="slidenum">
              <a:rPr lang="en-US" altLang="fa-IR"/>
              <a:pPr/>
              <a:t>‹#›</a:t>
            </a:fld>
            <a:endParaRPr lang="en-US" altLang="fa-IR"/>
          </a:p>
        </p:txBody>
      </p:sp>
    </p:spTree>
    <p:extLst>
      <p:ext uri="{BB962C8B-B14F-4D97-AF65-F5344CB8AC3E}">
        <p14:creationId xmlns:p14="http://schemas.microsoft.com/office/powerpoint/2010/main" val="3567537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fa-I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4" name="Date Placeholder 3"/>
          <p:cNvSpPr>
            <a:spLocks noGrp="1"/>
          </p:cNvSpPr>
          <p:nvPr>
            <p:ph type="dt" sz="half" idx="10"/>
          </p:nvPr>
        </p:nvSpPr>
        <p:spPr/>
        <p:txBody>
          <a:bodyPr/>
          <a:lstStyle>
            <a:lvl1pPr>
              <a:defRPr/>
            </a:lvl1pPr>
          </a:lstStyle>
          <a:p>
            <a:endParaRPr lang="en-US" altLang="fa-IR"/>
          </a:p>
        </p:txBody>
      </p:sp>
      <p:sp>
        <p:nvSpPr>
          <p:cNvPr id="5" name="Footer Placeholder 4"/>
          <p:cNvSpPr>
            <a:spLocks noGrp="1"/>
          </p:cNvSpPr>
          <p:nvPr>
            <p:ph type="ftr" sz="quarter" idx="11"/>
          </p:nvPr>
        </p:nvSpPr>
        <p:spPr/>
        <p:txBody>
          <a:bodyPr/>
          <a:lstStyle>
            <a:lvl1pPr>
              <a:defRPr/>
            </a:lvl1pPr>
          </a:lstStyle>
          <a:p>
            <a:endParaRPr lang="en-US" altLang="fa-IR"/>
          </a:p>
        </p:txBody>
      </p:sp>
      <p:sp>
        <p:nvSpPr>
          <p:cNvPr id="6" name="Slide Number Placeholder 5"/>
          <p:cNvSpPr>
            <a:spLocks noGrp="1"/>
          </p:cNvSpPr>
          <p:nvPr>
            <p:ph type="sldNum" sz="quarter" idx="12"/>
          </p:nvPr>
        </p:nvSpPr>
        <p:spPr/>
        <p:txBody>
          <a:bodyPr/>
          <a:lstStyle>
            <a:lvl1pPr>
              <a:defRPr/>
            </a:lvl1pPr>
          </a:lstStyle>
          <a:p>
            <a:fld id="{4A020251-EEC2-4821-9F13-FAB9D6F9A502}" type="slidenum">
              <a:rPr lang="en-US" altLang="fa-IR"/>
              <a:pPr/>
              <a:t>‹#›</a:t>
            </a:fld>
            <a:endParaRPr lang="en-US" altLang="fa-IR"/>
          </a:p>
        </p:txBody>
      </p:sp>
    </p:spTree>
    <p:extLst>
      <p:ext uri="{BB962C8B-B14F-4D97-AF65-F5344CB8AC3E}">
        <p14:creationId xmlns:p14="http://schemas.microsoft.com/office/powerpoint/2010/main" val="659197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fa-IR" smtClean="0"/>
              <a:t>Titelmasterformat durch Klicken bearbeiten</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fa-IR" smtClean="0"/>
              <a:t>Textmasterformate durch Klicken bearbeiten</a:t>
            </a:r>
          </a:p>
          <a:p>
            <a:pPr lvl="1"/>
            <a:r>
              <a:rPr lang="en-US" altLang="fa-IR" smtClean="0"/>
              <a:t>Zweite Ebene</a:t>
            </a:r>
          </a:p>
          <a:p>
            <a:pPr lvl="2"/>
            <a:r>
              <a:rPr lang="en-US" altLang="fa-IR" smtClean="0"/>
              <a:t>Dritte Ebene</a:t>
            </a:r>
          </a:p>
          <a:p>
            <a:pPr lvl="3"/>
            <a:r>
              <a:rPr lang="en-US" altLang="fa-IR" smtClean="0"/>
              <a:t>Vierte Ebene</a:t>
            </a:r>
          </a:p>
          <a:p>
            <a:pPr lvl="4"/>
            <a:r>
              <a:rPr lang="en-US" altLang="fa-IR" smtClean="0"/>
              <a:t>Fünfte Ebene</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fa-I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fa-I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1C1BD20B-BE17-49D1-B499-DD4D2D96131C}" type="slidenum">
              <a:rPr lang="en-US" altLang="fa-IR"/>
              <a:pPr/>
              <a:t>‹#›</a:t>
            </a:fld>
            <a:endParaRPr lang="en-US" altLang="fa-IR"/>
          </a:p>
        </p:txBody>
      </p:sp>
      <p:sp>
        <p:nvSpPr>
          <p:cNvPr id="1031" name="Rectangle 7"/>
          <p:cNvSpPr>
            <a:spLocks noChangeArrowheads="1"/>
          </p:cNvSpPr>
          <p:nvPr userDrawn="1"/>
        </p:nvSpPr>
        <p:spPr bwMode="auto">
          <a:xfrm>
            <a:off x="0" y="6400800"/>
            <a:ext cx="9144000" cy="457200"/>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a-IR"/>
          </a:p>
        </p:txBody>
      </p:sp>
      <p:sp>
        <p:nvSpPr>
          <p:cNvPr id="1032" name="Rectangle 8"/>
          <p:cNvSpPr>
            <a:spLocks noChangeArrowheads="1"/>
          </p:cNvSpPr>
          <p:nvPr userDrawn="1"/>
        </p:nvSpPr>
        <p:spPr bwMode="auto">
          <a:xfrm>
            <a:off x="0" y="0"/>
            <a:ext cx="9144000" cy="152400"/>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a-I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defRPr>
      </a:lvl2pPr>
      <a:lvl3pPr algn="ctr" rtl="0" fontAlgn="base">
        <a:spcBef>
          <a:spcPct val="0"/>
        </a:spcBef>
        <a:spcAft>
          <a:spcPct val="0"/>
        </a:spcAft>
        <a:defRPr sz="4400">
          <a:solidFill>
            <a:schemeClr val="tx2"/>
          </a:solidFill>
          <a:latin typeface="Arial" pitchFamily="34" charset="0"/>
        </a:defRPr>
      </a:lvl3pPr>
      <a:lvl4pPr algn="ctr" rtl="0" fontAlgn="base">
        <a:spcBef>
          <a:spcPct val="0"/>
        </a:spcBef>
        <a:spcAft>
          <a:spcPct val="0"/>
        </a:spcAft>
        <a:defRPr sz="4400">
          <a:solidFill>
            <a:schemeClr val="tx2"/>
          </a:solidFill>
          <a:latin typeface="Arial" pitchFamily="34" charset="0"/>
        </a:defRPr>
      </a:lvl4pPr>
      <a:lvl5pPr algn="ctr" rtl="0" fontAlgn="base">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fa-IR"/>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8.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1.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21.png"/><Relationship Id="rId7"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4.png"/><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3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37.png"/></Relationships>
</file>

<file path=ppt/slides/_rels/slide3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9.png"/></Relationships>
</file>

<file path=ppt/slides/_rels/slide4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4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43.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4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4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1.png"/><Relationship Id="rId4" Type="http://schemas.openxmlformats.org/officeDocument/2006/relationships/image" Target="../media/image62.png"/></Relationships>
</file>

<file path=ppt/slides/_rels/slide4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4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69.png"/></Relationships>
</file>

<file path=ppt/slides/_rels/slide4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5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5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ctrTitle"/>
          </p:nvPr>
        </p:nvSpPr>
        <p:spPr>
          <a:xfrm>
            <a:off x="-152400" y="1484784"/>
            <a:ext cx="8915400" cy="1800225"/>
          </a:xfrm>
        </p:spPr>
        <p:txBody>
          <a:bodyPr/>
          <a:lstStyle/>
          <a:p>
            <a:pPr eaLnBrk="1" hangingPunct="1"/>
            <a:r>
              <a:rPr lang="en-US" altLang="fa-IR" sz="3600" dirty="0" smtClean="0">
                <a:latin typeface="Arial" pitchFamily="34" charset="0"/>
              </a:rPr>
              <a:t>Process modeling &amp; Controller design</a:t>
            </a:r>
          </a:p>
        </p:txBody>
      </p:sp>
      <p:sp>
        <p:nvSpPr>
          <p:cNvPr id="3076" name="Rectangle 3"/>
          <p:cNvSpPr>
            <a:spLocks noGrp="1" noChangeArrowheads="1"/>
          </p:cNvSpPr>
          <p:nvPr>
            <p:ph type="subTitle" idx="1"/>
          </p:nvPr>
        </p:nvSpPr>
        <p:spPr>
          <a:xfrm>
            <a:off x="1066800" y="5251648"/>
            <a:ext cx="7239000" cy="2209800"/>
          </a:xfrm>
        </p:spPr>
        <p:txBody>
          <a:bodyPr/>
          <a:lstStyle/>
          <a:p>
            <a:pPr eaLnBrk="1" hangingPunct="1">
              <a:lnSpc>
                <a:spcPct val="80000"/>
              </a:lnSpc>
            </a:pPr>
            <a:r>
              <a:rPr lang="en-US" altLang="fa-IR" sz="2000" dirty="0" err="1" smtClean="0">
                <a:latin typeface="Arial" pitchFamily="34" charset="0"/>
              </a:rPr>
              <a:t>Navid</a:t>
            </a:r>
            <a:r>
              <a:rPr lang="en-US" altLang="fa-IR" sz="2000" dirty="0" smtClean="0">
                <a:latin typeface="Arial" pitchFamily="34" charset="0"/>
              </a:rPr>
              <a:t> </a:t>
            </a:r>
            <a:r>
              <a:rPr lang="en-US" altLang="fa-IR" sz="2000" dirty="0" err="1" smtClean="0">
                <a:latin typeface="Arial" pitchFamily="34" charset="0"/>
              </a:rPr>
              <a:t>Alaei</a:t>
            </a:r>
            <a:r>
              <a:rPr lang="en-US" altLang="fa-IR" sz="2000" dirty="0" smtClean="0">
                <a:latin typeface="Arial" pitchFamily="34" charset="0"/>
              </a:rPr>
              <a:t> </a:t>
            </a:r>
            <a:r>
              <a:rPr lang="en-US" altLang="fa-IR" sz="2000" dirty="0" err="1" smtClean="0">
                <a:latin typeface="Arial" pitchFamily="34" charset="0"/>
              </a:rPr>
              <a:t>Sheini</a:t>
            </a:r>
            <a:endParaRPr lang="en-US" altLang="fa-IR" sz="2000" dirty="0" smtClean="0">
              <a:latin typeface="Arial" pitchFamily="34" charset="0"/>
            </a:endParaRPr>
          </a:p>
          <a:p>
            <a:pPr eaLnBrk="1" hangingPunct="1">
              <a:lnSpc>
                <a:spcPct val="80000"/>
              </a:lnSpc>
            </a:pPr>
            <a:r>
              <a:rPr lang="en-US" altLang="fa-IR" sz="2000" dirty="0" smtClean="0">
                <a:latin typeface="Arial" pitchFamily="34" charset="0"/>
              </a:rPr>
              <a:t>Assistance Professor </a:t>
            </a:r>
            <a:endParaRPr lang="en-US" altLang="fa-IR" sz="2800" dirty="0" smtClean="0">
              <a:latin typeface="Arial" pitchFamily="34" charset="0"/>
            </a:endParaRPr>
          </a:p>
          <a:p>
            <a:pPr eaLnBrk="1" hangingPunct="1">
              <a:lnSpc>
                <a:spcPct val="80000"/>
              </a:lnSpc>
            </a:pPr>
            <a:r>
              <a:rPr lang="en-US" altLang="fa-IR" sz="2000" dirty="0" err="1" smtClean="0">
                <a:latin typeface="Arial" pitchFamily="34" charset="0"/>
              </a:rPr>
              <a:t>Shahid</a:t>
            </a:r>
            <a:r>
              <a:rPr lang="en-US" altLang="fa-IR" sz="2000" dirty="0" smtClean="0">
                <a:latin typeface="Arial" pitchFamily="34" charset="0"/>
              </a:rPr>
              <a:t> </a:t>
            </a:r>
            <a:r>
              <a:rPr lang="en-US" altLang="fa-IR" sz="2000" dirty="0" err="1" smtClean="0">
                <a:latin typeface="Arial" pitchFamily="34" charset="0"/>
              </a:rPr>
              <a:t>Chamran</a:t>
            </a:r>
            <a:r>
              <a:rPr lang="en-US" altLang="fa-IR" sz="2000" dirty="0" smtClean="0">
                <a:latin typeface="Arial" pitchFamily="34" charset="0"/>
              </a:rPr>
              <a:t> University of Ahvaz</a:t>
            </a:r>
          </a:p>
          <a:p>
            <a:pPr eaLnBrk="1" hangingPunct="1">
              <a:lnSpc>
                <a:spcPct val="80000"/>
              </a:lnSpc>
            </a:pPr>
            <a:endParaRPr lang="en-US" altLang="fa-IR" sz="2000" dirty="0" smtClean="0">
              <a:latin typeface="Arial" pitchFamily="34" charset="0"/>
            </a:endParaRPr>
          </a:p>
          <a:p>
            <a:pPr eaLnBrk="1" hangingPunct="1">
              <a:lnSpc>
                <a:spcPct val="80000"/>
              </a:lnSpc>
            </a:pPr>
            <a:r>
              <a:rPr lang="fa-IR" altLang="fa-IR" sz="2000">
                <a:solidFill>
                  <a:srgbClr val="FFC000"/>
                </a:solidFill>
                <a:latin typeface="Arial" pitchFamily="34" charset="0"/>
                <a:cs typeface="B Titr" panose="00000700000000000000" pitchFamily="2" charset="-78"/>
              </a:rPr>
              <a:t>اردیبهشت </a:t>
            </a:r>
            <a:r>
              <a:rPr lang="fa-IR" altLang="fa-IR" sz="2000" smtClean="0">
                <a:solidFill>
                  <a:srgbClr val="FFC000"/>
                </a:solidFill>
                <a:latin typeface="Arial" pitchFamily="34" charset="0"/>
                <a:cs typeface="B Titr" panose="00000700000000000000" pitchFamily="2" charset="-78"/>
              </a:rPr>
              <a:t>1404</a:t>
            </a:r>
            <a:endParaRPr lang="en-US" altLang="fa-IR" sz="2000" dirty="0">
              <a:solidFill>
                <a:srgbClr val="FFC000"/>
              </a:solidFill>
              <a:latin typeface="Arial" pitchFamily="34" charset="0"/>
              <a:cs typeface="B Titr" panose="00000700000000000000" pitchFamily="2" charset="-78"/>
            </a:endParaRPr>
          </a:p>
        </p:txBody>
      </p:sp>
      <p:sp>
        <p:nvSpPr>
          <p:cNvPr id="5" name="Rectangle 2"/>
          <p:cNvSpPr txBox="1">
            <a:spLocks noChangeArrowheads="1"/>
          </p:cNvSpPr>
          <p:nvPr/>
        </p:nvSpPr>
        <p:spPr bwMode="auto">
          <a:xfrm>
            <a:off x="152400" y="457200"/>
            <a:ext cx="86868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rtl="0" eaLnBrk="0" fontAlgn="base" hangingPunct="0">
              <a:spcBef>
                <a:spcPct val="0"/>
              </a:spcBef>
              <a:spcAft>
                <a:spcPct val="0"/>
              </a:spcAft>
              <a:defRPr sz="58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Garamond" pitchFamily="18" charset="0"/>
              </a:defRPr>
            </a:lvl2pPr>
            <a:lvl3pPr algn="l" rtl="0" eaLnBrk="0" fontAlgn="base" hangingPunct="0">
              <a:spcBef>
                <a:spcPct val="0"/>
              </a:spcBef>
              <a:spcAft>
                <a:spcPct val="0"/>
              </a:spcAft>
              <a:defRPr sz="4400">
                <a:solidFill>
                  <a:schemeClr val="tx2"/>
                </a:solidFill>
                <a:latin typeface="Garamond" pitchFamily="18" charset="0"/>
              </a:defRPr>
            </a:lvl3pPr>
            <a:lvl4pPr algn="l" rtl="0" eaLnBrk="0" fontAlgn="base" hangingPunct="0">
              <a:spcBef>
                <a:spcPct val="0"/>
              </a:spcBef>
              <a:spcAft>
                <a:spcPct val="0"/>
              </a:spcAft>
              <a:defRPr sz="4400">
                <a:solidFill>
                  <a:schemeClr val="tx2"/>
                </a:solidFill>
                <a:latin typeface="Garamond" pitchFamily="18" charset="0"/>
              </a:defRPr>
            </a:lvl4pPr>
            <a:lvl5pPr algn="l" rtl="0" eaLnBrk="0" fontAlgn="base" hangingPunct="0">
              <a:spcBef>
                <a:spcPct val="0"/>
              </a:spcBef>
              <a:spcAft>
                <a:spcPct val="0"/>
              </a:spcAft>
              <a:defRPr sz="4400">
                <a:solidFill>
                  <a:schemeClr val="tx2"/>
                </a:solidFill>
                <a:latin typeface="Garamond" pitchFamily="18" charset="0"/>
              </a:defRPr>
            </a:lvl5pPr>
            <a:lvl6pPr marL="457200" algn="l" rtl="0" fontAlgn="base">
              <a:spcBef>
                <a:spcPct val="0"/>
              </a:spcBef>
              <a:spcAft>
                <a:spcPct val="0"/>
              </a:spcAft>
              <a:defRPr sz="4400">
                <a:solidFill>
                  <a:schemeClr val="tx2"/>
                </a:solidFill>
                <a:latin typeface="Garamond" pitchFamily="18" charset="0"/>
              </a:defRPr>
            </a:lvl6pPr>
            <a:lvl7pPr marL="914400" algn="l" rtl="0" fontAlgn="base">
              <a:spcBef>
                <a:spcPct val="0"/>
              </a:spcBef>
              <a:spcAft>
                <a:spcPct val="0"/>
              </a:spcAft>
              <a:defRPr sz="4400">
                <a:solidFill>
                  <a:schemeClr val="tx2"/>
                </a:solidFill>
                <a:latin typeface="Garamond" pitchFamily="18" charset="0"/>
              </a:defRPr>
            </a:lvl7pPr>
            <a:lvl8pPr marL="1371600" algn="l" rtl="0" fontAlgn="base">
              <a:spcBef>
                <a:spcPct val="0"/>
              </a:spcBef>
              <a:spcAft>
                <a:spcPct val="0"/>
              </a:spcAft>
              <a:defRPr sz="4400">
                <a:solidFill>
                  <a:schemeClr val="tx2"/>
                </a:solidFill>
                <a:latin typeface="Garamond" pitchFamily="18" charset="0"/>
              </a:defRPr>
            </a:lvl8pPr>
            <a:lvl9pPr marL="1828800" algn="l" rtl="0" fontAlgn="base">
              <a:spcBef>
                <a:spcPct val="0"/>
              </a:spcBef>
              <a:spcAft>
                <a:spcPct val="0"/>
              </a:spcAft>
              <a:defRPr sz="4400">
                <a:solidFill>
                  <a:schemeClr val="tx2"/>
                </a:solidFill>
                <a:latin typeface="Garamond" pitchFamily="18" charset="0"/>
              </a:defRPr>
            </a:lvl9pPr>
          </a:lstStyle>
          <a:p>
            <a:pPr eaLnBrk="1" hangingPunct="1">
              <a:defRPr/>
            </a:pPr>
            <a:r>
              <a:rPr lang="en-US" altLang="fa-IR" sz="5200" kern="0" smtClean="0">
                <a:latin typeface="Arial" pitchFamily="34" charset="0"/>
              </a:rPr>
              <a:t>Instrumentation</a:t>
            </a:r>
            <a:endParaRPr lang="en-US" altLang="fa-IR" sz="5200" kern="0" dirty="0" smtClean="0">
              <a:latin typeface="Arial" pitchFamily="34" charset="0"/>
            </a:endParaRPr>
          </a:p>
        </p:txBody>
      </p:sp>
      <p:pic>
        <p:nvPicPr>
          <p:cNvPr id="22530" name="Picture 2"/>
          <p:cNvPicPr>
            <a:picLocks noChangeAspect="1" noChangeArrowheads="1"/>
          </p:cNvPicPr>
          <p:nvPr/>
        </p:nvPicPr>
        <p:blipFill>
          <a:blip r:embed="rId2" cstate="print"/>
          <a:srcRect/>
          <a:stretch>
            <a:fillRect/>
          </a:stretch>
        </p:blipFill>
        <p:spPr bwMode="auto">
          <a:xfrm>
            <a:off x="1331640" y="2708920"/>
            <a:ext cx="6167273" cy="2304256"/>
          </a:xfrm>
          <a:prstGeom prst="rect">
            <a:avLst/>
          </a:prstGeom>
          <a:noFill/>
          <a:ln w="9525">
            <a:noFill/>
            <a:miter lim="800000"/>
            <a:headEnd/>
            <a:tailEnd/>
          </a:ln>
        </p:spPr>
      </p:pic>
    </p:spTree>
    <p:extLst>
      <p:ext uri="{BB962C8B-B14F-4D97-AF65-F5344CB8AC3E}">
        <p14:creationId xmlns:p14="http://schemas.microsoft.com/office/powerpoint/2010/main" val="155649194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2</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144463"/>
            <a:ext cx="8229600" cy="1143000"/>
          </a:xfrm>
        </p:spPr>
        <p:txBody>
          <a:bodyPr/>
          <a:lstStyle/>
          <a:p>
            <a:pPr algn="r" rtl="1"/>
            <a:r>
              <a:rPr lang="fa-IR" sz="2800" dirty="0" smtClean="0">
                <a:cs typeface="B Nazanin" panose="00000400000000000000" pitchFamily="2" charset="-78"/>
              </a:rPr>
              <a:t>فهرست مطالب:</a:t>
            </a:r>
            <a:endParaRPr lang="fa-IR" sz="3600" dirty="0">
              <a:cs typeface="B Nazanin" panose="00000400000000000000" pitchFamily="2" charset="-78"/>
            </a:endParaRPr>
          </a:p>
        </p:txBody>
      </p:sp>
      <p:sp>
        <p:nvSpPr>
          <p:cNvPr id="11" name="Title 2"/>
          <p:cNvSpPr txBox="1">
            <a:spLocks/>
          </p:cNvSpPr>
          <p:nvPr/>
        </p:nvSpPr>
        <p:spPr bwMode="auto">
          <a:xfrm>
            <a:off x="680628" y="1469281"/>
            <a:ext cx="8229600" cy="3916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defRPr>
            </a:lvl2pPr>
            <a:lvl3pPr algn="ctr" rtl="0" fontAlgn="base">
              <a:spcBef>
                <a:spcPct val="0"/>
              </a:spcBef>
              <a:spcAft>
                <a:spcPct val="0"/>
              </a:spcAft>
              <a:defRPr sz="4400">
                <a:solidFill>
                  <a:schemeClr val="tx2"/>
                </a:solidFill>
                <a:latin typeface="Arial" pitchFamily="34" charset="0"/>
              </a:defRPr>
            </a:lvl3pPr>
            <a:lvl4pPr algn="ctr" rtl="0" fontAlgn="base">
              <a:spcBef>
                <a:spcPct val="0"/>
              </a:spcBef>
              <a:spcAft>
                <a:spcPct val="0"/>
              </a:spcAft>
              <a:defRPr sz="4400">
                <a:solidFill>
                  <a:schemeClr val="tx2"/>
                </a:solidFill>
                <a:latin typeface="Arial" pitchFamily="34" charset="0"/>
              </a:defRPr>
            </a:lvl4pPr>
            <a:lvl5pPr algn="ctr" rtl="0" fontAlgn="base">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marL="342900" indent="-342900" algn="r" rtl="1">
              <a:buFont typeface="Wingdings" panose="05000000000000000000" pitchFamily="2" charset="2"/>
              <a:buChar char="ü"/>
            </a:pPr>
            <a:r>
              <a:rPr lang="fa-IR" sz="2800" b="1" kern="0" dirty="0" smtClean="0">
                <a:cs typeface="B Nazanin" panose="00000400000000000000" pitchFamily="2" charset="-78"/>
              </a:rPr>
              <a:t>اجزا اصلی سیستم کنترل </a:t>
            </a:r>
          </a:p>
          <a:p>
            <a:pPr marL="342900" indent="-342900" algn="r" rtl="1">
              <a:buFont typeface="Wingdings" panose="05000000000000000000" pitchFamily="2" charset="2"/>
              <a:buChar char="ü"/>
            </a:pPr>
            <a:r>
              <a:rPr lang="fa-IR" sz="2800" b="1" kern="0" dirty="0" smtClean="0">
                <a:cs typeface="B Nazanin" panose="00000400000000000000" pitchFamily="2" charset="-78"/>
              </a:rPr>
              <a:t>مدلسازی فرآیند</a:t>
            </a:r>
            <a:endParaRPr lang="en-US" sz="2800" b="1" kern="0" dirty="0" smtClean="0">
              <a:cs typeface="B Nazanin" panose="00000400000000000000" pitchFamily="2" charset="-78"/>
            </a:endParaRPr>
          </a:p>
          <a:p>
            <a:pPr marL="800100" lvl="1" indent="-342900" algn="r" rtl="1">
              <a:buFont typeface="Wingdings" panose="05000000000000000000" pitchFamily="2" charset="2"/>
              <a:buChar char="ü"/>
            </a:pPr>
            <a:r>
              <a:rPr lang="fa-IR" sz="2800" b="1" kern="0" dirty="0" smtClean="0">
                <a:cs typeface="B Nazanin" panose="00000400000000000000" pitchFamily="2" charset="-78"/>
              </a:rPr>
              <a:t>استاتیکی </a:t>
            </a:r>
          </a:p>
          <a:p>
            <a:pPr marL="800100" lvl="1" indent="-342900" algn="r" rtl="1">
              <a:buFont typeface="Wingdings" panose="05000000000000000000" pitchFamily="2" charset="2"/>
              <a:buChar char="ü"/>
            </a:pPr>
            <a:r>
              <a:rPr lang="fa-IR" sz="2800" b="1" kern="0" dirty="0" smtClean="0">
                <a:cs typeface="B Nazanin" panose="00000400000000000000" pitchFamily="2" charset="-78"/>
              </a:rPr>
              <a:t>دینامیکی</a:t>
            </a:r>
          </a:p>
          <a:p>
            <a:pPr marL="342900" lvl="0" indent="-342900" algn="r" rtl="1">
              <a:buFont typeface="Wingdings" panose="05000000000000000000" pitchFamily="2" charset="2"/>
              <a:buChar char="ü"/>
            </a:pPr>
            <a:r>
              <a:rPr lang="fa-IR" sz="2800" b="1" kern="0" dirty="0" smtClean="0">
                <a:solidFill>
                  <a:srgbClr val="000000"/>
                </a:solidFill>
                <a:latin typeface="Arial" pitchFamily="34" charset="0"/>
                <a:ea typeface="+mn-ea"/>
                <a:cs typeface="B Nazanin" panose="00000400000000000000" pitchFamily="2" charset="-78"/>
              </a:rPr>
              <a:t>پاسخ پله </a:t>
            </a:r>
            <a:r>
              <a:rPr lang="fa-IR" sz="2400" b="1" kern="0" dirty="0" smtClean="0">
                <a:solidFill>
                  <a:srgbClr val="000000"/>
                </a:solidFill>
                <a:latin typeface="Arial" pitchFamily="34" charset="0"/>
                <a:ea typeface="+mn-ea"/>
                <a:cs typeface="B Nazanin" panose="00000400000000000000" pitchFamily="2" charset="-78"/>
              </a:rPr>
              <a:t>(مرسوم ترین)</a:t>
            </a:r>
          </a:p>
          <a:p>
            <a:pPr marL="342900" lvl="0" indent="-342900" algn="r" rtl="1">
              <a:buFont typeface="Wingdings" panose="05000000000000000000" pitchFamily="2" charset="2"/>
              <a:buChar char="ü"/>
            </a:pPr>
            <a:r>
              <a:rPr lang="fa-IR" sz="2800" b="1" kern="0" dirty="0" smtClean="0">
                <a:solidFill>
                  <a:srgbClr val="000000"/>
                </a:solidFill>
                <a:latin typeface="Arial" pitchFamily="34" charset="0"/>
                <a:ea typeface="+mn-ea"/>
                <a:cs typeface="B Nazanin" panose="00000400000000000000" pitchFamily="2" charset="-78"/>
              </a:rPr>
              <a:t>مدلسازی فرایند با پاسخ به پله</a:t>
            </a:r>
          </a:p>
          <a:p>
            <a:pPr marL="800100" lvl="1" indent="-342900" algn="r" rtl="1">
              <a:buFont typeface="Wingdings" panose="05000000000000000000" pitchFamily="2" charset="2"/>
              <a:buChar char="ü"/>
            </a:pPr>
            <a:r>
              <a:rPr lang="fa-IR" sz="2400" b="1" kern="0" dirty="0" smtClean="0">
                <a:solidFill>
                  <a:srgbClr val="000000"/>
                </a:solidFill>
                <a:cs typeface="B Nazanin" panose="00000400000000000000" pitchFamily="2" charset="-78"/>
              </a:rPr>
              <a:t>دو پارامتری</a:t>
            </a:r>
          </a:p>
          <a:p>
            <a:pPr marL="800100" lvl="1" indent="-342900" algn="r" rtl="1">
              <a:buFont typeface="Wingdings" panose="05000000000000000000" pitchFamily="2" charset="2"/>
              <a:buChar char="ü"/>
            </a:pPr>
            <a:r>
              <a:rPr lang="fa-IR" sz="2400" b="1" kern="0" dirty="0" smtClean="0">
                <a:solidFill>
                  <a:srgbClr val="000000"/>
                </a:solidFill>
                <a:latin typeface="Arial" pitchFamily="34" charset="0"/>
                <a:ea typeface="+mn-ea"/>
                <a:cs typeface="B Nazanin" panose="00000400000000000000" pitchFamily="2" charset="-78"/>
              </a:rPr>
              <a:t>سه پارامتری</a:t>
            </a:r>
            <a:endParaRPr lang="en-US" sz="2400" b="1" kern="0" dirty="0">
              <a:solidFill>
                <a:srgbClr val="000000"/>
              </a:solidFill>
              <a:latin typeface="Arial" pitchFamily="34" charset="0"/>
              <a:ea typeface="+mn-ea"/>
              <a:cs typeface="B Nazanin" panose="00000400000000000000" pitchFamily="2" charset="-78"/>
            </a:endParaRPr>
          </a:p>
          <a:p>
            <a:pPr marL="342900" lvl="0" indent="-342900" algn="r" rtl="1">
              <a:buFont typeface="Wingdings" panose="05000000000000000000" pitchFamily="2" charset="2"/>
              <a:buChar char="ü"/>
            </a:pPr>
            <a:r>
              <a:rPr lang="fa-IR" sz="2800" b="1" kern="0" dirty="0" smtClean="0">
                <a:solidFill>
                  <a:srgbClr val="000000"/>
                </a:solidFill>
                <a:latin typeface="Arial" pitchFamily="34" charset="0"/>
                <a:ea typeface="+mn-ea"/>
                <a:cs typeface="B Nazanin" panose="00000400000000000000" pitchFamily="2" charset="-78"/>
              </a:rPr>
              <a:t>طراحی کنترولر</a:t>
            </a:r>
            <a:endParaRPr lang="en-US" sz="2800" b="1" kern="0" dirty="0">
              <a:solidFill>
                <a:srgbClr val="000000"/>
              </a:solidFill>
              <a:latin typeface="Arial" pitchFamily="34" charset="0"/>
              <a:ea typeface="+mn-ea"/>
              <a:cs typeface="B Nazanin" panose="00000400000000000000" pitchFamily="2" charset="-78"/>
            </a:endParaRPr>
          </a:p>
          <a:p>
            <a:pPr marL="800100" lvl="1" indent="-342900" algn="r" rtl="1">
              <a:buFont typeface="Wingdings" panose="05000000000000000000" pitchFamily="2" charset="2"/>
              <a:buChar char="ü"/>
            </a:pPr>
            <a:endParaRPr lang="fa-IR" sz="2800" b="1" kern="0" dirty="0" smtClean="0">
              <a:cs typeface="B Nazanin" panose="00000400000000000000" pitchFamily="2" charset="-78"/>
            </a:endParaRPr>
          </a:p>
        </p:txBody>
      </p:sp>
    </p:spTree>
    <p:extLst>
      <p:ext uri="{BB962C8B-B14F-4D97-AF65-F5344CB8AC3E}">
        <p14:creationId xmlns:p14="http://schemas.microsoft.com/office/powerpoint/2010/main" val="38242569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3</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sp>
        <p:nvSpPr>
          <p:cNvPr id="10" name="Title 2"/>
          <p:cNvSpPr txBox="1">
            <a:spLocks/>
          </p:cNvSpPr>
          <p:nvPr/>
        </p:nvSpPr>
        <p:spPr bwMode="auto">
          <a:xfrm>
            <a:off x="693738" y="-144463"/>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defRPr>
            </a:lvl2pPr>
            <a:lvl3pPr algn="ctr" rtl="0" fontAlgn="base">
              <a:spcBef>
                <a:spcPct val="0"/>
              </a:spcBef>
              <a:spcAft>
                <a:spcPct val="0"/>
              </a:spcAft>
              <a:defRPr sz="4400">
                <a:solidFill>
                  <a:schemeClr val="tx2"/>
                </a:solidFill>
                <a:latin typeface="Arial" pitchFamily="34" charset="0"/>
              </a:defRPr>
            </a:lvl3pPr>
            <a:lvl4pPr algn="ctr" rtl="0" fontAlgn="base">
              <a:spcBef>
                <a:spcPct val="0"/>
              </a:spcBef>
              <a:spcAft>
                <a:spcPct val="0"/>
              </a:spcAft>
              <a:defRPr sz="4400">
                <a:solidFill>
                  <a:schemeClr val="tx2"/>
                </a:solidFill>
                <a:latin typeface="Arial" pitchFamily="34" charset="0"/>
              </a:defRPr>
            </a:lvl4pPr>
            <a:lvl5pPr algn="ctr" rtl="0" fontAlgn="base">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algn="r" rtl="1"/>
            <a:r>
              <a:rPr lang="fa-IR" sz="2800" b="1" kern="0" dirty="0" smtClean="0">
                <a:cs typeface="Titr" panose="00000700000000000000" pitchFamily="2" charset="-78"/>
              </a:rPr>
              <a:t>بلوک دیاگرام سیستم کنترلی</a:t>
            </a:r>
            <a:endParaRPr lang="fa-IR" sz="3600" b="1" kern="0" dirty="0">
              <a:cs typeface="Titr" panose="00000700000000000000" pitchFamily="2" charset="-78"/>
            </a:endParaRPr>
          </a:p>
        </p:txBody>
      </p:sp>
      <p:sp>
        <p:nvSpPr>
          <p:cNvPr id="3" name="Rectangle 2"/>
          <p:cNvSpPr/>
          <p:nvPr/>
        </p:nvSpPr>
        <p:spPr>
          <a:xfrm>
            <a:off x="256914" y="3145446"/>
            <a:ext cx="8633346" cy="2862322"/>
          </a:xfrm>
          <a:prstGeom prst="rect">
            <a:avLst/>
          </a:prstGeom>
        </p:spPr>
        <p:txBody>
          <a:bodyPr wrap="square">
            <a:spAutoFit/>
          </a:bodyPr>
          <a:lstStyle/>
          <a:p>
            <a:pPr algn="just"/>
            <a:r>
              <a:rPr lang="en-US" sz="2000" dirty="0" smtClean="0"/>
              <a:t>The </a:t>
            </a:r>
            <a:r>
              <a:rPr lang="en-US" sz="2000" dirty="0"/>
              <a:t>system has two major components, the </a:t>
            </a:r>
            <a:r>
              <a:rPr lang="en-US" sz="2000" b="1" dirty="0"/>
              <a:t>process</a:t>
            </a:r>
            <a:r>
              <a:rPr lang="en-US" sz="2000" dirty="0"/>
              <a:t> and the </a:t>
            </a:r>
            <a:r>
              <a:rPr lang="en-US" sz="2000" b="1" dirty="0" smtClean="0"/>
              <a:t>controller</a:t>
            </a:r>
            <a:r>
              <a:rPr lang="fa-IR" sz="2000" dirty="0" smtClean="0"/>
              <a:t>.</a:t>
            </a:r>
            <a:r>
              <a:rPr lang="en-US" sz="2000" dirty="0" smtClean="0"/>
              <a:t>The </a:t>
            </a:r>
            <a:r>
              <a:rPr lang="en-US" sz="2000" dirty="0"/>
              <a:t>process has one input, the manipulated </a:t>
            </a:r>
            <a:r>
              <a:rPr lang="en-US" sz="2000" dirty="0" smtClean="0"/>
              <a:t>variable (control variable) denoted </a:t>
            </a:r>
            <a:r>
              <a:rPr lang="en-US" sz="2000" dirty="0"/>
              <a:t>by u. The process output is called process variable (PV) </a:t>
            </a:r>
            <a:r>
              <a:rPr lang="en-US" sz="2000" dirty="0" smtClean="0"/>
              <a:t>denoted </a:t>
            </a:r>
            <a:r>
              <a:rPr lang="en-US" sz="2000" dirty="0"/>
              <a:t>by y. This </a:t>
            </a:r>
            <a:r>
              <a:rPr lang="en-US" sz="2000" dirty="0" smtClean="0"/>
              <a:t>variable </a:t>
            </a:r>
            <a:r>
              <a:rPr lang="en-US" sz="2000" dirty="0"/>
              <a:t>is measured by a sensor. The desired value of the process variable is called the </a:t>
            </a:r>
            <a:r>
              <a:rPr lang="en-US" sz="2000" dirty="0" err="1" smtClean="0"/>
              <a:t>setpoint</a:t>
            </a:r>
            <a:r>
              <a:rPr lang="en-US" sz="2000" dirty="0" smtClean="0"/>
              <a:t> </a:t>
            </a:r>
            <a:r>
              <a:rPr lang="en-US" sz="2000" dirty="0"/>
              <a:t>(SP) or the reference </a:t>
            </a:r>
            <a:r>
              <a:rPr lang="en-US" sz="2000" dirty="0" smtClean="0"/>
              <a:t>value (</a:t>
            </a:r>
            <a:r>
              <a:rPr lang="en-US" sz="2000" dirty="0" err="1" smtClean="0"/>
              <a:t>y</a:t>
            </a:r>
            <a:r>
              <a:rPr lang="en-US" sz="2800" baseline="-25000" dirty="0" err="1" smtClean="0"/>
              <a:t>sp</a:t>
            </a:r>
            <a:r>
              <a:rPr lang="en-US" dirty="0" smtClean="0"/>
              <a:t>)</a:t>
            </a:r>
            <a:r>
              <a:rPr lang="en-US" sz="2000" dirty="0" smtClean="0"/>
              <a:t>. </a:t>
            </a:r>
            <a:r>
              <a:rPr lang="en-US" sz="2000" dirty="0"/>
              <a:t>The control error e is the difference between the </a:t>
            </a:r>
            <a:r>
              <a:rPr lang="en-US" sz="2000" dirty="0" err="1"/>
              <a:t>setpoint</a:t>
            </a:r>
            <a:r>
              <a:rPr lang="en-US" sz="2000" dirty="0"/>
              <a:t> and the process variable, i.e., e = </a:t>
            </a:r>
            <a:r>
              <a:rPr lang="en-US" sz="2000" dirty="0" err="1"/>
              <a:t>y</a:t>
            </a:r>
            <a:r>
              <a:rPr lang="en-US" sz="2400" baseline="-25000" dirty="0" err="1"/>
              <a:t>sp</a:t>
            </a:r>
            <a:r>
              <a:rPr lang="en-US" sz="2000" dirty="0"/>
              <a:t> − y. The controller in Figure </a:t>
            </a:r>
            <a:r>
              <a:rPr lang="en-US" sz="2000" dirty="0" smtClean="0"/>
              <a:t>has </a:t>
            </a:r>
            <a:r>
              <a:rPr lang="en-US" sz="2000" dirty="0"/>
              <a:t>one input, the error, and one output, the control variable. The figure shows that the process and the controller are connected in a closed feedback loop.</a:t>
            </a:r>
          </a:p>
        </p:txBody>
      </p:sp>
      <p:pic>
        <p:nvPicPr>
          <p:cNvPr id="12" name="Picture 2"/>
          <p:cNvPicPr>
            <a:picLocks noChangeAspect="1" noChangeArrowheads="1"/>
          </p:cNvPicPr>
          <p:nvPr/>
        </p:nvPicPr>
        <p:blipFill rotWithShape="1">
          <a:blip r:embed="rId3" cstate="print"/>
          <a:srcRect b="22625"/>
          <a:stretch/>
        </p:blipFill>
        <p:spPr bwMode="auto">
          <a:xfrm>
            <a:off x="1241630" y="972742"/>
            <a:ext cx="6660738" cy="2061517"/>
          </a:xfrm>
          <a:prstGeom prst="rect">
            <a:avLst/>
          </a:prstGeom>
          <a:noFill/>
          <a:ln w="9525">
            <a:noFill/>
            <a:miter lim="800000"/>
            <a:headEnd/>
            <a:tailEnd/>
          </a:ln>
        </p:spPr>
      </p:pic>
    </p:spTree>
    <p:extLst>
      <p:ext uri="{BB962C8B-B14F-4D97-AF65-F5344CB8AC3E}">
        <p14:creationId xmlns:p14="http://schemas.microsoft.com/office/powerpoint/2010/main" val="26239564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4</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144463"/>
            <a:ext cx="8229600" cy="1143000"/>
          </a:xfrm>
        </p:spPr>
        <p:txBody>
          <a:bodyPr/>
          <a:lstStyle/>
          <a:p>
            <a:pPr algn="r" rtl="1"/>
            <a:r>
              <a:rPr lang="fa-IR" sz="2800" b="1" dirty="0" smtClean="0">
                <a:cs typeface="Titr" panose="00000700000000000000" pitchFamily="2" charset="-78"/>
              </a:rPr>
              <a:t>مدلسازی فرآیند</a:t>
            </a:r>
            <a:endParaRPr lang="fa-IR" sz="3600" b="1" dirty="0">
              <a:cs typeface="Titr" panose="000007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grpSp>
        <p:nvGrpSpPr>
          <p:cNvPr id="14" name="Group 10"/>
          <p:cNvGrpSpPr/>
          <p:nvPr/>
        </p:nvGrpSpPr>
        <p:grpSpPr>
          <a:xfrm>
            <a:off x="971600" y="998537"/>
            <a:ext cx="6660738" cy="2088232"/>
            <a:chOff x="611560" y="692696"/>
            <a:chExt cx="6660738" cy="2088232"/>
          </a:xfrm>
        </p:grpSpPr>
        <p:pic>
          <p:nvPicPr>
            <p:cNvPr id="20" name="Picture 2"/>
            <p:cNvPicPr>
              <a:picLocks noChangeAspect="1" noChangeArrowheads="1"/>
            </p:cNvPicPr>
            <p:nvPr/>
          </p:nvPicPr>
          <p:blipFill>
            <a:blip r:embed="rId3" cstate="print"/>
            <a:srcRect b="21622"/>
            <a:stretch>
              <a:fillRect/>
            </a:stretch>
          </p:blipFill>
          <p:spPr bwMode="auto">
            <a:xfrm>
              <a:off x="611560" y="692696"/>
              <a:ext cx="6660738" cy="2088232"/>
            </a:xfrm>
            <a:prstGeom prst="rect">
              <a:avLst/>
            </a:prstGeom>
            <a:noFill/>
            <a:ln w="9525">
              <a:noFill/>
              <a:miter lim="800000"/>
              <a:headEnd/>
              <a:tailEnd/>
            </a:ln>
          </p:spPr>
        </p:pic>
        <p:sp>
          <p:nvSpPr>
            <p:cNvPr id="21" name="Rounded Rectangle 20"/>
            <p:cNvSpPr/>
            <p:nvPr/>
          </p:nvSpPr>
          <p:spPr bwMode="auto">
            <a:xfrm>
              <a:off x="4283968" y="692696"/>
              <a:ext cx="1728192" cy="936104"/>
            </a:xfrm>
            <a:prstGeom prst="roundRect">
              <a:avLst/>
            </a:prstGeom>
            <a:noFill/>
            <a:ln w="25400" cap="flat" cmpd="sng" algn="ctr">
              <a:solidFill>
                <a:srgbClr val="FF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grpSp>
      <p:sp>
        <p:nvSpPr>
          <p:cNvPr id="22" name="Title 2"/>
          <p:cNvSpPr txBox="1">
            <a:spLocks/>
          </p:cNvSpPr>
          <p:nvPr/>
        </p:nvSpPr>
        <p:spPr bwMode="auto">
          <a:xfrm>
            <a:off x="446856" y="2875309"/>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defRPr>
            </a:lvl2pPr>
            <a:lvl3pPr algn="ctr" rtl="0" fontAlgn="base">
              <a:spcBef>
                <a:spcPct val="0"/>
              </a:spcBef>
              <a:spcAft>
                <a:spcPct val="0"/>
              </a:spcAft>
              <a:defRPr sz="4400">
                <a:solidFill>
                  <a:schemeClr val="tx2"/>
                </a:solidFill>
                <a:latin typeface="Arial" pitchFamily="34" charset="0"/>
              </a:defRPr>
            </a:lvl3pPr>
            <a:lvl4pPr algn="ctr" rtl="0" fontAlgn="base">
              <a:spcBef>
                <a:spcPct val="0"/>
              </a:spcBef>
              <a:spcAft>
                <a:spcPct val="0"/>
              </a:spcAft>
              <a:defRPr sz="4400">
                <a:solidFill>
                  <a:schemeClr val="tx2"/>
                </a:solidFill>
                <a:latin typeface="Arial" pitchFamily="34" charset="0"/>
              </a:defRPr>
            </a:lvl4pPr>
            <a:lvl5pPr algn="ctr" rtl="0" fontAlgn="base">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algn="r" rtl="1"/>
            <a:r>
              <a:rPr lang="fa-IR" sz="2800" b="1" kern="0" dirty="0" smtClean="0">
                <a:cs typeface="Titr" panose="00000700000000000000" pitchFamily="2" charset="-78"/>
              </a:rPr>
              <a:t>مدل سازی استاتیکی</a:t>
            </a:r>
            <a:endParaRPr lang="fa-IR" sz="3600" b="1" kern="0" dirty="0">
              <a:cs typeface="Titr" panose="00000700000000000000" pitchFamily="2" charset="-78"/>
            </a:endParaRPr>
          </a:p>
        </p:txBody>
      </p:sp>
      <p:sp>
        <p:nvSpPr>
          <p:cNvPr id="2" name="Rectangle 1"/>
          <p:cNvSpPr/>
          <p:nvPr/>
        </p:nvSpPr>
        <p:spPr>
          <a:xfrm>
            <a:off x="267559" y="4007543"/>
            <a:ext cx="8616326" cy="1569660"/>
          </a:xfrm>
          <a:prstGeom prst="rect">
            <a:avLst/>
          </a:prstGeom>
        </p:spPr>
        <p:txBody>
          <a:bodyPr wrap="square">
            <a:spAutoFit/>
          </a:bodyPr>
          <a:lstStyle/>
          <a:p>
            <a:pPr algn="just"/>
            <a:r>
              <a:rPr lang="en-US" sz="2400" dirty="0"/>
              <a:t>The static process characteristic is a curve that gives the steady state relation between process input signal u and process output y. </a:t>
            </a:r>
            <a:r>
              <a:rPr lang="en-US" sz="2400" dirty="0" smtClean="0"/>
              <a:t>Notice </a:t>
            </a:r>
            <a:r>
              <a:rPr lang="en-US" sz="2400" dirty="0"/>
              <a:t>that the curve has a physical interpretation only for a stable process.</a:t>
            </a:r>
          </a:p>
        </p:txBody>
      </p:sp>
    </p:spTree>
    <p:extLst>
      <p:ext uri="{BB962C8B-B14F-4D97-AF65-F5344CB8AC3E}">
        <p14:creationId xmlns:p14="http://schemas.microsoft.com/office/powerpoint/2010/main" val="36958956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5</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144463"/>
            <a:ext cx="8229600" cy="1143000"/>
          </a:xfrm>
        </p:spPr>
        <p:txBody>
          <a:bodyPr/>
          <a:lstStyle/>
          <a:p>
            <a:pPr algn="r" rtl="1"/>
            <a:r>
              <a:rPr lang="fa-IR" sz="2800" b="1" dirty="0" smtClean="0">
                <a:cs typeface="Titr" panose="00000700000000000000" pitchFamily="2" charset="-78"/>
              </a:rPr>
              <a:t>مدلسازی فرآیند</a:t>
            </a:r>
            <a:r>
              <a:rPr lang="en-US" sz="2800" b="1" dirty="0" smtClean="0">
                <a:cs typeface="Titr" panose="00000700000000000000" pitchFamily="2" charset="-78"/>
              </a:rPr>
              <a:t>- </a:t>
            </a:r>
            <a:r>
              <a:rPr lang="fa-IR" sz="2800" b="1" dirty="0" smtClean="0">
                <a:cs typeface="Titr" panose="00000700000000000000" pitchFamily="2" charset="-78"/>
              </a:rPr>
              <a:t> مدل سازی استاتیکی</a:t>
            </a:r>
            <a:endParaRPr lang="fa-IR" sz="3600" b="1" dirty="0">
              <a:cs typeface="Titr" panose="000007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sp>
        <p:nvSpPr>
          <p:cNvPr id="2" name="Rectangle 1"/>
          <p:cNvSpPr/>
          <p:nvPr/>
        </p:nvSpPr>
        <p:spPr>
          <a:xfrm>
            <a:off x="345826" y="4392429"/>
            <a:ext cx="8311778" cy="1938992"/>
          </a:xfrm>
          <a:prstGeom prst="rect">
            <a:avLst/>
          </a:prstGeom>
        </p:spPr>
        <p:txBody>
          <a:bodyPr wrap="square">
            <a:spAutoFit/>
          </a:bodyPr>
          <a:lstStyle/>
          <a:p>
            <a:pPr algn="just"/>
            <a:r>
              <a:rPr lang="en-US" sz="2000" dirty="0"/>
              <a:t>All process investigations should start by a determination of the static process model. It can be used </a:t>
            </a:r>
            <a:r>
              <a:rPr lang="en-US" sz="2000" b="1" dirty="0"/>
              <a:t>to determine the range of control signals required to change the process output over the desired range</a:t>
            </a:r>
            <a:r>
              <a:rPr lang="en-US" sz="2000" dirty="0"/>
              <a:t>, </a:t>
            </a:r>
            <a:r>
              <a:rPr lang="en-US" sz="2000" b="1" dirty="0"/>
              <a:t>to size actuators</a:t>
            </a:r>
            <a:r>
              <a:rPr lang="en-US" sz="2000" dirty="0"/>
              <a:t>, and </a:t>
            </a:r>
            <a:r>
              <a:rPr lang="en-US" sz="2000" b="1" dirty="0"/>
              <a:t>to select sensor resolution</a:t>
            </a:r>
            <a:r>
              <a:rPr lang="en-US" sz="2000" dirty="0"/>
              <a:t>. It can also be used </a:t>
            </a:r>
            <a:r>
              <a:rPr lang="en-US" sz="2000" b="1" dirty="0"/>
              <a:t>to assess whether static gain variations </a:t>
            </a:r>
            <a:r>
              <a:rPr lang="en-US" sz="2000" dirty="0"/>
              <a:t>are so large that they have to be accounted for in the control design.</a:t>
            </a:r>
          </a:p>
        </p:txBody>
      </p:sp>
      <p:sp>
        <p:nvSpPr>
          <p:cNvPr id="23" name="Title 2"/>
          <p:cNvSpPr txBox="1">
            <a:spLocks/>
          </p:cNvSpPr>
          <p:nvPr/>
        </p:nvSpPr>
        <p:spPr bwMode="auto">
          <a:xfrm>
            <a:off x="680628" y="3496173"/>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defRPr>
            </a:lvl2pPr>
            <a:lvl3pPr algn="ctr" rtl="0" fontAlgn="base">
              <a:spcBef>
                <a:spcPct val="0"/>
              </a:spcBef>
              <a:spcAft>
                <a:spcPct val="0"/>
              </a:spcAft>
              <a:defRPr sz="4400">
                <a:solidFill>
                  <a:schemeClr val="tx2"/>
                </a:solidFill>
                <a:latin typeface="Arial" pitchFamily="34" charset="0"/>
              </a:defRPr>
            </a:lvl3pPr>
            <a:lvl4pPr algn="ctr" rtl="0" fontAlgn="base">
              <a:spcBef>
                <a:spcPct val="0"/>
              </a:spcBef>
              <a:spcAft>
                <a:spcPct val="0"/>
              </a:spcAft>
              <a:defRPr sz="4400">
                <a:solidFill>
                  <a:schemeClr val="tx2"/>
                </a:solidFill>
                <a:latin typeface="Arial" pitchFamily="34" charset="0"/>
              </a:defRPr>
            </a:lvl4pPr>
            <a:lvl5pPr algn="ctr" rtl="0" fontAlgn="base">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algn="r" rtl="1"/>
            <a:r>
              <a:rPr lang="fa-IR" sz="2400" b="1" kern="0" dirty="0" smtClean="0">
                <a:cs typeface="Titr" panose="00000700000000000000" pitchFamily="2" charset="-78"/>
              </a:rPr>
              <a:t>کاربرد مدل سازی استاتیکی</a:t>
            </a:r>
            <a:endParaRPr lang="fa-IR" sz="2400" b="1" kern="0" dirty="0">
              <a:cs typeface="Titr" panose="00000700000000000000" pitchFamily="2" charset="-78"/>
            </a:endParaRPr>
          </a:p>
        </p:txBody>
      </p:sp>
      <p:pic>
        <p:nvPicPr>
          <p:cNvPr id="3" name="Picture 2"/>
          <p:cNvPicPr>
            <a:picLocks noChangeAspect="1"/>
          </p:cNvPicPr>
          <p:nvPr/>
        </p:nvPicPr>
        <p:blipFill rotWithShape="1">
          <a:blip r:embed="rId3"/>
          <a:srcRect l="26565" t="30484" r="20306" b="11438"/>
          <a:stretch/>
        </p:blipFill>
        <p:spPr>
          <a:xfrm>
            <a:off x="3635896" y="892454"/>
            <a:ext cx="4598639" cy="2826247"/>
          </a:xfrm>
          <a:prstGeom prst="rect">
            <a:avLst/>
          </a:prstGeom>
        </p:spPr>
      </p:pic>
      <p:grpSp>
        <p:nvGrpSpPr>
          <p:cNvPr id="24" name="Group 10"/>
          <p:cNvGrpSpPr/>
          <p:nvPr/>
        </p:nvGrpSpPr>
        <p:grpSpPr>
          <a:xfrm>
            <a:off x="439922" y="1624715"/>
            <a:ext cx="3024337" cy="1224136"/>
            <a:chOff x="3847622" y="593424"/>
            <a:chExt cx="3024337" cy="1224136"/>
          </a:xfrm>
        </p:grpSpPr>
        <p:pic>
          <p:nvPicPr>
            <p:cNvPr id="25" name="Picture 2"/>
            <p:cNvPicPr>
              <a:picLocks noChangeAspect="1" noChangeArrowheads="1"/>
            </p:cNvPicPr>
            <p:nvPr/>
          </p:nvPicPr>
          <p:blipFill rotWithShape="1">
            <a:blip r:embed="rId4" cstate="print"/>
            <a:srcRect l="48583" t="-3725" r="6011" b="57780"/>
            <a:stretch/>
          </p:blipFill>
          <p:spPr bwMode="auto">
            <a:xfrm>
              <a:off x="3847622" y="593424"/>
              <a:ext cx="3024337" cy="1224136"/>
            </a:xfrm>
            <a:prstGeom prst="rect">
              <a:avLst/>
            </a:prstGeom>
            <a:noFill/>
            <a:ln w="9525">
              <a:noFill/>
              <a:miter lim="800000"/>
              <a:headEnd/>
              <a:tailEnd/>
            </a:ln>
          </p:spPr>
        </p:pic>
        <p:sp>
          <p:nvSpPr>
            <p:cNvPr id="26" name="Rounded Rectangle 25"/>
            <p:cNvSpPr/>
            <p:nvPr/>
          </p:nvSpPr>
          <p:spPr bwMode="auto">
            <a:xfrm>
              <a:off x="4283968" y="692696"/>
              <a:ext cx="1728192" cy="936104"/>
            </a:xfrm>
            <a:prstGeom prst="roundRect">
              <a:avLst/>
            </a:prstGeom>
            <a:noFill/>
            <a:ln w="25400" cap="flat" cmpd="sng" algn="ctr">
              <a:solidFill>
                <a:srgbClr val="FF0000"/>
              </a:solidFill>
              <a:prstDash val="dash"/>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grpSp>
    </p:spTree>
    <p:extLst>
      <p:ext uri="{BB962C8B-B14F-4D97-AF65-F5344CB8AC3E}">
        <p14:creationId xmlns:p14="http://schemas.microsoft.com/office/powerpoint/2010/main" val="3462726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6</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144463"/>
            <a:ext cx="8229600" cy="1143000"/>
          </a:xfrm>
        </p:spPr>
        <p:txBody>
          <a:bodyPr/>
          <a:lstStyle/>
          <a:p>
            <a:pPr algn="r" rtl="1"/>
            <a:r>
              <a:rPr lang="fa-IR" sz="2800" b="1" dirty="0" smtClean="0">
                <a:cs typeface="Titr" panose="00000700000000000000" pitchFamily="2" charset="-78"/>
              </a:rPr>
              <a:t>مدلسازی فرآیند</a:t>
            </a:r>
            <a:r>
              <a:rPr lang="en-US" sz="2800" b="1" dirty="0" smtClean="0">
                <a:cs typeface="Titr" panose="00000700000000000000" pitchFamily="2" charset="-78"/>
              </a:rPr>
              <a:t>- </a:t>
            </a:r>
            <a:r>
              <a:rPr lang="fa-IR" sz="2800" b="1" dirty="0" smtClean="0">
                <a:cs typeface="Titr" panose="00000700000000000000" pitchFamily="2" charset="-78"/>
              </a:rPr>
              <a:t> مدل سازی استاتیکی</a:t>
            </a:r>
            <a:endParaRPr lang="fa-IR" sz="3600" b="1" dirty="0">
              <a:cs typeface="Titr" panose="000007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sp>
        <p:nvSpPr>
          <p:cNvPr id="23" name="Title 2"/>
          <p:cNvSpPr txBox="1">
            <a:spLocks/>
          </p:cNvSpPr>
          <p:nvPr/>
        </p:nvSpPr>
        <p:spPr bwMode="auto">
          <a:xfrm>
            <a:off x="693738" y="52037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defRPr>
            </a:lvl2pPr>
            <a:lvl3pPr algn="ctr" rtl="0" fontAlgn="base">
              <a:spcBef>
                <a:spcPct val="0"/>
              </a:spcBef>
              <a:spcAft>
                <a:spcPct val="0"/>
              </a:spcAft>
              <a:defRPr sz="4400">
                <a:solidFill>
                  <a:schemeClr val="tx2"/>
                </a:solidFill>
                <a:latin typeface="Arial" pitchFamily="34" charset="0"/>
              </a:defRPr>
            </a:lvl3pPr>
            <a:lvl4pPr algn="ctr" rtl="0" fontAlgn="base">
              <a:spcBef>
                <a:spcPct val="0"/>
              </a:spcBef>
              <a:spcAft>
                <a:spcPct val="0"/>
              </a:spcAft>
              <a:defRPr sz="4400">
                <a:solidFill>
                  <a:schemeClr val="tx2"/>
                </a:solidFill>
                <a:latin typeface="Arial" pitchFamily="34" charset="0"/>
              </a:defRPr>
            </a:lvl4pPr>
            <a:lvl5pPr algn="ctr" rtl="0" fontAlgn="base">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algn="r" rtl="1"/>
            <a:r>
              <a:rPr lang="fa-IR" sz="2200" b="1" kern="0" dirty="0" smtClean="0">
                <a:cs typeface="Titr" panose="00000700000000000000" pitchFamily="2" charset="-78"/>
              </a:rPr>
              <a:t>روش بدست آوردن مدل استاتیکی:</a:t>
            </a:r>
            <a:endParaRPr lang="fa-IR" sz="2200" b="1" kern="0" dirty="0">
              <a:cs typeface="Titr" panose="00000700000000000000" pitchFamily="2" charset="-78"/>
            </a:endParaRPr>
          </a:p>
        </p:txBody>
      </p:sp>
      <p:sp>
        <p:nvSpPr>
          <p:cNvPr id="4" name="Rectangle 3"/>
          <p:cNvSpPr/>
          <p:nvPr/>
        </p:nvSpPr>
        <p:spPr>
          <a:xfrm>
            <a:off x="473078" y="1663378"/>
            <a:ext cx="7982718" cy="4524315"/>
          </a:xfrm>
          <a:prstGeom prst="rect">
            <a:avLst/>
          </a:prstGeom>
        </p:spPr>
        <p:txBody>
          <a:bodyPr wrap="square">
            <a:spAutoFit/>
          </a:bodyPr>
          <a:lstStyle/>
          <a:p>
            <a:r>
              <a:rPr lang="en-US" dirty="0"/>
              <a:t>The static model can be obtained in several ways. It can be </a:t>
            </a:r>
            <a:r>
              <a:rPr lang="en-US" dirty="0" smtClean="0"/>
              <a:t>determined </a:t>
            </a:r>
            <a:r>
              <a:rPr lang="en-US" dirty="0"/>
              <a:t>by an </a:t>
            </a:r>
            <a:r>
              <a:rPr lang="en-US" b="1" dirty="0"/>
              <a:t>open-loop experiment </a:t>
            </a:r>
            <a:r>
              <a:rPr lang="en-US" dirty="0"/>
              <a:t>where the input signal is set to a constant value and the process output is measured when it has reached steady state. This gives one point on the process </a:t>
            </a:r>
            <a:r>
              <a:rPr lang="en-US" dirty="0" smtClean="0"/>
              <a:t>characteristics</a:t>
            </a:r>
            <a:r>
              <a:rPr lang="en-US" dirty="0"/>
              <a:t>. The experiment is then repeated to cover the full range of inputs. </a:t>
            </a:r>
            <a:endParaRPr lang="en-US" dirty="0" smtClean="0"/>
          </a:p>
          <a:p>
            <a:r>
              <a:rPr lang="en-US" dirty="0" smtClean="0"/>
              <a:t>An </a:t>
            </a:r>
            <a:r>
              <a:rPr lang="en-US" dirty="0"/>
              <a:t>alternative procedure is to make a </a:t>
            </a:r>
            <a:r>
              <a:rPr lang="en-US" b="1" dirty="0"/>
              <a:t>closed-loop experiment</a:t>
            </a:r>
            <a:r>
              <a:rPr lang="en-US" dirty="0"/>
              <a:t>. The </a:t>
            </a:r>
            <a:r>
              <a:rPr lang="en-US" dirty="0" err="1"/>
              <a:t>setpoint</a:t>
            </a:r>
            <a:r>
              <a:rPr lang="en-US" dirty="0"/>
              <a:t> is then given a constant value and the corresponding control variable is measured in steady state. The experiment is then repeated to cover the full range of </a:t>
            </a:r>
            <a:r>
              <a:rPr lang="en-US" dirty="0" err="1"/>
              <a:t>setpoints</a:t>
            </a:r>
            <a:r>
              <a:rPr lang="en-US" dirty="0"/>
              <a:t>. </a:t>
            </a:r>
            <a:endParaRPr lang="en-US" dirty="0" smtClean="0"/>
          </a:p>
          <a:p>
            <a:r>
              <a:rPr lang="en-US" dirty="0" smtClean="0"/>
              <a:t>The </a:t>
            </a:r>
            <a:r>
              <a:rPr lang="en-US" dirty="0"/>
              <a:t>experiments required to determine the static process model often give a good </a:t>
            </a:r>
            <a:r>
              <a:rPr lang="en-US" dirty="0" smtClean="0"/>
              <a:t>feel </a:t>
            </a:r>
            <a:r>
              <a:rPr lang="en-US" dirty="0"/>
              <a:t>for how easy it is to control the process, if it is stable, and if there are many disturbances. </a:t>
            </a:r>
            <a:endParaRPr lang="en-US" dirty="0" smtClean="0"/>
          </a:p>
          <a:p>
            <a:r>
              <a:rPr lang="en-US" dirty="0" smtClean="0"/>
              <a:t>Sometimes </a:t>
            </a:r>
            <a:r>
              <a:rPr lang="en-US" dirty="0"/>
              <a:t>process operations do not permit the experiments to be done as described above. Small perturbations are normally permitted, but it may not be possible to move the process over the full operating range. In such a case the experiment must be done over a long period of time.</a:t>
            </a:r>
          </a:p>
        </p:txBody>
      </p:sp>
    </p:spTree>
    <p:extLst>
      <p:ext uri="{BB962C8B-B14F-4D97-AF65-F5344CB8AC3E}">
        <p14:creationId xmlns:p14="http://schemas.microsoft.com/office/powerpoint/2010/main" val="95111643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7</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144463"/>
            <a:ext cx="8229600" cy="1143000"/>
          </a:xfrm>
        </p:spPr>
        <p:txBody>
          <a:bodyPr/>
          <a:lstStyle/>
          <a:p>
            <a:pPr algn="r" rtl="1"/>
            <a:r>
              <a:rPr lang="fa-IR" sz="2800" dirty="0" smtClean="0">
                <a:cs typeface="B Nazanin" panose="00000400000000000000" pitchFamily="2" charset="-78"/>
              </a:rPr>
              <a:t>بلوک دیاگرام کنترل حلقه بسته- نویز و اغتشاش بار</a:t>
            </a:r>
            <a:endParaRPr lang="fa-IR" sz="3600" dirty="0">
              <a:cs typeface="B Nazanin" panose="000004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pic>
        <p:nvPicPr>
          <p:cNvPr id="1027" name="Picture 3"/>
          <p:cNvPicPr>
            <a:picLocks noChangeAspect="1" noChangeArrowheads="1"/>
          </p:cNvPicPr>
          <p:nvPr/>
        </p:nvPicPr>
        <p:blipFill>
          <a:blip r:embed="rId3" cstate="print"/>
          <a:srcRect/>
          <a:stretch>
            <a:fillRect/>
          </a:stretch>
        </p:blipFill>
        <p:spPr bwMode="auto">
          <a:xfrm>
            <a:off x="899591" y="1539595"/>
            <a:ext cx="7638190" cy="4049645"/>
          </a:xfrm>
          <a:prstGeom prst="rect">
            <a:avLst/>
          </a:prstGeom>
          <a:noFill/>
          <a:ln w="9525">
            <a:noFill/>
            <a:miter lim="800000"/>
            <a:headEnd/>
            <a:tailEnd/>
          </a:ln>
        </p:spPr>
      </p:pic>
    </p:spTree>
    <p:extLst>
      <p:ext uri="{BB962C8B-B14F-4D97-AF65-F5344CB8AC3E}">
        <p14:creationId xmlns:p14="http://schemas.microsoft.com/office/powerpoint/2010/main" val="20207200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8</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144463"/>
            <a:ext cx="8229600" cy="1143000"/>
          </a:xfrm>
        </p:spPr>
        <p:txBody>
          <a:bodyPr/>
          <a:lstStyle/>
          <a:p>
            <a:pPr algn="r" rtl="1"/>
            <a:r>
              <a:rPr lang="fa-IR" sz="2400" dirty="0" smtClean="0">
                <a:cs typeface="Titr" panose="00000700000000000000" pitchFamily="2" charset="-78"/>
              </a:rPr>
              <a:t>بلوک دیاگرام کنترل حلقه بسته- نویز و اغتشاش بار</a:t>
            </a:r>
            <a:endParaRPr lang="fa-IR" sz="3200" dirty="0">
              <a:cs typeface="Titr" panose="000007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sp>
        <p:nvSpPr>
          <p:cNvPr id="2" name="Rectangle 1"/>
          <p:cNvSpPr/>
          <p:nvPr/>
        </p:nvSpPr>
        <p:spPr>
          <a:xfrm>
            <a:off x="272094" y="1654235"/>
            <a:ext cx="8599810" cy="3046988"/>
          </a:xfrm>
          <a:prstGeom prst="rect">
            <a:avLst/>
          </a:prstGeom>
        </p:spPr>
        <p:txBody>
          <a:bodyPr wrap="square">
            <a:spAutoFit/>
          </a:bodyPr>
          <a:lstStyle/>
          <a:p>
            <a:pPr algn="just"/>
            <a:r>
              <a:rPr lang="en-US" sz="2400" dirty="0"/>
              <a:t>Process disturbances are easily determined by logging the process output when the control signal is constant. Such a measurement will give a combination of measurement and load disturbances. There are many sophisticated techniques such as time-series analysis and spectral analysis that can be used to determine the characteristics of the process noise. Crude estimates of the noise characteristics are obtained simply by measuring the peak-to-peak </a:t>
            </a:r>
            <a:r>
              <a:rPr lang="en-US" sz="2400" dirty="0" smtClean="0"/>
              <a:t>value</a:t>
            </a:r>
            <a:r>
              <a:rPr lang="fa-IR" sz="2400" dirty="0" smtClean="0"/>
              <a:t>.</a:t>
            </a:r>
            <a:endParaRPr lang="en-US" sz="2400" dirty="0"/>
          </a:p>
        </p:txBody>
      </p:sp>
      <p:sp>
        <p:nvSpPr>
          <p:cNvPr id="11" name="Title 2"/>
          <p:cNvSpPr txBox="1">
            <a:spLocks/>
          </p:cNvSpPr>
          <p:nvPr/>
        </p:nvSpPr>
        <p:spPr bwMode="auto">
          <a:xfrm>
            <a:off x="609598" y="747772"/>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defRPr>
            </a:lvl2pPr>
            <a:lvl3pPr algn="ctr" rtl="0" fontAlgn="base">
              <a:spcBef>
                <a:spcPct val="0"/>
              </a:spcBef>
              <a:spcAft>
                <a:spcPct val="0"/>
              </a:spcAft>
              <a:defRPr sz="4400">
                <a:solidFill>
                  <a:schemeClr val="tx2"/>
                </a:solidFill>
                <a:latin typeface="Arial" pitchFamily="34" charset="0"/>
              </a:defRPr>
            </a:lvl3pPr>
            <a:lvl4pPr algn="ctr" rtl="0" fontAlgn="base">
              <a:spcBef>
                <a:spcPct val="0"/>
              </a:spcBef>
              <a:spcAft>
                <a:spcPct val="0"/>
              </a:spcAft>
              <a:defRPr sz="4400">
                <a:solidFill>
                  <a:schemeClr val="tx2"/>
                </a:solidFill>
                <a:latin typeface="Arial" pitchFamily="34" charset="0"/>
              </a:defRPr>
            </a:lvl4pPr>
            <a:lvl5pPr algn="ctr" rtl="0" fontAlgn="base">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algn="r" rtl="1"/>
            <a:r>
              <a:rPr lang="fa-IR" sz="2400" kern="0" dirty="0" smtClean="0">
                <a:latin typeface=" b titr"/>
                <a:cs typeface="Titr" panose="00000700000000000000" pitchFamily="2" charset="-78"/>
              </a:rPr>
              <a:t>روش اندازه گیری اغتشاش:</a:t>
            </a:r>
            <a:endParaRPr lang="fa-IR" sz="3200" kern="0" dirty="0">
              <a:latin typeface=" b titr"/>
              <a:cs typeface="Titr" panose="00000700000000000000" pitchFamily="2" charset="-78"/>
            </a:endParaRPr>
          </a:p>
        </p:txBody>
      </p:sp>
    </p:spTree>
    <p:extLst>
      <p:ext uri="{BB962C8B-B14F-4D97-AF65-F5344CB8AC3E}">
        <p14:creationId xmlns:p14="http://schemas.microsoft.com/office/powerpoint/2010/main" val="9282349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9</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144463"/>
            <a:ext cx="8229600" cy="1143000"/>
          </a:xfrm>
        </p:spPr>
        <p:txBody>
          <a:bodyPr/>
          <a:lstStyle/>
          <a:p>
            <a:pPr algn="r" rtl="1"/>
            <a:r>
              <a:rPr lang="fa-IR" sz="2800" b="1" dirty="0" smtClean="0">
                <a:cs typeface="Titr" panose="00000700000000000000" pitchFamily="2" charset="-78"/>
              </a:rPr>
              <a:t>مدلسازی فرآیند</a:t>
            </a:r>
            <a:r>
              <a:rPr lang="en-US" sz="2800" b="1" dirty="0" smtClean="0">
                <a:cs typeface="Titr" panose="00000700000000000000" pitchFamily="2" charset="-78"/>
              </a:rPr>
              <a:t>- </a:t>
            </a:r>
            <a:r>
              <a:rPr lang="fa-IR" sz="2800" b="1" dirty="0" smtClean="0">
                <a:cs typeface="Titr" panose="00000700000000000000" pitchFamily="2" charset="-78"/>
              </a:rPr>
              <a:t> مدل سازی دینامیکی</a:t>
            </a:r>
            <a:endParaRPr lang="fa-IR" sz="3600" b="1" dirty="0">
              <a:cs typeface="Titr" panose="000007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sp>
        <p:nvSpPr>
          <p:cNvPr id="11" name="Title 2"/>
          <p:cNvSpPr txBox="1">
            <a:spLocks/>
          </p:cNvSpPr>
          <p:nvPr/>
        </p:nvSpPr>
        <p:spPr bwMode="auto">
          <a:xfrm>
            <a:off x="735808" y="559859"/>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defRPr>
            </a:lvl2pPr>
            <a:lvl3pPr algn="ctr" rtl="0" fontAlgn="base">
              <a:spcBef>
                <a:spcPct val="0"/>
              </a:spcBef>
              <a:spcAft>
                <a:spcPct val="0"/>
              </a:spcAft>
              <a:defRPr sz="4400">
                <a:solidFill>
                  <a:schemeClr val="tx2"/>
                </a:solidFill>
                <a:latin typeface="Arial" pitchFamily="34" charset="0"/>
              </a:defRPr>
            </a:lvl3pPr>
            <a:lvl4pPr algn="ctr" rtl="0" fontAlgn="base">
              <a:spcBef>
                <a:spcPct val="0"/>
              </a:spcBef>
              <a:spcAft>
                <a:spcPct val="0"/>
              </a:spcAft>
              <a:defRPr sz="4400">
                <a:solidFill>
                  <a:schemeClr val="tx2"/>
                </a:solidFill>
                <a:latin typeface="Arial" pitchFamily="34" charset="0"/>
              </a:defRPr>
            </a:lvl4pPr>
            <a:lvl5pPr algn="ctr" rtl="0" fontAlgn="base">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algn="r" rtl="1"/>
            <a:r>
              <a:rPr lang="fa-IR" sz="2400" b="1" kern="0" dirty="0" smtClean="0">
                <a:cs typeface="Titr" panose="00000700000000000000" pitchFamily="2" charset="-78"/>
              </a:rPr>
              <a:t>1- پاسخدهی گذرا</a:t>
            </a:r>
            <a:endParaRPr lang="fa-IR" sz="3200" b="1" kern="0" dirty="0">
              <a:cs typeface="Titr" panose="00000700000000000000" pitchFamily="2" charset="-78"/>
            </a:endParaRPr>
          </a:p>
        </p:txBody>
      </p:sp>
      <p:sp>
        <p:nvSpPr>
          <p:cNvPr id="2" name="Rectangle 1"/>
          <p:cNvSpPr/>
          <p:nvPr/>
        </p:nvSpPr>
        <p:spPr>
          <a:xfrm>
            <a:off x="186516" y="1382654"/>
            <a:ext cx="8723712" cy="1938992"/>
          </a:xfrm>
          <a:prstGeom prst="rect">
            <a:avLst/>
          </a:prstGeom>
        </p:spPr>
        <p:txBody>
          <a:bodyPr wrap="square">
            <a:spAutoFit/>
          </a:bodyPr>
          <a:lstStyle/>
          <a:p>
            <a:pPr algn="just"/>
            <a:r>
              <a:rPr lang="en-US" sz="2400" dirty="0"/>
              <a:t>In transient response analysis the system dynamics are characterized in terms of the response to a simple signal. The particular signal is often chosen so that it is easy to generate experimentally. Typical examples are </a:t>
            </a:r>
            <a:r>
              <a:rPr lang="en-US" sz="2400" b="1" dirty="0"/>
              <a:t>steps</a:t>
            </a:r>
            <a:r>
              <a:rPr lang="en-US" sz="2400" dirty="0"/>
              <a:t>, </a:t>
            </a:r>
            <a:r>
              <a:rPr lang="en-US" sz="2400" b="1" dirty="0"/>
              <a:t>pulses</a:t>
            </a:r>
            <a:r>
              <a:rPr lang="en-US" sz="2400" dirty="0"/>
              <a:t>, and </a:t>
            </a:r>
            <a:r>
              <a:rPr lang="en-US" sz="2400" b="1" dirty="0"/>
              <a:t>impulses</a:t>
            </a:r>
            <a:r>
              <a:rPr lang="en-US" sz="2400" dirty="0"/>
              <a:t>.</a:t>
            </a:r>
          </a:p>
        </p:txBody>
      </p:sp>
    </p:spTree>
    <p:extLst>
      <p:ext uri="{BB962C8B-B14F-4D97-AF65-F5344CB8AC3E}">
        <p14:creationId xmlns:p14="http://schemas.microsoft.com/office/powerpoint/2010/main" val="38557178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10</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144463"/>
            <a:ext cx="8229600" cy="1143000"/>
          </a:xfrm>
        </p:spPr>
        <p:txBody>
          <a:bodyPr/>
          <a:lstStyle/>
          <a:p>
            <a:pPr algn="r" rtl="1"/>
            <a:r>
              <a:rPr lang="fa-IR" sz="2800" b="1" dirty="0" smtClean="0">
                <a:cs typeface="Titr" panose="00000700000000000000" pitchFamily="2" charset="-78"/>
              </a:rPr>
              <a:t>مدلسازی فرآیند</a:t>
            </a:r>
            <a:r>
              <a:rPr lang="en-US" sz="2800" b="1" dirty="0" smtClean="0">
                <a:cs typeface="Titr" panose="00000700000000000000" pitchFamily="2" charset="-78"/>
              </a:rPr>
              <a:t>- </a:t>
            </a:r>
            <a:r>
              <a:rPr lang="fa-IR" sz="2800" b="1" dirty="0" smtClean="0">
                <a:cs typeface="Titr" panose="00000700000000000000" pitchFamily="2" charset="-78"/>
              </a:rPr>
              <a:t> مدل سازی دینامیکی</a:t>
            </a:r>
            <a:endParaRPr lang="fa-IR" sz="3600" b="1" dirty="0">
              <a:cs typeface="Titr" panose="000007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sp>
        <p:nvSpPr>
          <p:cNvPr id="11" name="Title 2"/>
          <p:cNvSpPr txBox="1">
            <a:spLocks/>
          </p:cNvSpPr>
          <p:nvPr/>
        </p:nvSpPr>
        <p:spPr bwMode="auto">
          <a:xfrm>
            <a:off x="693738" y="571500"/>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defRPr>
            </a:lvl2pPr>
            <a:lvl3pPr algn="ctr" rtl="0" fontAlgn="base">
              <a:spcBef>
                <a:spcPct val="0"/>
              </a:spcBef>
              <a:spcAft>
                <a:spcPct val="0"/>
              </a:spcAft>
              <a:defRPr sz="4400">
                <a:solidFill>
                  <a:schemeClr val="tx2"/>
                </a:solidFill>
                <a:latin typeface="Arial" pitchFamily="34" charset="0"/>
              </a:defRPr>
            </a:lvl3pPr>
            <a:lvl4pPr algn="ctr" rtl="0" fontAlgn="base">
              <a:spcBef>
                <a:spcPct val="0"/>
              </a:spcBef>
              <a:spcAft>
                <a:spcPct val="0"/>
              </a:spcAft>
              <a:defRPr sz="4400">
                <a:solidFill>
                  <a:schemeClr val="tx2"/>
                </a:solidFill>
                <a:latin typeface="Arial" pitchFamily="34" charset="0"/>
              </a:defRPr>
            </a:lvl4pPr>
            <a:lvl5pPr algn="ctr" rtl="0" fontAlgn="base">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algn="r" rtl="1"/>
            <a:r>
              <a:rPr lang="fa-IR" sz="2400" b="1" kern="0" dirty="0" smtClean="0">
                <a:cs typeface="Titr" panose="00000700000000000000" pitchFamily="2" charset="-78"/>
              </a:rPr>
              <a:t>2- پاسخدهی فرکانسی</a:t>
            </a:r>
            <a:endParaRPr lang="fa-IR" sz="3200" b="1" kern="0" dirty="0">
              <a:cs typeface="Titr" panose="00000700000000000000" pitchFamily="2" charset="-78"/>
            </a:endParaRPr>
          </a:p>
        </p:txBody>
      </p:sp>
      <p:sp>
        <p:nvSpPr>
          <p:cNvPr id="2" name="Rectangle 1"/>
          <p:cNvSpPr/>
          <p:nvPr/>
        </p:nvSpPr>
        <p:spPr>
          <a:xfrm>
            <a:off x="280915" y="1332441"/>
            <a:ext cx="8395541" cy="1323439"/>
          </a:xfrm>
          <a:prstGeom prst="rect">
            <a:avLst/>
          </a:prstGeom>
        </p:spPr>
        <p:txBody>
          <a:bodyPr wrap="square">
            <a:spAutoFit/>
          </a:bodyPr>
          <a:lstStyle/>
          <a:p>
            <a:pPr algn="just"/>
            <a:r>
              <a:rPr lang="en-US" sz="2000" dirty="0"/>
              <a:t>Another way to characterize the dynamics of a linear time-invariant system is to use sine waves as a test signal. This idea goes back to Fourier. The idea is that the dynamics can be characterized by investigating how sine waves propagate through a system.</a:t>
            </a:r>
          </a:p>
        </p:txBody>
      </p:sp>
      <p:pic>
        <p:nvPicPr>
          <p:cNvPr id="3" name="Picture 2"/>
          <p:cNvPicPr>
            <a:picLocks noChangeAspect="1"/>
          </p:cNvPicPr>
          <p:nvPr/>
        </p:nvPicPr>
        <p:blipFill rotWithShape="1">
          <a:blip r:embed="rId3"/>
          <a:srcRect l="23798" t="23288" r="20668" b="24406"/>
          <a:stretch/>
        </p:blipFill>
        <p:spPr>
          <a:xfrm>
            <a:off x="1208794" y="2780928"/>
            <a:ext cx="6478908" cy="3430839"/>
          </a:xfrm>
          <a:prstGeom prst="rect">
            <a:avLst/>
          </a:prstGeom>
        </p:spPr>
      </p:pic>
    </p:spTree>
    <p:extLst>
      <p:ext uri="{BB962C8B-B14F-4D97-AF65-F5344CB8AC3E}">
        <p14:creationId xmlns:p14="http://schemas.microsoft.com/office/powerpoint/2010/main" val="39486321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11</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144463"/>
            <a:ext cx="8229600" cy="1143000"/>
          </a:xfrm>
        </p:spPr>
        <p:txBody>
          <a:bodyPr/>
          <a:lstStyle/>
          <a:p>
            <a:pPr algn="r" rtl="1"/>
            <a:r>
              <a:rPr lang="fa-IR" sz="2800" b="1" dirty="0" smtClean="0">
                <a:cs typeface="Titr" panose="00000700000000000000" pitchFamily="2" charset="-78"/>
              </a:rPr>
              <a:t>مدلسازی فرآیند</a:t>
            </a:r>
            <a:r>
              <a:rPr lang="en-US" sz="2800" b="1" dirty="0" smtClean="0">
                <a:cs typeface="Titr" panose="00000700000000000000" pitchFamily="2" charset="-78"/>
              </a:rPr>
              <a:t>- </a:t>
            </a:r>
            <a:r>
              <a:rPr lang="fa-IR" sz="2800" b="1" dirty="0" smtClean="0">
                <a:cs typeface="Titr" panose="00000700000000000000" pitchFamily="2" charset="-78"/>
              </a:rPr>
              <a:t> پاسخ پله</a:t>
            </a:r>
            <a:endParaRPr lang="fa-IR" sz="3600" b="1" dirty="0">
              <a:cs typeface="Titr" panose="000007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sp>
        <p:nvSpPr>
          <p:cNvPr id="11" name="Title 2"/>
          <p:cNvSpPr txBox="1">
            <a:spLocks/>
          </p:cNvSpPr>
          <p:nvPr/>
        </p:nvSpPr>
        <p:spPr bwMode="auto">
          <a:xfrm>
            <a:off x="693738" y="571500"/>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defRPr>
            </a:lvl2pPr>
            <a:lvl3pPr algn="ctr" rtl="0" fontAlgn="base">
              <a:spcBef>
                <a:spcPct val="0"/>
              </a:spcBef>
              <a:spcAft>
                <a:spcPct val="0"/>
              </a:spcAft>
              <a:defRPr sz="4400">
                <a:solidFill>
                  <a:schemeClr val="tx2"/>
                </a:solidFill>
                <a:latin typeface="Arial" pitchFamily="34" charset="0"/>
              </a:defRPr>
            </a:lvl3pPr>
            <a:lvl4pPr algn="ctr" rtl="0" fontAlgn="base">
              <a:spcBef>
                <a:spcPct val="0"/>
              </a:spcBef>
              <a:spcAft>
                <a:spcPct val="0"/>
              </a:spcAft>
              <a:defRPr sz="4400">
                <a:solidFill>
                  <a:schemeClr val="tx2"/>
                </a:solidFill>
                <a:latin typeface="Arial" pitchFamily="34" charset="0"/>
              </a:defRPr>
            </a:lvl4pPr>
            <a:lvl5pPr algn="ctr" rtl="0" fontAlgn="base">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algn="r" rtl="1"/>
            <a:r>
              <a:rPr lang="fa-IR" sz="2400" b="1" kern="0" dirty="0" smtClean="0">
                <a:cs typeface="Titr" panose="00000700000000000000" pitchFamily="2" charset="-78"/>
              </a:rPr>
              <a:t>پاسخ مدار باز پله (حالتهای</a:t>
            </a:r>
            <a:r>
              <a:rPr lang="en-US" sz="2400" b="1" kern="0" dirty="0" smtClean="0">
                <a:cs typeface="Titr" panose="00000700000000000000" pitchFamily="2" charset="-78"/>
              </a:rPr>
              <a:t> </a:t>
            </a:r>
            <a:r>
              <a:rPr lang="en-US" sz="2400" b="1" kern="0" dirty="0">
                <a:cs typeface="Titr" panose="00000700000000000000" pitchFamily="2" charset="-78"/>
              </a:rPr>
              <a:t>A</a:t>
            </a:r>
            <a:r>
              <a:rPr lang="en-US" sz="2400" b="1" kern="0" dirty="0" smtClean="0">
                <a:cs typeface="Titr" panose="00000700000000000000" pitchFamily="2" charset="-78"/>
              </a:rPr>
              <a:t> </a:t>
            </a:r>
            <a:r>
              <a:rPr lang="fa-IR" sz="2400" b="1" kern="0" dirty="0" smtClean="0">
                <a:cs typeface="Titr" panose="00000700000000000000" pitchFamily="2" charset="-78"/>
              </a:rPr>
              <a:t> تا </a:t>
            </a:r>
            <a:r>
              <a:rPr lang="en-US" sz="2400" b="1" kern="0" dirty="0" smtClean="0">
                <a:cs typeface="Titr" panose="00000700000000000000" pitchFamily="2" charset="-78"/>
              </a:rPr>
              <a:t>F</a:t>
            </a:r>
            <a:r>
              <a:rPr lang="fa-IR" sz="2400" b="1" kern="0" dirty="0" smtClean="0">
                <a:cs typeface="Titr" panose="00000700000000000000" pitchFamily="2" charset="-78"/>
              </a:rPr>
              <a:t>)</a:t>
            </a:r>
            <a:r>
              <a:rPr lang="en-US" sz="2400" b="1" kern="0" dirty="0" smtClean="0">
                <a:cs typeface="Titr" panose="00000700000000000000" pitchFamily="2" charset="-78"/>
              </a:rPr>
              <a:t> </a:t>
            </a:r>
            <a:r>
              <a:rPr lang="fa-IR" sz="2400" b="1" kern="0" dirty="0" smtClean="0">
                <a:cs typeface="Titr" panose="00000700000000000000" pitchFamily="2" charset="-78"/>
              </a:rPr>
              <a:t>:</a:t>
            </a:r>
            <a:endParaRPr lang="fa-IR" sz="3200" b="1" kern="0" dirty="0">
              <a:cs typeface="Titr" panose="00000700000000000000" pitchFamily="2" charset="-78"/>
            </a:endParaRPr>
          </a:p>
        </p:txBody>
      </p:sp>
      <p:pic>
        <p:nvPicPr>
          <p:cNvPr id="4" name="Picture 3"/>
          <p:cNvPicPr>
            <a:picLocks noChangeAspect="1"/>
          </p:cNvPicPr>
          <p:nvPr/>
        </p:nvPicPr>
        <p:blipFill rotWithShape="1">
          <a:blip r:embed="rId3"/>
          <a:srcRect l="25649" t="20469" r="23989" b="37957"/>
          <a:stretch/>
        </p:blipFill>
        <p:spPr>
          <a:xfrm>
            <a:off x="827584" y="1395933"/>
            <a:ext cx="6840760" cy="3174858"/>
          </a:xfrm>
          <a:prstGeom prst="rect">
            <a:avLst/>
          </a:prstGeom>
        </p:spPr>
      </p:pic>
      <p:sp>
        <p:nvSpPr>
          <p:cNvPr id="6" name="Rectangle 5"/>
          <p:cNvSpPr/>
          <p:nvPr/>
        </p:nvSpPr>
        <p:spPr>
          <a:xfrm>
            <a:off x="841276" y="5039171"/>
            <a:ext cx="7200800" cy="923330"/>
          </a:xfrm>
          <a:prstGeom prst="rect">
            <a:avLst/>
          </a:prstGeom>
        </p:spPr>
        <p:txBody>
          <a:bodyPr wrap="square">
            <a:spAutoFit/>
          </a:bodyPr>
          <a:lstStyle/>
          <a:p>
            <a:r>
              <a:rPr lang="en-US" dirty="0" smtClean="0"/>
              <a:t>The systems </a:t>
            </a:r>
            <a:r>
              <a:rPr lang="en-US" dirty="0"/>
              <a:t>in </a:t>
            </a:r>
            <a:r>
              <a:rPr lang="en-US" dirty="0" smtClean="0"/>
              <a:t>A </a:t>
            </a:r>
            <a:r>
              <a:rPr lang="en-US" dirty="0"/>
              <a:t>and B are stable, whereas the systems shown in </a:t>
            </a:r>
            <a:r>
              <a:rPr lang="en-US" dirty="0" smtClean="0"/>
              <a:t>C and D </a:t>
            </a:r>
            <a:r>
              <a:rPr lang="en-US" dirty="0"/>
              <a:t>are unstable. The system in </a:t>
            </a:r>
            <a:r>
              <a:rPr lang="en-US" dirty="0" smtClean="0"/>
              <a:t>C </a:t>
            </a:r>
            <a:r>
              <a:rPr lang="en-US" dirty="0"/>
              <a:t>shows the output of an integrating process.</a:t>
            </a:r>
          </a:p>
        </p:txBody>
      </p:sp>
    </p:spTree>
    <p:extLst>
      <p:ext uri="{BB962C8B-B14F-4D97-AF65-F5344CB8AC3E}">
        <p14:creationId xmlns:p14="http://schemas.microsoft.com/office/powerpoint/2010/main" val="26517428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12</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144463"/>
            <a:ext cx="8229600" cy="1143000"/>
          </a:xfrm>
        </p:spPr>
        <p:txBody>
          <a:bodyPr/>
          <a:lstStyle/>
          <a:p>
            <a:pPr algn="r" rtl="1"/>
            <a:r>
              <a:rPr lang="fa-IR" sz="2800" b="1" dirty="0" smtClean="0">
                <a:cs typeface="Titr" panose="00000700000000000000" pitchFamily="2" charset="-78"/>
              </a:rPr>
              <a:t>مدلسازی فرآیند</a:t>
            </a:r>
            <a:r>
              <a:rPr lang="en-US" sz="2800" b="1" dirty="0" smtClean="0">
                <a:cs typeface="Titr" panose="00000700000000000000" pitchFamily="2" charset="-78"/>
              </a:rPr>
              <a:t>- </a:t>
            </a:r>
            <a:r>
              <a:rPr lang="fa-IR" sz="2800" b="1" dirty="0" smtClean="0">
                <a:cs typeface="Titr" panose="00000700000000000000" pitchFamily="2" charset="-78"/>
              </a:rPr>
              <a:t> پاسخ پله</a:t>
            </a:r>
            <a:endParaRPr lang="fa-IR" sz="3600" b="1" dirty="0">
              <a:cs typeface="Titr" panose="000007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sp>
        <p:nvSpPr>
          <p:cNvPr id="11" name="Title 2"/>
          <p:cNvSpPr txBox="1">
            <a:spLocks/>
          </p:cNvSpPr>
          <p:nvPr/>
        </p:nvSpPr>
        <p:spPr bwMode="auto">
          <a:xfrm>
            <a:off x="693738" y="571500"/>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defRPr>
            </a:lvl2pPr>
            <a:lvl3pPr algn="ctr" rtl="0" fontAlgn="base">
              <a:spcBef>
                <a:spcPct val="0"/>
              </a:spcBef>
              <a:spcAft>
                <a:spcPct val="0"/>
              </a:spcAft>
              <a:defRPr sz="4400">
                <a:solidFill>
                  <a:schemeClr val="tx2"/>
                </a:solidFill>
                <a:latin typeface="Arial" pitchFamily="34" charset="0"/>
              </a:defRPr>
            </a:lvl3pPr>
            <a:lvl4pPr algn="ctr" rtl="0" fontAlgn="base">
              <a:spcBef>
                <a:spcPct val="0"/>
              </a:spcBef>
              <a:spcAft>
                <a:spcPct val="0"/>
              </a:spcAft>
              <a:defRPr sz="4400">
                <a:solidFill>
                  <a:schemeClr val="tx2"/>
                </a:solidFill>
                <a:latin typeface="Arial" pitchFamily="34" charset="0"/>
              </a:defRPr>
            </a:lvl4pPr>
            <a:lvl5pPr algn="ctr" rtl="0" fontAlgn="base">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algn="r" rtl="1"/>
            <a:r>
              <a:rPr lang="fa-IR" sz="2400" b="1" kern="0" dirty="0" smtClean="0">
                <a:cs typeface="Titr" panose="00000700000000000000" pitchFamily="2" charset="-78"/>
              </a:rPr>
              <a:t>پاسخ مدار باز پله:</a:t>
            </a:r>
            <a:endParaRPr lang="fa-IR" sz="3200" b="1" kern="0" dirty="0">
              <a:cs typeface="Titr" panose="00000700000000000000" pitchFamily="2" charset="-78"/>
            </a:endParaRPr>
          </a:p>
        </p:txBody>
      </p:sp>
      <p:pic>
        <p:nvPicPr>
          <p:cNvPr id="4" name="Picture 3"/>
          <p:cNvPicPr>
            <a:picLocks noChangeAspect="1"/>
          </p:cNvPicPr>
          <p:nvPr/>
        </p:nvPicPr>
        <p:blipFill rotWithShape="1">
          <a:blip r:embed="rId3"/>
          <a:srcRect l="25649" t="61523" r="23989" b="17516"/>
          <a:stretch/>
        </p:blipFill>
        <p:spPr>
          <a:xfrm>
            <a:off x="699418" y="1593701"/>
            <a:ext cx="7582467" cy="1774254"/>
          </a:xfrm>
          <a:prstGeom prst="rect">
            <a:avLst/>
          </a:prstGeom>
        </p:spPr>
      </p:pic>
      <p:sp>
        <p:nvSpPr>
          <p:cNvPr id="2" name="Rectangle 1"/>
          <p:cNvSpPr/>
          <p:nvPr/>
        </p:nvSpPr>
        <p:spPr>
          <a:xfrm>
            <a:off x="539552" y="3727995"/>
            <a:ext cx="8136904" cy="1477328"/>
          </a:xfrm>
          <a:prstGeom prst="rect">
            <a:avLst/>
          </a:prstGeom>
        </p:spPr>
        <p:txBody>
          <a:bodyPr wrap="square">
            <a:spAutoFit/>
          </a:bodyPr>
          <a:lstStyle/>
          <a:p>
            <a:r>
              <a:rPr lang="en-US" dirty="0"/>
              <a:t>The system in Figure </a:t>
            </a:r>
            <a:r>
              <a:rPr lang="en-US" dirty="0" smtClean="0"/>
              <a:t>E </a:t>
            </a:r>
            <a:r>
              <a:rPr lang="en-US" dirty="0"/>
              <a:t>has a long dead time. The dead time occurs when there are transportation delays in the process. The system in Figure </a:t>
            </a:r>
            <a:r>
              <a:rPr lang="en-US" dirty="0" smtClean="0"/>
              <a:t>F </a:t>
            </a:r>
            <a:r>
              <a:rPr lang="en-US" dirty="0"/>
              <a:t>is a non-minimum phase </a:t>
            </a:r>
            <a:r>
              <a:rPr lang="en-US" dirty="0" smtClean="0"/>
              <a:t>system</a:t>
            </a:r>
            <a:r>
              <a:rPr lang="en-US" dirty="0"/>
              <a:t>, where the measurement signal initially moves in the “wrong” direction. The water level in boilers often reacts like this after a step change in feed water flow.</a:t>
            </a:r>
          </a:p>
        </p:txBody>
      </p:sp>
    </p:spTree>
    <p:extLst>
      <p:ext uri="{BB962C8B-B14F-4D97-AF65-F5344CB8AC3E}">
        <p14:creationId xmlns:p14="http://schemas.microsoft.com/office/powerpoint/2010/main" val="3057139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13</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pic>
        <p:nvPicPr>
          <p:cNvPr id="12" name="Picture 11" descr="fig1.png"/>
          <p:cNvPicPr>
            <a:picLocks noChangeAspect="1"/>
          </p:cNvPicPr>
          <p:nvPr/>
        </p:nvPicPr>
        <p:blipFill>
          <a:blip r:embed="rId3" cstate="print"/>
          <a:stretch>
            <a:fillRect/>
          </a:stretch>
        </p:blipFill>
        <p:spPr>
          <a:xfrm>
            <a:off x="312626" y="1696404"/>
            <a:ext cx="8604448" cy="2523216"/>
          </a:xfrm>
          <a:prstGeom prst="rect">
            <a:avLst/>
          </a:prstGeom>
        </p:spPr>
      </p:pic>
      <p:sp>
        <p:nvSpPr>
          <p:cNvPr id="14" name="Title 2"/>
          <p:cNvSpPr txBox="1">
            <a:spLocks/>
          </p:cNvSpPr>
          <p:nvPr/>
        </p:nvSpPr>
        <p:spPr bwMode="auto">
          <a:xfrm>
            <a:off x="1024728" y="67277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r>
              <a:rPr kumimoji="0" lang="fa-IR" sz="2400" b="0" i="0" u="none" strike="noStrike" kern="0" cap="none" spc="0" normalizeH="0" baseline="0" noProof="0" dirty="0" smtClean="0">
                <a:ln>
                  <a:noFill/>
                </a:ln>
                <a:solidFill>
                  <a:schemeClr val="tx2"/>
                </a:solidFill>
                <a:effectLst/>
                <a:uLnTx/>
                <a:uFillTx/>
                <a:latin typeface="+mj-lt"/>
                <a:ea typeface="+mj-ea"/>
                <a:cs typeface="B Nazanin" panose="00000400000000000000" pitchFamily="2" charset="-78"/>
              </a:rPr>
              <a:t> اهمیت پاسخ پله و پاسخ ضربه در مدلسازی</a:t>
            </a:r>
            <a:r>
              <a:rPr kumimoji="0" lang="fa-IR" sz="2400" b="0" i="0" u="none" strike="noStrike" kern="0" cap="none" spc="0" normalizeH="0" noProof="0" dirty="0" smtClean="0">
                <a:ln>
                  <a:noFill/>
                </a:ln>
                <a:solidFill>
                  <a:schemeClr val="tx2"/>
                </a:solidFill>
                <a:effectLst/>
                <a:uLnTx/>
                <a:uFillTx/>
                <a:latin typeface="+mj-lt"/>
                <a:ea typeface="+mj-ea"/>
                <a:cs typeface="B Nazanin" panose="00000400000000000000" pitchFamily="2" charset="-78"/>
              </a:rPr>
              <a:t> فرآیند</a:t>
            </a:r>
            <a:r>
              <a:rPr kumimoji="0" lang="en-US" sz="2400" b="0" i="0" u="none" strike="noStrike" kern="0" cap="none" spc="0" normalizeH="0" noProof="0" dirty="0" smtClean="0">
                <a:ln>
                  <a:noFill/>
                </a:ln>
                <a:solidFill>
                  <a:schemeClr val="tx2"/>
                </a:solidFill>
                <a:effectLst/>
                <a:uLnTx/>
                <a:uFillTx/>
                <a:latin typeface="+mj-lt"/>
                <a:ea typeface="+mj-ea"/>
                <a:cs typeface="B Nazanin" panose="00000400000000000000" pitchFamily="2" charset="-78"/>
              </a:rPr>
              <a:t> </a:t>
            </a:r>
            <a:r>
              <a:rPr kumimoji="0" lang="fa-IR" sz="2400" b="0" i="0" u="none" strike="noStrike" kern="0" cap="none" spc="0" normalizeH="0" noProof="0" dirty="0" smtClean="0">
                <a:ln>
                  <a:noFill/>
                </a:ln>
                <a:solidFill>
                  <a:schemeClr val="tx2"/>
                </a:solidFill>
                <a:effectLst/>
                <a:uLnTx/>
                <a:uFillTx/>
                <a:latin typeface="+mj-lt"/>
                <a:ea typeface="+mj-ea"/>
                <a:cs typeface="B Nazanin" panose="00000400000000000000" pitchFamily="2" charset="-78"/>
              </a:rPr>
              <a:t>در سیستمهای </a:t>
            </a:r>
            <a:r>
              <a:rPr kumimoji="0" lang="en-US" sz="2000" b="1" i="0" u="none" strike="noStrike" kern="0" cap="none" spc="0" normalizeH="0" noProof="0" dirty="0" smtClean="0">
                <a:ln>
                  <a:noFill/>
                </a:ln>
                <a:solidFill>
                  <a:schemeClr val="tx2"/>
                </a:solidFill>
                <a:effectLst/>
                <a:uLnTx/>
                <a:uFillTx/>
                <a:latin typeface="Times New Roman" pitchFamily="18" charset="0"/>
                <a:ea typeface="+mj-ea"/>
                <a:cs typeface="Times New Roman" pitchFamily="18" charset="0"/>
              </a:rPr>
              <a:t>LTI</a:t>
            </a:r>
            <a:r>
              <a:rPr kumimoji="0" lang="fa-IR" sz="2400" b="0" i="0" u="none" strike="noStrike" kern="0" cap="none" spc="0" normalizeH="0" noProof="0" dirty="0" smtClean="0">
                <a:ln>
                  <a:noFill/>
                </a:ln>
                <a:solidFill>
                  <a:schemeClr val="tx2"/>
                </a:solidFill>
                <a:effectLst/>
                <a:uLnTx/>
                <a:uFillTx/>
                <a:latin typeface="+mj-lt"/>
                <a:ea typeface="+mj-ea"/>
                <a:cs typeface="B Nazanin" panose="00000400000000000000" pitchFamily="2" charset="-78"/>
              </a:rPr>
              <a:t>:</a:t>
            </a:r>
            <a:endParaRPr kumimoji="0" lang="fa-IR" sz="32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sp>
        <p:nvSpPr>
          <p:cNvPr id="20" name="Rectangle 19"/>
          <p:cNvSpPr/>
          <p:nvPr/>
        </p:nvSpPr>
        <p:spPr>
          <a:xfrm>
            <a:off x="289781" y="4446138"/>
            <a:ext cx="8280920" cy="954107"/>
          </a:xfrm>
          <a:prstGeom prst="rect">
            <a:avLst/>
          </a:prstGeom>
        </p:spPr>
        <p:txBody>
          <a:bodyPr wrap="square">
            <a:spAutoFit/>
          </a:bodyPr>
          <a:lstStyle/>
          <a:p>
            <a:r>
              <a:rPr lang="en-US" sz="2800" b="1" dirty="0" smtClean="0">
                <a:solidFill>
                  <a:srgbClr val="7030A0"/>
                </a:solidFill>
                <a:latin typeface="Times New Roman" pitchFamily="18" charset="0"/>
                <a:cs typeface="Times New Roman" pitchFamily="18" charset="0"/>
              </a:rPr>
              <a:t>In process control, the step response is the most common transient used for </a:t>
            </a:r>
            <a:r>
              <a:rPr lang="en-US" sz="2800" b="1" u="sng" dirty="0" smtClean="0">
                <a:solidFill>
                  <a:srgbClr val="7030A0"/>
                </a:solidFill>
                <a:latin typeface="Times New Roman" pitchFamily="18" charset="0"/>
                <a:cs typeface="Times New Roman" pitchFamily="18" charset="0"/>
              </a:rPr>
              <a:t>process identification</a:t>
            </a:r>
            <a:r>
              <a:rPr lang="en-US" sz="2800" b="1" dirty="0" smtClean="0">
                <a:solidFill>
                  <a:srgbClr val="7030A0"/>
                </a:solidFill>
                <a:latin typeface="Times New Roman" pitchFamily="18" charset="0"/>
                <a:cs typeface="Times New Roman" pitchFamily="18" charset="0"/>
              </a:rPr>
              <a:t>.</a:t>
            </a:r>
            <a:endParaRPr lang="en-US" sz="2800" b="1" dirty="0">
              <a:solidFill>
                <a:srgbClr val="7030A0"/>
              </a:solidFill>
              <a:latin typeface="Times New Roman" pitchFamily="18" charset="0"/>
              <a:cs typeface="Times New Roman" pitchFamily="18" charset="0"/>
            </a:endParaRPr>
          </a:p>
        </p:txBody>
      </p:sp>
      <p:sp>
        <p:nvSpPr>
          <p:cNvPr id="21" name="Title 2"/>
          <p:cNvSpPr>
            <a:spLocks noGrp="1"/>
          </p:cNvSpPr>
          <p:nvPr>
            <p:ph type="title"/>
          </p:nvPr>
        </p:nvSpPr>
        <p:spPr>
          <a:xfrm>
            <a:off x="693738" y="-144463"/>
            <a:ext cx="8229600" cy="1143000"/>
          </a:xfrm>
        </p:spPr>
        <p:txBody>
          <a:bodyPr/>
          <a:lstStyle/>
          <a:p>
            <a:pPr algn="r" rtl="1"/>
            <a:r>
              <a:rPr lang="fa-IR" sz="2800" b="1" dirty="0" smtClean="0">
                <a:cs typeface="Titr" panose="00000700000000000000" pitchFamily="2" charset="-78"/>
              </a:rPr>
              <a:t>مدلسازی فرآیند</a:t>
            </a:r>
            <a:r>
              <a:rPr lang="en-US" sz="2800" b="1" dirty="0" smtClean="0">
                <a:cs typeface="Titr" panose="00000700000000000000" pitchFamily="2" charset="-78"/>
              </a:rPr>
              <a:t>- </a:t>
            </a:r>
            <a:r>
              <a:rPr lang="fa-IR" sz="2800" b="1" dirty="0" smtClean="0">
                <a:cs typeface="Titr" panose="00000700000000000000" pitchFamily="2" charset="-78"/>
              </a:rPr>
              <a:t> پاسخ پله</a:t>
            </a:r>
            <a:endParaRPr lang="fa-IR" sz="3600" b="1" dirty="0">
              <a:cs typeface="Titr" panose="00000700000000000000" pitchFamily="2" charset="-78"/>
            </a:endParaRPr>
          </a:p>
        </p:txBody>
      </p:sp>
    </p:spTree>
    <p:extLst>
      <p:ext uri="{BB962C8B-B14F-4D97-AF65-F5344CB8AC3E}">
        <p14:creationId xmlns:p14="http://schemas.microsoft.com/office/powerpoint/2010/main" val="202072002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14</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144463"/>
            <a:ext cx="8229600" cy="1143000"/>
          </a:xfrm>
        </p:spPr>
        <p:txBody>
          <a:bodyPr/>
          <a:lstStyle/>
          <a:p>
            <a:pPr algn="r" rtl="1"/>
            <a:r>
              <a:rPr lang="fa-IR" sz="2800" dirty="0" smtClean="0">
                <a:cs typeface="B Nazanin" panose="00000400000000000000" pitchFamily="2" charset="-78"/>
              </a:rPr>
              <a:t>مدل سازی فرآیند</a:t>
            </a:r>
            <a:endParaRPr lang="fa-IR" sz="3600" dirty="0">
              <a:cs typeface="B Nazanin" panose="000004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sp>
        <p:nvSpPr>
          <p:cNvPr id="14" name="Title 2"/>
          <p:cNvSpPr txBox="1">
            <a:spLocks/>
          </p:cNvSpPr>
          <p:nvPr/>
        </p:nvSpPr>
        <p:spPr bwMode="auto">
          <a:xfrm>
            <a:off x="846138" y="1133872"/>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r>
              <a:rPr kumimoji="0" lang="fa-IR" sz="2400" b="0" i="0" u="none" strike="noStrike" kern="0" cap="none" spc="0" normalizeH="0" baseline="0" noProof="0" dirty="0" smtClean="0">
                <a:ln>
                  <a:noFill/>
                </a:ln>
                <a:solidFill>
                  <a:schemeClr val="tx2"/>
                </a:solidFill>
                <a:effectLst/>
                <a:uLnTx/>
                <a:uFillTx/>
                <a:latin typeface="+mj-lt"/>
                <a:ea typeface="+mj-ea"/>
                <a:cs typeface="B Nazanin" panose="00000400000000000000" pitchFamily="2" charset="-78"/>
              </a:rPr>
              <a:t> مدلسازی</a:t>
            </a:r>
            <a:r>
              <a:rPr kumimoji="0" lang="fa-IR" sz="2400" b="0" i="0" u="none" strike="noStrike" kern="0" cap="none" spc="0" normalizeH="0" noProof="0" dirty="0" smtClean="0">
                <a:ln>
                  <a:noFill/>
                </a:ln>
                <a:solidFill>
                  <a:schemeClr val="tx2"/>
                </a:solidFill>
                <a:effectLst/>
                <a:uLnTx/>
                <a:uFillTx/>
                <a:latin typeface="+mj-lt"/>
                <a:ea typeface="+mj-ea"/>
                <a:cs typeface="B Nazanin" panose="00000400000000000000" pitchFamily="2" charset="-78"/>
              </a:rPr>
              <a:t> فرآیند در حوزه لاپلاس:</a:t>
            </a:r>
            <a:endParaRPr kumimoji="0" lang="fa-IR" sz="32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pic>
        <p:nvPicPr>
          <p:cNvPr id="20" name="Picture 19" descr="fig2.png"/>
          <p:cNvPicPr>
            <a:picLocks noChangeAspect="1"/>
          </p:cNvPicPr>
          <p:nvPr/>
        </p:nvPicPr>
        <p:blipFill>
          <a:blip r:embed="rId3" cstate="print"/>
          <a:stretch>
            <a:fillRect/>
          </a:stretch>
        </p:blipFill>
        <p:spPr>
          <a:xfrm>
            <a:off x="827584" y="2060848"/>
            <a:ext cx="7592991" cy="3139771"/>
          </a:xfrm>
          <a:prstGeom prst="rect">
            <a:avLst/>
          </a:prstGeom>
        </p:spPr>
      </p:pic>
      <p:grpSp>
        <p:nvGrpSpPr>
          <p:cNvPr id="21" name="Group 10"/>
          <p:cNvGrpSpPr/>
          <p:nvPr/>
        </p:nvGrpSpPr>
        <p:grpSpPr>
          <a:xfrm>
            <a:off x="1187624" y="836712"/>
            <a:ext cx="3312368" cy="1224136"/>
            <a:chOff x="3887922" y="692696"/>
            <a:chExt cx="3312368" cy="1224136"/>
          </a:xfrm>
        </p:grpSpPr>
        <p:pic>
          <p:nvPicPr>
            <p:cNvPr id="22" name="Picture 2"/>
            <p:cNvPicPr>
              <a:picLocks noChangeAspect="1" noChangeArrowheads="1"/>
            </p:cNvPicPr>
            <p:nvPr/>
          </p:nvPicPr>
          <p:blipFill>
            <a:blip r:embed="rId4" cstate="print"/>
            <a:srcRect l="50270" b="54054"/>
            <a:stretch>
              <a:fillRect/>
            </a:stretch>
          </p:blipFill>
          <p:spPr bwMode="auto">
            <a:xfrm>
              <a:off x="3887922" y="692696"/>
              <a:ext cx="3312368" cy="1224136"/>
            </a:xfrm>
            <a:prstGeom prst="rect">
              <a:avLst/>
            </a:prstGeom>
            <a:noFill/>
            <a:ln w="9525">
              <a:noFill/>
              <a:miter lim="800000"/>
              <a:headEnd/>
              <a:tailEnd/>
            </a:ln>
          </p:spPr>
        </p:pic>
        <p:sp>
          <p:nvSpPr>
            <p:cNvPr id="23" name="Rounded Rectangle 22"/>
            <p:cNvSpPr/>
            <p:nvPr/>
          </p:nvSpPr>
          <p:spPr bwMode="auto">
            <a:xfrm>
              <a:off x="5868144" y="1196752"/>
              <a:ext cx="684074" cy="720080"/>
            </a:xfrm>
            <a:prstGeom prst="roundRect">
              <a:avLst/>
            </a:prstGeom>
            <a:solidFill>
              <a:schemeClr val="bg1"/>
            </a:solidFill>
            <a:ln w="25400" cap="flat" cmpd="sng" algn="ctr">
              <a:no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grpSp>
      <p:pic>
        <p:nvPicPr>
          <p:cNvPr id="24" name="Picture 23" descr="fig3.png"/>
          <p:cNvPicPr>
            <a:picLocks noChangeAspect="1"/>
          </p:cNvPicPr>
          <p:nvPr/>
        </p:nvPicPr>
        <p:blipFill>
          <a:blip r:embed="rId5" cstate="print"/>
          <a:stretch>
            <a:fillRect/>
          </a:stretch>
        </p:blipFill>
        <p:spPr>
          <a:xfrm>
            <a:off x="827584" y="5297287"/>
            <a:ext cx="7507832" cy="940025"/>
          </a:xfrm>
          <a:prstGeom prst="rect">
            <a:avLst/>
          </a:prstGeom>
        </p:spPr>
      </p:pic>
    </p:spTree>
    <p:extLst>
      <p:ext uri="{BB962C8B-B14F-4D97-AF65-F5344CB8AC3E}">
        <p14:creationId xmlns:p14="http://schemas.microsoft.com/office/powerpoint/2010/main" val="202072002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15</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144463"/>
            <a:ext cx="8229600" cy="1143000"/>
          </a:xfrm>
        </p:spPr>
        <p:txBody>
          <a:bodyPr/>
          <a:lstStyle/>
          <a:p>
            <a:pPr algn="r" rtl="1"/>
            <a:r>
              <a:rPr lang="fa-IR" sz="2800" dirty="0" smtClean="0">
                <a:cs typeface="B Nazanin" panose="00000400000000000000" pitchFamily="2" charset="-78"/>
              </a:rPr>
              <a:t>مدل سازی فرآیند</a:t>
            </a:r>
            <a:endParaRPr lang="fa-IR" sz="3600" dirty="0">
              <a:cs typeface="B Nazanin" panose="000004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sp>
        <p:nvSpPr>
          <p:cNvPr id="14" name="Title 2"/>
          <p:cNvSpPr txBox="1">
            <a:spLocks/>
          </p:cNvSpPr>
          <p:nvPr/>
        </p:nvSpPr>
        <p:spPr bwMode="auto">
          <a:xfrm>
            <a:off x="846138" y="1133872"/>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r>
              <a:rPr kumimoji="0" lang="fa-IR" sz="2400" b="0" i="0" u="none" strike="noStrike" kern="0" cap="none" spc="0" normalizeH="0" baseline="0" noProof="0" dirty="0" smtClean="0">
                <a:ln>
                  <a:noFill/>
                </a:ln>
                <a:solidFill>
                  <a:schemeClr val="tx2"/>
                </a:solidFill>
                <a:effectLst/>
                <a:uLnTx/>
                <a:uFillTx/>
                <a:latin typeface="+mj-lt"/>
                <a:ea typeface="+mj-ea"/>
                <a:cs typeface="B Nazanin" panose="00000400000000000000" pitchFamily="2" charset="-78"/>
              </a:rPr>
              <a:t>پاسخ</a:t>
            </a:r>
            <a:r>
              <a:rPr kumimoji="0" lang="fa-IR" sz="2400" b="0" i="0" u="none" strike="noStrike" kern="0" cap="none" spc="0" normalizeH="0" noProof="0" dirty="0" smtClean="0">
                <a:ln>
                  <a:noFill/>
                </a:ln>
                <a:solidFill>
                  <a:schemeClr val="tx2"/>
                </a:solidFill>
                <a:effectLst/>
                <a:uLnTx/>
                <a:uFillTx/>
                <a:latin typeface="+mj-lt"/>
                <a:ea typeface="+mj-ea"/>
                <a:cs typeface="B Nazanin" panose="00000400000000000000" pitchFamily="2" charset="-78"/>
              </a:rPr>
              <a:t> دینامیکی فرآیند:</a:t>
            </a:r>
            <a:endParaRPr kumimoji="0" lang="fa-IR" sz="32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grpSp>
        <p:nvGrpSpPr>
          <p:cNvPr id="2" name="Group 10"/>
          <p:cNvGrpSpPr/>
          <p:nvPr/>
        </p:nvGrpSpPr>
        <p:grpSpPr>
          <a:xfrm>
            <a:off x="1187624" y="836712"/>
            <a:ext cx="3312368" cy="1224136"/>
            <a:chOff x="3887922" y="692696"/>
            <a:chExt cx="3312368" cy="1224136"/>
          </a:xfrm>
        </p:grpSpPr>
        <p:pic>
          <p:nvPicPr>
            <p:cNvPr id="22" name="Picture 2"/>
            <p:cNvPicPr>
              <a:picLocks noChangeAspect="1" noChangeArrowheads="1"/>
            </p:cNvPicPr>
            <p:nvPr/>
          </p:nvPicPr>
          <p:blipFill>
            <a:blip r:embed="rId3" cstate="print"/>
            <a:srcRect l="50270" b="54054"/>
            <a:stretch>
              <a:fillRect/>
            </a:stretch>
          </p:blipFill>
          <p:spPr bwMode="auto">
            <a:xfrm>
              <a:off x="3887922" y="692696"/>
              <a:ext cx="3312368" cy="1224136"/>
            </a:xfrm>
            <a:prstGeom prst="rect">
              <a:avLst/>
            </a:prstGeom>
            <a:noFill/>
            <a:ln w="9525">
              <a:noFill/>
              <a:miter lim="800000"/>
              <a:headEnd/>
              <a:tailEnd/>
            </a:ln>
          </p:spPr>
        </p:pic>
        <p:sp>
          <p:nvSpPr>
            <p:cNvPr id="23" name="Rounded Rectangle 22"/>
            <p:cNvSpPr/>
            <p:nvPr/>
          </p:nvSpPr>
          <p:spPr bwMode="auto">
            <a:xfrm>
              <a:off x="5868144" y="1196752"/>
              <a:ext cx="684074" cy="720080"/>
            </a:xfrm>
            <a:prstGeom prst="roundRect">
              <a:avLst/>
            </a:prstGeom>
            <a:solidFill>
              <a:schemeClr val="bg1"/>
            </a:solidFill>
            <a:ln w="25400" cap="flat" cmpd="sng" algn="ctr">
              <a:no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grpSp>
      <p:pic>
        <p:nvPicPr>
          <p:cNvPr id="21" name="Picture 20" descr="fig4.png"/>
          <p:cNvPicPr>
            <a:picLocks noChangeAspect="1"/>
          </p:cNvPicPr>
          <p:nvPr/>
        </p:nvPicPr>
        <p:blipFill>
          <a:blip r:embed="rId4" cstate="print"/>
          <a:stretch>
            <a:fillRect/>
          </a:stretch>
        </p:blipFill>
        <p:spPr>
          <a:xfrm>
            <a:off x="467544" y="2060848"/>
            <a:ext cx="8531094" cy="1307071"/>
          </a:xfrm>
          <a:prstGeom prst="rect">
            <a:avLst/>
          </a:prstGeom>
        </p:spPr>
      </p:pic>
      <p:pic>
        <p:nvPicPr>
          <p:cNvPr id="25" name="Picture 24" descr="fig5.png"/>
          <p:cNvPicPr>
            <a:picLocks noChangeAspect="1"/>
          </p:cNvPicPr>
          <p:nvPr/>
        </p:nvPicPr>
        <p:blipFill>
          <a:blip r:embed="rId5" cstate="print"/>
          <a:stretch>
            <a:fillRect/>
          </a:stretch>
        </p:blipFill>
        <p:spPr>
          <a:xfrm>
            <a:off x="424564" y="3356992"/>
            <a:ext cx="8596300" cy="1800200"/>
          </a:xfrm>
          <a:prstGeom prst="rect">
            <a:avLst/>
          </a:prstGeom>
        </p:spPr>
      </p:pic>
    </p:spTree>
    <p:extLst>
      <p:ext uri="{BB962C8B-B14F-4D97-AF65-F5344CB8AC3E}">
        <p14:creationId xmlns:p14="http://schemas.microsoft.com/office/powerpoint/2010/main" val="20207200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16</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144463"/>
            <a:ext cx="8229600" cy="1143000"/>
          </a:xfrm>
        </p:spPr>
        <p:txBody>
          <a:bodyPr/>
          <a:lstStyle/>
          <a:p>
            <a:pPr algn="r" rtl="1"/>
            <a:r>
              <a:rPr lang="fa-IR" sz="2800" dirty="0" smtClean="0">
                <a:cs typeface="B Nazanin" panose="00000400000000000000" pitchFamily="2" charset="-78"/>
              </a:rPr>
              <a:t>مدل سازی فرآیند</a:t>
            </a:r>
            <a:endParaRPr lang="fa-IR" sz="3600" dirty="0">
              <a:cs typeface="B Nazanin" panose="000004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sp>
        <p:nvSpPr>
          <p:cNvPr id="14" name="Title 2"/>
          <p:cNvSpPr txBox="1">
            <a:spLocks/>
          </p:cNvSpPr>
          <p:nvPr/>
        </p:nvSpPr>
        <p:spPr bwMode="auto">
          <a:xfrm>
            <a:off x="846138" y="404664"/>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r>
              <a:rPr kumimoji="0" lang="fa-IR" sz="2400" b="0" i="0" u="none" strike="noStrike" kern="0" cap="none" spc="0" normalizeH="0" baseline="0" noProof="0" dirty="0" smtClean="0">
                <a:ln>
                  <a:noFill/>
                </a:ln>
                <a:solidFill>
                  <a:schemeClr val="tx2"/>
                </a:solidFill>
                <a:effectLst/>
                <a:uLnTx/>
                <a:uFillTx/>
                <a:latin typeface="+mj-lt"/>
                <a:ea typeface="+mj-ea"/>
                <a:cs typeface="B Nazanin" panose="00000400000000000000" pitchFamily="2" charset="-78"/>
              </a:rPr>
              <a:t>مثالهایی پاسخ</a:t>
            </a:r>
            <a:r>
              <a:rPr kumimoji="0" lang="fa-IR" sz="2400" b="0" i="0" u="none" strike="noStrike" kern="0" cap="none" spc="0" normalizeH="0" noProof="0" dirty="0" smtClean="0">
                <a:ln>
                  <a:noFill/>
                </a:ln>
                <a:solidFill>
                  <a:schemeClr val="tx2"/>
                </a:solidFill>
                <a:effectLst/>
                <a:uLnTx/>
                <a:uFillTx/>
                <a:latin typeface="+mj-lt"/>
                <a:ea typeface="+mj-ea"/>
                <a:cs typeface="B Nazanin" panose="00000400000000000000" pitchFamily="2" charset="-78"/>
              </a:rPr>
              <a:t> پله فرآیند:</a:t>
            </a:r>
            <a:endParaRPr kumimoji="0" lang="fa-IR" sz="32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pic>
        <p:nvPicPr>
          <p:cNvPr id="20" name="Picture 19" descr="fig6.png"/>
          <p:cNvPicPr>
            <a:picLocks noChangeAspect="1"/>
          </p:cNvPicPr>
          <p:nvPr/>
        </p:nvPicPr>
        <p:blipFill>
          <a:blip r:embed="rId3" cstate="print"/>
          <a:stretch>
            <a:fillRect/>
          </a:stretch>
        </p:blipFill>
        <p:spPr>
          <a:xfrm>
            <a:off x="1115616" y="1196752"/>
            <a:ext cx="6480720" cy="5081847"/>
          </a:xfrm>
          <a:prstGeom prst="rect">
            <a:avLst/>
          </a:prstGeom>
        </p:spPr>
      </p:pic>
    </p:spTree>
    <p:extLst>
      <p:ext uri="{BB962C8B-B14F-4D97-AF65-F5344CB8AC3E}">
        <p14:creationId xmlns:p14="http://schemas.microsoft.com/office/powerpoint/2010/main" val="202072002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17</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144463"/>
            <a:ext cx="8229600" cy="1143000"/>
          </a:xfrm>
        </p:spPr>
        <p:txBody>
          <a:bodyPr/>
          <a:lstStyle/>
          <a:p>
            <a:pPr algn="r" rtl="1"/>
            <a:r>
              <a:rPr lang="fa-IR" sz="2800" dirty="0" smtClean="0">
                <a:cs typeface="B Nazanin" panose="00000400000000000000" pitchFamily="2" charset="-78"/>
              </a:rPr>
              <a:t>مدل سازی فرآیند</a:t>
            </a:r>
            <a:endParaRPr lang="fa-IR" sz="3600" dirty="0">
              <a:cs typeface="B Nazanin" panose="000004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sp>
        <p:nvSpPr>
          <p:cNvPr id="14" name="Title 2"/>
          <p:cNvSpPr txBox="1">
            <a:spLocks/>
          </p:cNvSpPr>
          <p:nvPr/>
        </p:nvSpPr>
        <p:spPr bwMode="auto">
          <a:xfrm>
            <a:off x="846138" y="404664"/>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r>
              <a:rPr kumimoji="0" lang="fa-IR" sz="2400" b="0" i="0" u="none" strike="noStrike" kern="0" cap="none" spc="0" normalizeH="0" baseline="0" noProof="0" dirty="0" smtClean="0">
                <a:ln>
                  <a:noFill/>
                </a:ln>
                <a:solidFill>
                  <a:schemeClr val="tx2"/>
                </a:solidFill>
                <a:effectLst/>
                <a:uLnTx/>
                <a:uFillTx/>
                <a:latin typeface="+mj-lt"/>
                <a:ea typeface="+mj-ea"/>
                <a:cs typeface="B Nazanin" panose="00000400000000000000" pitchFamily="2" charset="-78"/>
              </a:rPr>
              <a:t>بررسی پاسخ پله فرآیند در متداول ترین حالت:</a:t>
            </a:r>
            <a:endParaRPr kumimoji="0" lang="fa-IR" sz="32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pic>
        <p:nvPicPr>
          <p:cNvPr id="20" name="Picture 19" descr="fig6.png"/>
          <p:cNvPicPr>
            <a:picLocks noChangeAspect="1"/>
          </p:cNvPicPr>
          <p:nvPr/>
        </p:nvPicPr>
        <p:blipFill>
          <a:blip r:embed="rId3" cstate="print"/>
          <a:srcRect r="50000" b="68827"/>
          <a:stretch>
            <a:fillRect/>
          </a:stretch>
        </p:blipFill>
        <p:spPr>
          <a:xfrm>
            <a:off x="827584" y="836712"/>
            <a:ext cx="3240360" cy="1584176"/>
          </a:xfrm>
          <a:prstGeom prst="rect">
            <a:avLst/>
          </a:prstGeom>
        </p:spPr>
      </p:pic>
      <p:pic>
        <p:nvPicPr>
          <p:cNvPr id="11" name="Picture 10" descr="fig7.png"/>
          <p:cNvPicPr>
            <a:picLocks noChangeAspect="1"/>
          </p:cNvPicPr>
          <p:nvPr/>
        </p:nvPicPr>
        <p:blipFill>
          <a:blip r:embed="rId4" cstate="print"/>
          <a:stretch>
            <a:fillRect/>
          </a:stretch>
        </p:blipFill>
        <p:spPr>
          <a:xfrm>
            <a:off x="395536" y="2678074"/>
            <a:ext cx="8387528" cy="1903053"/>
          </a:xfrm>
          <a:prstGeom prst="rect">
            <a:avLst/>
          </a:prstGeom>
        </p:spPr>
      </p:pic>
    </p:spTree>
    <p:extLst>
      <p:ext uri="{BB962C8B-B14F-4D97-AF65-F5344CB8AC3E}">
        <p14:creationId xmlns:p14="http://schemas.microsoft.com/office/powerpoint/2010/main" val="202072002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18</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53752"/>
            <a:ext cx="8229600" cy="1143000"/>
          </a:xfrm>
        </p:spPr>
        <p:txBody>
          <a:bodyPr/>
          <a:lstStyle/>
          <a:p>
            <a:pPr lvl="0" algn="r" rtl="1"/>
            <a:r>
              <a:rPr lang="fa-IR" sz="2800" dirty="0" smtClean="0">
                <a:cs typeface="B Nazanin" panose="00000400000000000000" pitchFamily="2" charset="-78"/>
              </a:rPr>
              <a:t>مدل سازی فرآیند- در متداول ترین حالات:</a:t>
            </a:r>
            <a:br>
              <a:rPr lang="fa-IR" sz="2800" dirty="0" smtClean="0">
                <a:cs typeface="B Nazanin" panose="00000400000000000000" pitchFamily="2" charset="-78"/>
              </a:rPr>
            </a:br>
            <a:endParaRPr lang="fa-IR" sz="2800" dirty="0">
              <a:cs typeface="B Nazanin" panose="000004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sp>
        <p:nvSpPr>
          <p:cNvPr id="14" name="Title 2"/>
          <p:cNvSpPr txBox="1">
            <a:spLocks/>
          </p:cNvSpPr>
          <p:nvPr/>
        </p:nvSpPr>
        <p:spPr bwMode="auto">
          <a:xfrm>
            <a:off x="846138" y="404664"/>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endParaRPr kumimoji="0" lang="fa-IR" sz="32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pic>
        <p:nvPicPr>
          <p:cNvPr id="2050" name="Picture 2"/>
          <p:cNvPicPr>
            <a:picLocks noChangeAspect="1" noChangeArrowheads="1"/>
          </p:cNvPicPr>
          <p:nvPr/>
        </p:nvPicPr>
        <p:blipFill>
          <a:blip r:embed="rId3" cstate="print"/>
          <a:srcRect/>
          <a:stretch>
            <a:fillRect/>
          </a:stretch>
        </p:blipFill>
        <p:spPr bwMode="auto">
          <a:xfrm>
            <a:off x="467544" y="1425233"/>
            <a:ext cx="2643107" cy="481583"/>
          </a:xfrm>
          <a:prstGeom prst="rect">
            <a:avLst/>
          </a:prstGeom>
          <a:noFill/>
          <a:ln w="9525">
            <a:noFill/>
            <a:miter lim="800000"/>
            <a:headEnd/>
            <a:tailEnd/>
          </a:ln>
        </p:spPr>
      </p:pic>
      <p:pic>
        <p:nvPicPr>
          <p:cNvPr id="21" name="Picture 20" descr="fig8.png"/>
          <p:cNvPicPr>
            <a:picLocks noChangeAspect="1"/>
          </p:cNvPicPr>
          <p:nvPr/>
        </p:nvPicPr>
        <p:blipFill>
          <a:blip r:embed="rId4" cstate="print"/>
          <a:stretch>
            <a:fillRect/>
          </a:stretch>
        </p:blipFill>
        <p:spPr>
          <a:xfrm>
            <a:off x="773832" y="2231740"/>
            <a:ext cx="7776864" cy="2938783"/>
          </a:xfrm>
          <a:prstGeom prst="rect">
            <a:avLst/>
          </a:prstGeom>
        </p:spPr>
      </p:pic>
      <p:pic>
        <p:nvPicPr>
          <p:cNvPr id="3074" name="Picture 2"/>
          <p:cNvPicPr>
            <a:picLocks noChangeAspect="1" noChangeArrowheads="1"/>
          </p:cNvPicPr>
          <p:nvPr/>
        </p:nvPicPr>
        <p:blipFill>
          <a:blip r:embed="rId5" cstate="print"/>
          <a:srcRect/>
          <a:stretch>
            <a:fillRect/>
          </a:stretch>
        </p:blipFill>
        <p:spPr bwMode="auto">
          <a:xfrm>
            <a:off x="693738" y="5121188"/>
            <a:ext cx="7686134" cy="648072"/>
          </a:xfrm>
          <a:prstGeom prst="rect">
            <a:avLst/>
          </a:prstGeom>
          <a:noFill/>
          <a:ln w="9525">
            <a:noFill/>
            <a:miter lim="800000"/>
            <a:headEnd/>
            <a:tailEnd/>
          </a:ln>
        </p:spPr>
      </p:pic>
      <p:sp>
        <p:nvSpPr>
          <p:cNvPr id="20" name="Title 2"/>
          <p:cNvSpPr txBox="1">
            <a:spLocks/>
          </p:cNvSpPr>
          <p:nvPr/>
        </p:nvSpPr>
        <p:spPr bwMode="auto">
          <a:xfrm>
            <a:off x="735808" y="763816"/>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defRPr>
            </a:lvl2pPr>
            <a:lvl3pPr algn="ctr" rtl="0" fontAlgn="base">
              <a:spcBef>
                <a:spcPct val="0"/>
              </a:spcBef>
              <a:spcAft>
                <a:spcPct val="0"/>
              </a:spcAft>
              <a:defRPr sz="4400">
                <a:solidFill>
                  <a:schemeClr val="tx2"/>
                </a:solidFill>
                <a:latin typeface="Arial" pitchFamily="34" charset="0"/>
              </a:defRPr>
            </a:lvl3pPr>
            <a:lvl4pPr algn="ctr" rtl="0" fontAlgn="base">
              <a:spcBef>
                <a:spcPct val="0"/>
              </a:spcBef>
              <a:spcAft>
                <a:spcPct val="0"/>
              </a:spcAft>
              <a:defRPr sz="4400">
                <a:solidFill>
                  <a:schemeClr val="tx2"/>
                </a:solidFill>
                <a:latin typeface="Arial" pitchFamily="34" charset="0"/>
              </a:defRPr>
            </a:lvl4pPr>
            <a:lvl5pPr algn="ctr" rtl="0" fontAlgn="base">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algn="r" rtl="1"/>
            <a:r>
              <a:rPr lang="fa-IR" sz="2800" kern="0" dirty="0" smtClean="0">
                <a:cs typeface="B Nazanin" panose="00000400000000000000" pitchFamily="2" charset="-78"/>
              </a:rPr>
              <a:t>مدل سازی دو پارامتری- حال اول:</a:t>
            </a:r>
            <a:br>
              <a:rPr lang="fa-IR" sz="2800" kern="0" dirty="0" smtClean="0">
                <a:cs typeface="B Nazanin" panose="00000400000000000000" pitchFamily="2" charset="-78"/>
              </a:rPr>
            </a:br>
            <a:endParaRPr lang="fa-IR" sz="2800" kern="0" dirty="0">
              <a:cs typeface="B Nazanin" panose="00000400000000000000" pitchFamily="2" charset="-78"/>
            </a:endParaRPr>
          </a:p>
        </p:txBody>
      </p:sp>
    </p:spTree>
    <p:extLst>
      <p:ext uri="{BB962C8B-B14F-4D97-AF65-F5344CB8AC3E}">
        <p14:creationId xmlns:p14="http://schemas.microsoft.com/office/powerpoint/2010/main" val="202072002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19</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53752"/>
            <a:ext cx="8229600" cy="1143000"/>
          </a:xfrm>
        </p:spPr>
        <p:txBody>
          <a:bodyPr/>
          <a:lstStyle/>
          <a:p>
            <a:pPr lvl="0" algn="r" rtl="1"/>
            <a:r>
              <a:rPr lang="fa-IR" sz="2800" dirty="0" smtClean="0">
                <a:cs typeface="B Nazanin" panose="00000400000000000000" pitchFamily="2" charset="-78"/>
              </a:rPr>
              <a:t>مدل سازی فرآیند- در متداول ترین حالات:</a:t>
            </a:r>
            <a:br>
              <a:rPr lang="fa-IR" sz="2800" dirty="0" smtClean="0">
                <a:cs typeface="B Nazanin" panose="00000400000000000000" pitchFamily="2" charset="-78"/>
              </a:rPr>
            </a:br>
            <a:endParaRPr lang="fa-IR" sz="2800" dirty="0">
              <a:cs typeface="B Nazanin" panose="000004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sp>
        <p:nvSpPr>
          <p:cNvPr id="14" name="Title 2"/>
          <p:cNvSpPr txBox="1">
            <a:spLocks/>
          </p:cNvSpPr>
          <p:nvPr/>
        </p:nvSpPr>
        <p:spPr bwMode="auto">
          <a:xfrm>
            <a:off x="846138" y="404664"/>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endParaRPr kumimoji="0" lang="fa-IR" sz="32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pic>
        <p:nvPicPr>
          <p:cNvPr id="2050" name="Picture 2"/>
          <p:cNvPicPr>
            <a:picLocks noChangeAspect="1" noChangeArrowheads="1"/>
          </p:cNvPicPr>
          <p:nvPr/>
        </p:nvPicPr>
        <p:blipFill>
          <a:blip r:embed="rId3" cstate="print"/>
          <a:srcRect/>
          <a:stretch>
            <a:fillRect/>
          </a:stretch>
        </p:blipFill>
        <p:spPr bwMode="auto">
          <a:xfrm>
            <a:off x="412340" y="899500"/>
            <a:ext cx="2643107" cy="481583"/>
          </a:xfrm>
          <a:prstGeom prst="rect">
            <a:avLst/>
          </a:prstGeom>
          <a:noFill/>
          <a:ln w="9525">
            <a:noFill/>
            <a:miter lim="800000"/>
            <a:headEnd/>
            <a:tailEnd/>
          </a:ln>
        </p:spPr>
      </p:pic>
      <p:pic>
        <p:nvPicPr>
          <p:cNvPr id="20" name="Picture 19" descr="fig9.png"/>
          <p:cNvPicPr>
            <a:picLocks noChangeAspect="1"/>
          </p:cNvPicPr>
          <p:nvPr/>
        </p:nvPicPr>
        <p:blipFill>
          <a:blip r:embed="rId4" cstate="print"/>
          <a:stretch>
            <a:fillRect/>
          </a:stretch>
        </p:blipFill>
        <p:spPr>
          <a:xfrm>
            <a:off x="3059832" y="764704"/>
            <a:ext cx="5772956" cy="3943901"/>
          </a:xfrm>
          <a:prstGeom prst="rect">
            <a:avLst/>
          </a:prstGeom>
        </p:spPr>
      </p:pic>
      <p:pic>
        <p:nvPicPr>
          <p:cNvPr id="4098" name="Picture 2"/>
          <p:cNvPicPr>
            <a:picLocks noChangeAspect="1" noChangeArrowheads="1"/>
          </p:cNvPicPr>
          <p:nvPr/>
        </p:nvPicPr>
        <p:blipFill>
          <a:blip r:embed="rId5" cstate="print"/>
          <a:srcRect b="18518"/>
          <a:stretch>
            <a:fillRect/>
          </a:stretch>
        </p:blipFill>
        <p:spPr bwMode="auto">
          <a:xfrm>
            <a:off x="407118" y="4843401"/>
            <a:ext cx="7725018" cy="1584176"/>
          </a:xfrm>
          <a:prstGeom prst="rect">
            <a:avLst/>
          </a:prstGeom>
          <a:noFill/>
          <a:ln w="9525">
            <a:noFill/>
            <a:miter lim="800000"/>
            <a:headEnd/>
            <a:tailEnd/>
          </a:ln>
        </p:spPr>
      </p:pic>
      <p:pic>
        <p:nvPicPr>
          <p:cNvPr id="22" name="Picture 21" descr="fig8.png"/>
          <p:cNvPicPr>
            <a:picLocks noChangeAspect="1"/>
          </p:cNvPicPr>
          <p:nvPr/>
        </p:nvPicPr>
        <p:blipFill>
          <a:blip r:embed="rId6" cstate="print"/>
          <a:srcRect l="40740" t="24042" r="43519" b="53906"/>
          <a:stretch>
            <a:fillRect/>
          </a:stretch>
        </p:blipFill>
        <p:spPr>
          <a:xfrm>
            <a:off x="532837" y="3586803"/>
            <a:ext cx="1224136" cy="648072"/>
          </a:xfrm>
          <a:prstGeom prst="rect">
            <a:avLst/>
          </a:prstGeom>
        </p:spPr>
      </p:pic>
      <p:pic>
        <p:nvPicPr>
          <p:cNvPr id="21" name="Picture 2"/>
          <p:cNvPicPr>
            <a:picLocks noChangeAspect="1" noChangeArrowheads="1"/>
          </p:cNvPicPr>
          <p:nvPr/>
        </p:nvPicPr>
        <p:blipFill rotWithShape="1">
          <a:blip r:embed="rId5" cstate="print"/>
          <a:srcRect l="36646" t="44634" r="34457" b="18517"/>
          <a:stretch/>
        </p:blipFill>
        <p:spPr bwMode="auto">
          <a:xfrm>
            <a:off x="528382" y="2561086"/>
            <a:ext cx="3083784" cy="989713"/>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02072002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20</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53752"/>
            <a:ext cx="8229600" cy="1143000"/>
          </a:xfrm>
        </p:spPr>
        <p:txBody>
          <a:bodyPr/>
          <a:lstStyle/>
          <a:p>
            <a:pPr lvl="0" algn="r" rtl="1"/>
            <a:r>
              <a:rPr lang="fa-IR" sz="2800" dirty="0" smtClean="0">
                <a:cs typeface="B Nazanin" panose="00000400000000000000" pitchFamily="2" charset="-78"/>
              </a:rPr>
              <a:t>مدل سازی فرآیند- در متداول ترین حال</a:t>
            </a:r>
            <a:r>
              <a:rPr lang="fa-IR" sz="2800" dirty="0">
                <a:cs typeface="B Nazanin" panose="00000400000000000000" pitchFamily="2" charset="-78"/>
              </a:rPr>
              <a:t>ا</a:t>
            </a:r>
            <a:r>
              <a:rPr lang="fa-IR" sz="2800" dirty="0" smtClean="0">
                <a:cs typeface="B Nazanin" panose="00000400000000000000" pitchFamily="2" charset="-78"/>
              </a:rPr>
              <a:t>ت:</a:t>
            </a:r>
            <a:br>
              <a:rPr lang="fa-IR" sz="2800" dirty="0" smtClean="0">
                <a:cs typeface="B Nazanin" panose="00000400000000000000" pitchFamily="2" charset="-78"/>
              </a:rPr>
            </a:br>
            <a:endParaRPr lang="fa-IR" sz="2800" dirty="0">
              <a:cs typeface="B Nazanin" panose="000004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sp>
        <p:nvSpPr>
          <p:cNvPr id="14" name="Title 2"/>
          <p:cNvSpPr txBox="1">
            <a:spLocks/>
          </p:cNvSpPr>
          <p:nvPr/>
        </p:nvSpPr>
        <p:spPr bwMode="auto">
          <a:xfrm>
            <a:off x="846138" y="404664"/>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endParaRPr kumimoji="0" lang="fa-IR" sz="32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pic>
        <p:nvPicPr>
          <p:cNvPr id="2050" name="Picture 2"/>
          <p:cNvPicPr>
            <a:picLocks noChangeAspect="1" noChangeArrowheads="1"/>
          </p:cNvPicPr>
          <p:nvPr/>
        </p:nvPicPr>
        <p:blipFill>
          <a:blip r:embed="rId3" cstate="print"/>
          <a:srcRect/>
          <a:stretch>
            <a:fillRect/>
          </a:stretch>
        </p:blipFill>
        <p:spPr bwMode="auto">
          <a:xfrm>
            <a:off x="197531" y="1026378"/>
            <a:ext cx="3534704" cy="644035"/>
          </a:xfrm>
          <a:prstGeom prst="rect">
            <a:avLst/>
          </a:prstGeom>
          <a:noFill/>
          <a:ln w="9525">
            <a:noFill/>
            <a:miter lim="800000"/>
            <a:headEnd/>
            <a:tailEnd/>
          </a:ln>
        </p:spPr>
      </p:pic>
      <p:pic>
        <p:nvPicPr>
          <p:cNvPr id="20" name="Picture 19" descr="fig9.png"/>
          <p:cNvPicPr>
            <a:picLocks noChangeAspect="1"/>
          </p:cNvPicPr>
          <p:nvPr/>
        </p:nvPicPr>
        <p:blipFill rotWithShape="1">
          <a:blip r:embed="rId4" cstate="print"/>
          <a:srcRect l="19374" t="5925" r="11025" b="18166"/>
          <a:stretch/>
        </p:blipFill>
        <p:spPr>
          <a:xfrm>
            <a:off x="4511929" y="1562904"/>
            <a:ext cx="3964761" cy="2954136"/>
          </a:xfrm>
          <a:prstGeom prst="rect">
            <a:avLst/>
          </a:prstGeom>
        </p:spPr>
      </p:pic>
      <p:sp>
        <p:nvSpPr>
          <p:cNvPr id="2" name="Rectangle 1"/>
          <p:cNvSpPr/>
          <p:nvPr/>
        </p:nvSpPr>
        <p:spPr>
          <a:xfrm>
            <a:off x="282351" y="1835321"/>
            <a:ext cx="3960440" cy="1323439"/>
          </a:xfrm>
          <a:prstGeom prst="rect">
            <a:avLst/>
          </a:prstGeom>
        </p:spPr>
        <p:txBody>
          <a:bodyPr wrap="square">
            <a:spAutoFit/>
          </a:bodyPr>
          <a:lstStyle/>
          <a:p>
            <a:pPr algn="just"/>
            <a:r>
              <a:rPr lang="en-US" sz="2000" dirty="0"/>
              <a:t>Another approximation to the step response that also has two parameters is given by the transfer </a:t>
            </a:r>
            <a:r>
              <a:rPr lang="en-US" sz="2000" dirty="0" smtClean="0"/>
              <a:t>function:</a:t>
            </a:r>
            <a:endParaRPr lang="en-US" sz="2000" dirty="0"/>
          </a:p>
        </p:txBody>
      </p:sp>
      <p:pic>
        <p:nvPicPr>
          <p:cNvPr id="3" name="Picture 2"/>
          <p:cNvPicPr>
            <a:picLocks noChangeAspect="1"/>
          </p:cNvPicPr>
          <p:nvPr/>
        </p:nvPicPr>
        <p:blipFill rotWithShape="1">
          <a:blip r:embed="rId5"/>
          <a:srcRect l="40191" t="57197" r="42652" b="34286"/>
          <a:stretch/>
        </p:blipFill>
        <p:spPr>
          <a:xfrm>
            <a:off x="462633" y="3487670"/>
            <a:ext cx="3004499" cy="838560"/>
          </a:xfrm>
          <a:prstGeom prst="rect">
            <a:avLst/>
          </a:prstGeom>
          <a:ln>
            <a:noFill/>
          </a:ln>
          <a:effectLst>
            <a:outerShdw blurRad="190500" algn="tl" rotWithShape="0">
              <a:srgbClr val="000000">
                <a:alpha val="70000"/>
              </a:srgbClr>
            </a:outerShdw>
          </a:effectLst>
        </p:spPr>
      </p:pic>
      <p:sp>
        <p:nvSpPr>
          <p:cNvPr id="4" name="Rectangle 3"/>
          <p:cNvSpPr/>
          <p:nvPr/>
        </p:nvSpPr>
        <p:spPr>
          <a:xfrm>
            <a:off x="133234" y="4867952"/>
            <a:ext cx="8877530" cy="1015663"/>
          </a:xfrm>
          <a:prstGeom prst="rect">
            <a:avLst/>
          </a:prstGeom>
        </p:spPr>
        <p:txBody>
          <a:bodyPr wrap="square">
            <a:spAutoFit/>
          </a:bodyPr>
          <a:lstStyle/>
          <a:p>
            <a:r>
              <a:rPr lang="en-US" sz="2000" dirty="0"/>
              <a:t>This model corresponds to an integrator with dead time. This model is characterized by the two parameters, a and L, that are easily </a:t>
            </a:r>
            <a:r>
              <a:rPr lang="en-US" sz="2000" dirty="0" err="1"/>
              <a:t>determined</a:t>
            </a:r>
            <a:r>
              <a:rPr lang="en-US" sz="2000" dirty="0"/>
              <a:t> graphically from the step response</a:t>
            </a:r>
          </a:p>
        </p:txBody>
      </p:sp>
      <p:sp>
        <p:nvSpPr>
          <p:cNvPr id="21" name="Title 2"/>
          <p:cNvSpPr txBox="1">
            <a:spLocks/>
          </p:cNvSpPr>
          <p:nvPr/>
        </p:nvSpPr>
        <p:spPr bwMode="auto">
          <a:xfrm>
            <a:off x="735808" y="763816"/>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defRPr>
            </a:lvl2pPr>
            <a:lvl3pPr algn="ctr" rtl="0" fontAlgn="base">
              <a:spcBef>
                <a:spcPct val="0"/>
              </a:spcBef>
              <a:spcAft>
                <a:spcPct val="0"/>
              </a:spcAft>
              <a:defRPr sz="4400">
                <a:solidFill>
                  <a:schemeClr val="tx2"/>
                </a:solidFill>
                <a:latin typeface="Arial" pitchFamily="34" charset="0"/>
              </a:defRPr>
            </a:lvl3pPr>
            <a:lvl4pPr algn="ctr" rtl="0" fontAlgn="base">
              <a:spcBef>
                <a:spcPct val="0"/>
              </a:spcBef>
              <a:spcAft>
                <a:spcPct val="0"/>
              </a:spcAft>
              <a:defRPr sz="4400">
                <a:solidFill>
                  <a:schemeClr val="tx2"/>
                </a:solidFill>
                <a:latin typeface="Arial" pitchFamily="34" charset="0"/>
              </a:defRPr>
            </a:lvl4pPr>
            <a:lvl5pPr algn="ctr" rtl="0" fontAlgn="base">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algn="r" rtl="1"/>
            <a:r>
              <a:rPr lang="fa-IR" sz="2800" kern="0" dirty="0" smtClean="0">
                <a:cs typeface="B Nazanin" panose="00000400000000000000" pitchFamily="2" charset="-78"/>
              </a:rPr>
              <a:t>مدل سازی دو پارامتری- حال دوم:</a:t>
            </a:r>
            <a:br>
              <a:rPr lang="fa-IR" sz="2800" kern="0" dirty="0" smtClean="0">
                <a:cs typeface="B Nazanin" panose="00000400000000000000" pitchFamily="2" charset="-78"/>
              </a:rPr>
            </a:br>
            <a:endParaRPr lang="fa-IR" sz="2800" kern="0" dirty="0">
              <a:cs typeface="B Nazanin" panose="00000400000000000000" pitchFamily="2" charset="-78"/>
            </a:endParaRPr>
          </a:p>
        </p:txBody>
      </p:sp>
    </p:spTree>
    <p:extLst>
      <p:ext uri="{BB962C8B-B14F-4D97-AF65-F5344CB8AC3E}">
        <p14:creationId xmlns:p14="http://schemas.microsoft.com/office/powerpoint/2010/main" val="192811150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21</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53752"/>
            <a:ext cx="8229600" cy="1143000"/>
          </a:xfrm>
        </p:spPr>
        <p:txBody>
          <a:bodyPr/>
          <a:lstStyle/>
          <a:p>
            <a:pPr lvl="0" algn="r" rtl="1"/>
            <a:r>
              <a:rPr lang="fa-IR" sz="2800" dirty="0" smtClean="0">
                <a:cs typeface="B Nazanin" panose="00000400000000000000" pitchFamily="2" charset="-78"/>
              </a:rPr>
              <a:t>مدل سازی فرآیند- بررسی پاسخ پله فرآیند در متداول ترین حالت:</a:t>
            </a:r>
            <a:br>
              <a:rPr lang="fa-IR" sz="2800" dirty="0" smtClean="0">
                <a:cs typeface="B Nazanin" panose="00000400000000000000" pitchFamily="2" charset="-78"/>
              </a:rPr>
            </a:br>
            <a:endParaRPr lang="fa-IR" sz="2800" dirty="0">
              <a:cs typeface="B Nazanin" panose="000004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sp>
        <p:nvSpPr>
          <p:cNvPr id="14" name="Title 2"/>
          <p:cNvSpPr txBox="1">
            <a:spLocks/>
          </p:cNvSpPr>
          <p:nvPr/>
        </p:nvSpPr>
        <p:spPr bwMode="auto">
          <a:xfrm>
            <a:off x="846138" y="404664"/>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endParaRPr kumimoji="0" lang="fa-IR" sz="32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pic>
        <p:nvPicPr>
          <p:cNvPr id="2050" name="Picture 2"/>
          <p:cNvPicPr>
            <a:picLocks noChangeAspect="1" noChangeArrowheads="1"/>
          </p:cNvPicPr>
          <p:nvPr/>
        </p:nvPicPr>
        <p:blipFill>
          <a:blip r:embed="rId3" cstate="print"/>
          <a:srcRect/>
          <a:stretch>
            <a:fillRect/>
          </a:stretch>
        </p:blipFill>
        <p:spPr bwMode="auto">
          <a:xfrm>
            <a:off x="354433" y="1449016"/>
            <a:ext cx="2643107" cy="481583"/>
          </a:xfrm>
          <a:prstGeom prst="rect">
            <a:avLst/>
          </a:prstGeom>
          <a:noFill/>
          <a:ln w="9525">
            <a:noFill/>
            <a:miter lim="800000"/>
            <a:headEnd/>
            <a:tailEnd/>
          </a:ln>
        </p:spPr>
      </p:pic>
      <p:sp>
        <p:nvSpPr>
          <p:cNvPr id="21" name="Title 2"/>
          <p:cNvSpPr txBox="1">
            <a:spLocks/>
          </p:cNvSpPr>
          <p:nvPr/>
        </p:nvSpPr>
        <p:spPr bwMode="auto">
          <a:xfrm>
            <a:off x="880715" y="908513"/>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Tx/>
              <a:buNone/>
              <a:tabLst/>
              <a:defRPr/>
            </a:pPr>
            <a:r>
              <a:rPr kumimoji="0" lang="fa-IR" sz="2800" b="0" i="0" u="none" strike="noStrike" kern="0" cap="none" spc="0" normalizeH="0" baseline="0" noProof="0" dirty="0" smtClean="0">
                <a:ln>
                  <a:noFill/>
                </a:ln>
                <a:solidFill>
                  <a:schemeClr val="tx2"/>
                </a:solidFill>
                <a:effectLst/>
                <a:uLnTx/>
                <a:uFillTx/>
                <a:latin typeface="+mj-lt"/>
                <a:ea typeface="+mj-ea"/>
                <a:cs typeface="B Nazanin" panose="00000400000000000000" pitchFamily="2" charset="-78"/>
              </a:rPr>
              <a:t>مثال:</a:t>
            </a:r>
            <a:endParaRPr kumimoji="0" lang="fa-IR" sz="28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pic>
        <p:nvPicPr>
          <p:cNvPr id="24" name="Picture 23" descr="fig10.png"/>
          <p:cNvPicPr>
            <a:picLocks noChangeAspect="1"/>
          </p:cNvPicPr>
          <p:nvPr/>
        </p:nvPicPr>
        <p:blipFill>
          <a:blip r:embed="rId4" cstate="print"/>
          <a:stretch>
            <a:fillRect/>
          </a:stretch>
        </p:blipFill>
        <p:spPr>
          <a:xfrm>
            <a:off x="3228868" y="906463"/>
            <a:ext cx="4653323" cy="3633225"/>
          </a:xfrm>
          <a:prstGeom prst="rect">
            <a:avLst/>
          </a:prstGeom>
        </p:spPr>
      </p:pic>
      <p:pic>
        <p:nvPicPr>
          <p:cNvPr id="25" name="Picture 24" descr="fig11.png"/>
          <p:cNvPicPr>
            <a:picLocks noChangeAspect="1"/>
          </p:cNvPicPr>
          <p:nvPr/>
        </p:nvPicPr>
        <p:blipFill>
          <a:blip r:embed="rId5" cstate="print"/>
          <a:srcRect l="69092" b="46159"/>
          <a:stretch>
            <a:fillRect/>
          </a:stretch>
        </p:blipFill>
        <p:spPr>
          <a:xfrm>
            <a:off x="593702" y="3110399"/>
            <a:ext cx="2470799" cy="441867"/>
          </a:xfrm>
          <a:prstGeom prst="rect">
            <a:avLst/>
          </a:prstGeom>
          <a:ln>
            <a:noFill/>
          </a:ln>
          <a:effectLst>
            <a:outerShdw blurRad="190500" algn="tl" rotWithShape="0">
              <a:srgbClr val="000000">
                <a:alpha val="70000"/>
              </a:srgbClr>
            </a:outerShdw>
          </a:effectLst>
        </p:spPr>
      </p:pic>
      <p:sp>
        <p:nvSpPr>
          <p:cNvPr id="26" name="Down Arrow 25"/>
          <p:cNvSpPr/>
          <p:nvPr/>
        </p:nvSpPr>
        <p:spPr bwMode="auto">
          <a:xfrm>
            <a:off x="1387955" y="3927620"/>
            <a:ext cx="288032" cy="648072"/>
          </a:xfrm>
          <a:prstGeom prst="downArrow">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pic>
        <p:nvPicPr>
          <p:cNvPr id="2" name="Picture 1"/>
          <p:cNvPicPr>
            <a:picLocks noChangeAspect="1"/>
          </p:cNvPicPr>
          <p:nvPr/>
        </p:nvPicPr>
        <p:blipFill rotWithShape="1">
          <a:blip r:embed="rId6"/>
          <a:srcRect l="16241" t="46745" r="26203" b="33266"/>
          <a:stretch/>
        </p:blipFill>
        <p:spPr>
          <a:xfrm>
            <a:off x="373898" y="4755712"/>
            <a:ext cx="7488833" cy="1462261"/>
          </a:xfrm>
          <a:prstGeom prst="rect">
            <a:avLst/>
          </a:prstGeom>
        </p:spPr>
      </p:pic>
      <p:pic>
        <p:nvPicPr>
          <p:cNvPr id="20" name="Picture 19"/>
          <p:cNvPicPr>
            <a:picLocks noChangeAspect="1"/>
          </p:cNvPicPr>
          <p:nvPr/>
        </p:nvPicPr>
        <p:blipFill rotWithShape="1">
          <a:blip r:embed="rId6"/>
          <a:srcRect l="50568" t="57399" r="43344" b="36695"/>
          <a:stretch/>
        </p:blipFill>
        <p:spPr>
          <a:xfrm>
            <a:off x="5292080" y="1412776"/>
            <a:ext cx="792089" cy="432048"/>
          </a:xfrm>
          <a:prstGeom prst="rect">
            <a:avLst/>
          </a:prstGeom>
        </p:spPr>
      </p:pic>
      <p:pic>
        <p:nvPicPr>
          <p:cNvPr id="22" name="Picture 21"/>
          <p:cNvPicPr>
            <a:picLocks noChangeAspect="1"/>
          </p:cNvPicPr>
          <p:nvPr/>
        </p:nvPicPr>
        <p:blipFill rotWithShape="1">
          <a:blip r:embed="rId6"/>
          <a:srcRect l="27367" t="58292" r="66546" b="34818"/>
          <a:stretch/>
        </p:blipFill>
        <p:spPr>
          <a:xfrm>
            <a:off x="6084169" y="2641579"/>
            <a:ext cx="792089" cy="504056"/>
          </a:xfrm>
          <a:prstGeom prst="rect">
            <a:avLst/>
          </a:prstGeom>
        </p:spPr>
      </p:pic>
      <p:pic>
        <p:nvPicPr>
          <p:cNvPr id="27" name="Picture 26" descr="fig11.png"/>
          <p:cNvPicPr>
            <a:picLocks noChangeAspect="1"/>
          </p:cNvPicPr>
          <p:nvPr/>
        </p:nvPicPr>
        <p:blipFill rotWithShape="1">
          <a:blip r:embed="rId5" cstate="print"/>
          <a:srcRect l="69275" t="6808" r="23205" b="46159"/>
          <a:stretch/>
        </p:blipFill>
        <p:spPr>
          <a:xfrm>
            <a:off x="6876258" y="1732105"/>
            <a:ext cx="630085" cy="405625"/>
          </a:xfrm>
          <a:prstGeom prst="rect">
            <a:avLst/>
          </a:prstGeom>
        </p:spPr>
      </p:pic>
    </p:spTree>
    <p:extLst>
      <p:ext uri="{BB962C8B-B14F-4D97-AF65-F5344CB8AC3E}">
        <p14:creationId xmlns:p14="http://schemas.microsoft.com/office/powerpoint/2010/main" val="202072002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22</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53752"/>
            <a:ext cx="8229600" cy="1143000"/>
          </a:xfrm>
        </p:spPr>
        <p:txBody>
          <a:bodyPr/>
          <a:lstStyle/>
          <a:p>
            <a:pPr lvl="0" algn="r" rtl="1"/>
            <a:r>
              <a:rPr lang="fa-IR" sz="2800" dirty="0" smtClean="0">
                <a:cs typeface="B Nazanin" panose="00000400000000000000" pitchFamily="2" charset="-78"/>
              </a:rPr>
              <a:t>مدل سازی فرآیند- در متداول ترین حالات:</a:t>
            </a:r>
            <a:br>
              <a:rPr lang="fa-IR" sz="2800" dirty="0" smtClean="0">
                <a:cs typeface="B Nazanin" panose="00000400000000000000" pitchFamily="2" charset="-78"/>
              </a:rPr>
            </a:br>
            <a:endParaRPr lang="fa-IR" sz="2800" dirty="0">
              <a:cs typeface="B Nazanin" panose="000004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pic>
        <p:nvPicPr>
          <p:cNvPr id="7170" name="Picture 2"/>
          <p:cNvPicPr>
            <a:picLocks noChangeAspect="1" noChangeArrowheads="1"/>
          </p:cNvPicPr>
          <p:nvPr/>
        </p:nvPicPr>
        <p:blipFill>
          <a:blip r:embed="rId3" cstate="print"/>
          <a:srcRect/>
          <a:stretch>
            <a:fillRect/>
          </a:stretch>
        </p:blipFill>
        <p:spPr bwMode="auto">
          <a:xfrm>
            <a:off x="251520" y="838936"/>
            <a:ext cx="2381250" cy="400050"/>
          </a:xfrm>
          <a:prstGeom prst="rect">
            <a:avLst/>
          </a:prstGeom>
          <a:noFill/>
          <a:ln w="9525">
            <a:noFill/>
            <a:miter lim="800000"/>
            <a:headEnd/>
            <a:tailEnd/>
          </a:ln>
        </p:spPr>
      </p:pic>
      <p:sp>
        <p:nvSpPr>
          <p:cNvPr id="20" name="Title 2"/>
          <p:cNvSpPr txBox="1">
            <a:spLocks/>
          </p:cNvSpPr>
          <p:nvPr/>
        </p:nvSpPr>
        <p:spPr bwMode="auto">
          <a:xfrm>
            <a:off x="735808" y="723900"/>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defRPr>
            </a:lvl2pPr>
            <a:lvl3pPr algn="ctr" rtl="0" fontAlgn="base">
              <a:spcBef>
                <a:spcPct val="0"/>
              </a:spcBef>
              <a:spcAft>
                <a:spcPct val="0"/>
              </a:spcAft>
              <a:defRPr sz="4400">
                <a:solidFill>
                  <a:schemeClr val="tx2"/>
                </a:solidFill>
                <a:latin typeface="Arial" pitchFamily="34" charset="0"/>
              </a:defRPr>
            </a:lvl3pPr>
            <a:lvl4pPr algn="ctr" rtl="0" fontAlgn="base">
              <a:spcBef>
                <a:spcPct val="0"/>
              </a:spcBef>
              <a:spcAft>
                <a:spcPct val="0"/>
              </a:spcAft>
              <a:defRPr sz="4400">
                <a:solidFill>
                  <a:schemeClr val="tx2"/>
                </a:solidFill>
                <a:latin typeface="Arial" pitchFamily="34" charset="0"/>
              </a:defRPr>
            </a:lvl4pPr>
            <a:lvl5pPr algn="ctr" rtl="0" fontAlgn="base">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algn="r" rtl="1"/>
            <a:r>
              <a:rPr lang="fa-IR" sz="2800" kern="0" dirty="0" smtClean="0">
                <a:cs typeface="B Nazanin" panose="00000400000000000000" pitchFamily="2" charset="-78"/>
              </a:rPr>
              <a:t>مدل سازی سه پارامتری:</a:t>
            </a:r>
            <a:br>
              <a:rPr lang="fa-IR" sz="2800" kern="0" dirty="0" smtClean="0">
                <a:cs typeface="B Nazanin" panose="00000400000000000000" pitchFamily="2" charset="-78"/>
              </a:rPr>
            </a:br>
            <a:endParaRPr lang="fa-IR" sz="2800" kern="0" dirty="0">
              <a:cs typeface="B Nazanin" panose="00000400000000000000" pitchFamily="2" charset="-78"/>
            </a:endParaRPr>
          </a:p>
        </p:txBody>
      </p:sp>
      <p:sp>
        <p:nvSpPr>
          <p:cNvPr id="2" name="Rectangle 1"/>
          <p:cNvSpPr/>
          <p:nvPr/>
        </p:nvSpPr>
        <p:spPr>
          <a:xfrm>
            <a:off x="207616" y="1614854"/>
            <a:ext cx="8396832" cy="1015663"/>
          </a:xfrm>
          <a:prstGeom prst="rect">
            <a:avLst/>
          </a:prstGeom>
        </p:spPr>
        <p:txBody>
          <a:bodyPr wrap="square">
            <a:spAutoFit/>
          </a:bodyPr>
          <a:lstStyle/>
          <a:p>
            <a:pPr algn="just"/>
            <a:r>
              <a:rPr lang="en-US" sz="2000" dirty="0"/>
              <a:t>Better approximations are obtained by increasing the number of parameters. The </a:t>
            </a:r>
            <a:r>
              <a:rPr lang="en-US" sz="2000" dirty="0" smtClean="0"/>
              <a:t>model</a:t>
            </a:r>
            <a:r>
              <a:rPr lang="fa-IR" sz="2000" dirty="0" smtClean="0"/>
              <a:t>:</a:t>
            </a:r>
          </a:p>
          <a:p>
            <a:pPr algn="just"/>
            <a:endParaRPr lang="en-US" sz="2000" dirty="0"/>
          </a:p>
        </p:txBody>
      </p:sp>
      <p:pic>
        <p:nvPicPr>
          <p:cNvPr id="21" name="Picture 20" descr="fig13.png"/>
          <p:cNvPicPr>
            <a:picLocks noChangeAspect="1"/>
          </p:cNvPicPr>
          <p:nvPr/>
        </p:nvPicPr>
        <p:blipFill rotWithShape="1">
          <a:blip r:embed="rId4" cstate="print"/>
          <a:srcRect l="34303" t="23457" r="2376" b="47945"/>
          <a:stretch/>
        </p:blipFill>
        <p:spPr>
          <a:xfrm>
            <a:off x="754223" y="2837728"/>
            <a:ext cx="6251248" cy="810685"/>
          </a:xfrm>
          <a:prstGeom prst="rect">
            <a:avLst/>
          </a:prstGeom>
          <a:ln>
            <a:noFill/>
          </a:ln>
          <a:effectLst>
            <a:outerShdw blurRad="190500" algn="tl" rotWithShape="0">
              <a:srgbClr val="000000">
                <a:alpha val="70000"/>
              </a:srgbClr>
            </a:outerShdw>
          </a:effectLst>
        </p:spPr>
      </p:pic>
      <p:sp>
        <p:nvSpPr>
          <p:cNvPr id="3" name="Rectangle 2"/>
          <p:cNvSpPr/>
          <p:nvPr/>
        </p:nvSpPr>
        <p:spPr>
          <a:xfrm>
            <a:off x="208509" y="5125959"/>
            <a:ext cx="8473702" cy="1015663"/>
          </a:xfrm>
          <a:prstGeom prst="rect">
            <a:avLst/>
          </a:prstGeom>
        </p:spPr>
        <p:txBody>
          <a:bodyPr wrap="square">
            <a:spAutoFit/>
          </a:bodyPr>
          <a:lstStyle/>
          <a:p>
            <a:r>
              <a:rPr lang="en-US" sz="2000" dirty="0" smtClean="0"/>
              <a:t>This model is </a:t>
            </a:r>
            <a:r>
              <a:rPr lang="en-US" sz="2000" dirty="0"/>
              <a:t>characterized by three parameters: the static gain K, the time constant T, and the dead time L. This is the most common process model used in papers on PID controller tuning.</a:t>
            </a:r>
          </a:p>
        </p:txBody>
      </p:sp>
    </p:spTree>
    <p:extLst>
      <p:ext uri="{BB962C8B-B14F-4D97-AF65-F5344CB8AC3E}">
        <p14:creationId xmlns:p14="http://schemas.microsoft.com/office/powerpoint/2010/main" val="202072002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23</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53752"/>
            <a:ext cx="8229600" cy="1143000"/>
          </a:xfrm>
        </p:spPr>
        <p:txBody>
          <a:bodyPr/>
          <a:lstStyle/>
          <a:p>
            <a:pPr lvl="0" algn="r" rtl="1"/>
            <a:r>
              <a:rPr lang="fa-IR" sz="2800" dirty="0" smtClean="0">
                <a:cs typeface="B Nazanin" panose="00000400000000000000" pitchFamily="2" charset="-78"/>
              </a:rPr>
              <a:t>مدل سازی فرآیند- در متداول ترین حالات:</a:t>
            </a:r>
            <a:br>
              <a:rPr lang="fa-IR" sz="2800" dirty="0" smtClean="0">
                <a:cs typeface="B Nazanin" panose="00000400000000000000" pitchFamily="2" charset="-78"/>
              </a:rPr>
            </a:br>
            <a:endParaRPr lang="fa-IR" sz="2800" dirty="0">
              <a:cs typeface="B Nazanin" panose="000004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pic>
        <p:nvPicPr>
          <p:cNvPr id="7170" name="Picture 2"/>
          <p:cNvPicPr>
            <a:picLocks noChangeAspect="1" noChangeArrowheads="1"/>
          </p:cNvPicPr>
          <p:nvPr/>
        </p:nvPicPr>
        <p:blipFill>
          <a:blip r:embed="rId3" cstate="print"/>
          <a:srcRect/>
          <a:stretch>
            <a:fillRect/>
          </a:stretch>
        </p:blipFill>
        <p:spPr bwMode="auto">
          <a:xfrm>
            <a:off x="251520" y="838936"/>
            <a:ext cx="2381250" cy="400050"/>
          </a:xfrm>
          <a:prstGeom prst="rect">
            <a:avLst/>
          </a:prstGeom>
          <a:noFill/>
          <a:ln w="9525">
            <a:noFill/>
            <a:miter lim="800000"/>
            <a:headEnd/>
            <a:tailEnd/>
          </a:ln>
        </p:spPr>
      </p:pic>
      <p:sp>
        <p:nvSpPr>
          <p:cNvPr id="20" name="Title 2"/>
          <p:cNvSpPr txBox="1">
            <a:spLocks/>
          </p:cNvSpPr>
          <p:nvPr/>
        </p:nvSpPr>
        <p:spPr bwMode="auto">
          <a:xfrm>
            <a:off x="735808" y="723900"/>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defRPr>
            </a:lvl2pPr>
            <a:lvl3pPr algn="ctr" rtl="0" fontAlgn="base">
              <a:spcBef>
                <a:spcPct val="0"/>
              </a:spcBef>
              <a:spcAft>
                <a:spcPct val="0"/>
              </a:spcAft>
              <a:defRPr sz="4400">
                <a:solidFill>
                  <a:schemeClr val="tx2"/>
                </a:solidFill>
                <a:latin typeface="Arial" pitchFamily="34" charset="0"/>
              </a:defRPr>
            </a:lvl3pPr>
            <a:lvl4pPr algn="ctr" rtl="0" fontAlgn="base">
              <a:spcBef>
                <a:spcPct val="0"/>
              </a:spcBef>
              <a:spcAft>
                <a:spcPct val="0"/>
              </a:spcAft>
              <a:defRPr sz="4400">
                <a:solidFill>
                  <a:schemeClr val="tx2"/>
                </a:solidFill>
                <a:latin typeface="Arial" pitchFamily="34" charset="0"/>
              </a:defRPr>
            </a:lvl4pPr>
            <a:lvl5pPr algn="ctr" rtl="0" fontAlgn="base">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algn="r" rtl="1"/>
            <a:r>
              <a:rPr lang="fa-IR" sz="2800" kern="0" dirty="0" smtClean="0">
                <a:cs typeface="B Nazanin" panose="00000400000000000000" pitchFamily="2" charset="-78"/>
              </a:rPr>
              <a:t>مدل سازی سه پارامتری:</a:t>
            </a:r>
            <a:br>
              <a:rPr lang="fa-IR" sz="2800" kern="0" dirty="0" smtClean="0">
                <a:cs typeface="B Nazanin" panose="00000400000000000000" pitchFamily="2" charset="-78"/>
              </a:rPr>
            </a:br>
            <a:endParaRPr lang="fa-IR" sz="2800" kern="0" dirty="0">
              <a:cs typeface="B Nazanin" panose="00000400000000000000" pitchFamily="2" charset="-78"/>
            </a:endParaRPr>
          </a:p>
        </p:txBody>
      </p:sp>
      <p:sp>
        <p:nvSpPr>
          <p:cNvPr id="4" name="Rectangle 3"/>
          <p:cNvSpPr/>
          <p:nvPr/>
        </p:nvSpPr>
        <p:spPr>
          <a:xfrm>
            <a:off x="2789585" y="1857608"/>
            <a:ext cx="2095445" cy="369332"/>
          </a:xfrm>
          <a:prstGeom prst="rect">
            <a:avLst/>
          </a:prstGeom>
        </p:spPr>
        <p:txBody>
          <a:bodyPr wrap="none">
            <a:spAutoFit/>
          </a:bodyPr>
          <a:lstStyle/>
          <a:p>
            <a:r>
              <a:rPr lang="en-US" dirty="0"/>
              <a:t>The step </a:t>
            </a:r>
            <a:r>
              <a:rPr lang="en-US" dirty="0" smtClean="0"/>
              <a:t>response</a:t>
            </a:r>
            <a:endParaRPr lang="en-US" dirty="0"/>
          </a:p>
        </p:txBody>
      </p:sp>
      <p:pic>
        <p:nvPicPr>
          <p:cNvPr id="22" name="Picture 21" descr="fig13.png"/>
          <p:cNvPicPr>
            <a:picLocks noChangeAspect="1"/>
          </p:cNvPicPr>
          <p:nvPr/>
        </p:nvPicPr>
        <p:blipFill rotWithShape="1">
          <a:blip r:embed="rId4" cstate="print"/>
          <a:srcRect l="34302" t="23457" r="34447" b="51148"/>
          <a:stretch/>
        </p:blipFill>
        <p:spPr>
          <a:xfrm>
            <a:off x="271562" y="2205806"/>
            <a:ext cx="2518023" cy="587540"/>
          </a:xfrm>
          <a:prstGeom prst="rect">
            <a:avLst/>
          </a:prstGeom>
          <a:ln>
            <a:noFill/>
          </a:ln>
          <a:effectLst>
            <a:outerShdw blurRad="190500" algn="tl" rotWithShape="0">
              <a:srgbClr val="000000">
                <a:alpha val="70000"/>
              </a:srgbClr>
            </a:outerShdw>
          </a:effectLst>
        </p:spPr>
      </p:pic>
      <p:sp>
        <p:nvSpPr>
          <p:cNvPr id="6" name="Right Arrow 5"/>
          <p:cNvSpPr/>
          <p:nvPr/>
        </p:nvSpPr>
        <p:spPr bwMode="auto">
          <a:xfrm>
            <a:off x="2987824" y="2381204"/>
            <a:ext cx="1296144" cy="236743"/>
          </a:xfrm>
          <a:prstGeom prst="rightArrow">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pic>
        <p:nvPicPr>
          <p:cNvPr id="7" name="Picture 6"/>
          <p:cNvPicPr>
            <a:picLocks noChangeAspect="1"/>
          </p:cNvPicPr>
          <p:nvPr/>
        </p:nvPicPr>
        <p:blipFill rotWithShape="1">
          <a:blip r:embed="rId5"/>
          <a:srcRect l="36164" t="36219" r="40592" b="56891"/>
          <a:stretch/>
        </p:blipFill>
        <p:spPr>
          <a:xfrm>
            <a:off x="4716016" y="2205280"/>
            <a:ext cx="3528392" cy="588065"/>
          </a:xfrm>
          <a:prstGeom prst="rect">
            <a:avLst/>
          </a:prstGeom>
          <a:ln>
            <a:noFill/>
          </a:ln>
          <a:effectLst>
            <a:outerShdw blurRad="190500" algn="tl" rotWithShape="0">
              <a:srgbClr val="000000">
                <a:alpha val="70000"/>
              </a:srgbClr>
            </a:outerShdw>
          </a:effectLst>
        </p:spPr>
      </p:pic>
      <p:pic>
        <p:nvPicPr>
          <p:cNvPr id="21" name="Picture 20"/>
          <p:cNvPicPr>
            <a:picLocks noChangeAspect="1"/>
          </p:cNvPicPr>
          <p:nvPr/>
        </p:nvPicPr>
        <p:blipFill rotWithShape="1">
          <a:blip r:embed="rId6"/>
          <a:srcRect l="15133" t="23422" r="48893" b="25391"/>
          <a:stretch/>
        </p:blipFill>
        <p:spPr>
          <a:xfrm>
            <a:off x="3903674" y="2846860"/>
            <a:ext cx="4340734" cy="3472586"/>
          </a:xfrm>
          <a:prstGeom prst="rect">
            <a:avLst/>
          </a:prstGeom>
        </p:spPr>
      </p:pic>
    </p:spTree>
    <p:extLst>
      <p:ext uri="{BB962C8B-B14F-4D97-AF65-F5344CB8AC3E}">
        <p14:creationId xmlns:p14="http://schemas.microsoft.com/office/powerpoint/2010/main" val="309525199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24</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53752"/>
            <a:ext cx="8229600" cy="1143000"/>
          </a:xfrm>
        </p:spPr>
        <p:txBody>
          <a:bodyPr/>
          <a:lstStyle/>
          <a:p>
            <a:pPr lvl="0" algn="r" rtl="1"/>
            <a:r>
              <a:rPr lang="fa-IR" sz="2800" dirty="0" smtClean="0">
                <a:cs typeface="B Nazanin" panose="00000400000000000000" pitchFamily="2" charset="-78"/>
              </a:rPr>
              <a:t>مدل سازی فرآیند- در متداول ترین حالات:</a:t>
            </a:r>
            <a:br>
              <a:rPr lang="fa-IR" sz="2800" dirty="0" smtClean="0">
                <a:cs typeface="B Nazanin" panose="00000400000000000000" pitchFamily="2" charset="-78"/>
              </a:rPr>
            </a:br>
            <a:endParaRPr lang="fa-IR" sz="2800" dirty="0">
              <a:cs typeface="B Nazanin" panose="000004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pic>
        <p:nvPicPr>
          <p:cNvPr id="7170" name="Picture 2"/>
          <p:cNvPicPr>
            <a:picLocks noChangeAspect="1" noChangeArrowheads="1"/>
          </p:cNvPicPr>
          <p:nvPr/>
        </p:nvPicPr>
        <p:blipFill>
          <a:blip r:embed="rId3" cstate="print"/>
          <a:srcRect/>
          <a:stretch>
            <a:fillRect/>
          </a:stretch>
        </p:blipFill>
        <p:spPr bwMode="auto">
          <a:xfrm>
            <a:off x="251520" y="838935"/>
            <a:ext cx="3309708" cy="556031"/>
          </a:xfrm>
          <a:prstGeom prst="rect">
            <a:avLst/>
          </a:prstGeom>
          <a:noFill/>
          <a:ln w="9525">
            <a:noFill/>
            <a:miter lim="800000"/>
            <a:headEnd/>
            <a:tailEnd/>
          </a:ln>
        </p:spPr>
      </p:pic>
      <p:pic>
        <p:nvPicPr>
          <p:cNvPr id="22" name="Picture 21" descr="fig13.png"/>
          <p:cNvPicPr>
            <a:picLocks noChangeAspect="1"/>
          </p:cNvPicPr>
          <p:nvPr/>
        </p:nvPicPr>
        <p:blipFill rotWithShape="1">
          <a:blip r:embed="rId4" cstate="print"/>
          <a:srcRect l="34302" t="23457" r="34447" b="51148"/>
          <a:stretch/>
        </p:blipFill>
        <p:spPr>
          <a:xfrm>
            <a:off x="470693" y="2313793"/>
            <a:ext cx="2518023" cy="587540"/>
          </a:xfrm>
          <a:prstGeom prst="rect">
            <a:avLst/>
          </a:prstGeom>
          <a:ln>
            <a:noFill/>
          </a:ln>
          <a:effectLst>
            <a:outerShdw blurRad="190500" algn="tl" rotWithShape="0">
              <a:srgbClr val="000000">
                <a:alpha val="70000"/>
              </a:srgbClr>
            </a:outerShdw>
          </a:effectLst>
        </p:spPr>
      </p:pic>
      <p:sp>
        <p:nvSpPr>
          <p:cNvPr id="8" name="Rectangle 7"/>
          <p:cNvSpPr/>
          <p:nvPr/>
        </p:nvSpPr>
        <p:spPr>
          <a:xfrm>
            <a:off x="63510" y="4145012"/>
            <a:ext cx="8749334" cy="2308324"/>
          </a:xfrm>
          <a:prstGeom prst="rect">
            <a:avLst/>
          </a:prstGeom>
        </p:spPr>
        <p:txBody>
          <a:bodyPr wrap="square">
            <a:spAutoFit/>
          </a:bodyPr>
          <a:lstStyle/>
          <a:p>
            <a:r>
              <a:rPr lang="en-US" dirty="0"/>
              <a:t>There are different ways to determine </a:t>
            </a:r>
            <a:r>
              <a:rPr lang="en-US" dirty="0" smtClean="0"/>
              <a:t>T: </a:t>
            </a:r>
          </a:p>
          <a:p>
            <a:pPr marL="285750" indent="-285750">
              <a:buFont typeface="Wingdings" panose="05000000000000000000" pitchFamily="2" charset="2"/>
              <a:buChar char="§"/>
            </a:pPr>
            <a:r>
              <a:rPr lang="en-US" dirty="0" smtClean="0"/>
              <a:t>One </a:t>
            </a:r>
            <a:r>
              <a:rPr lang="en-US" dirty="0"/>
              <a:t>method determines T from the distance AC in Figure 2.8, where the point C is the time when the tangent intersects the line s(t) = K. </a:t>
            </a:r>
            <a:endParaRPr lang="en-US" dirty="0" smtClean="0"/>
          </a:p>
          <a:p>
            <a:pPr marL="285750" indent="-285750">
              <a:buFont typeface="Wingdings" panose="05000000000000000000" pitchFamily="2" charset="2"/>
              <a:buChar char="§"/>
            </a:pPr>
            <a:r>
              <a:rPr lang="en-US" dirty="0" smtClean="0"/>
              <a:t>Another </a:t>
            </a:r>
            <a:r>
              <a:rPr lang="en-US" dirty="0"/>
              <a:t>method determines T from the distance AB in Figure 2.8, where B is the time when the step response has reached the value </a:t>
            </a:r>
            <a:r>
              <a:rPr lang="en-US" dirty="0" smtClean="0"/>
              <a:t>0.63K.</a:t>
            </a:r>
          </a:p>
          <a:p>
            <a:pPr marL="285750" indent="-285750">
              <a:buFont typeface="Wingdings" panose="05000000000000000000" pitchFamily="2" charset="2"/>
              <a:buChar char="§"/>
            </a:pPr>
            <a:r>
              <a:rPr lang="en-US" dirty="0" smtClean="0"/>
              <a:t>Both </a:t>
            </a:r>
            <a:r>
              <a:rPr lang="en-US" dirty="0"/>
              <a:t>methods give identical results if the process </a:t>
            </a:r>
            <a:r>
              <a:rPr lang="en-US" dirty="0" smtClean="0"/>
              <a:t>dynamics, </a:t>
            </a:r>
            <a:r>
              <a:rPr lang="en-US" dirty="0"/>
              <a:t>but they may differ significantly in other cases. The method based on the point B gives normally better approximations. </a:t>
            </a:r>
          </a:p>
        </p:txBody>
      </p:sp>
      <p:pic>
        <p:nvPicPr>
          <p:cNvPr id="23" name="Picture 2"/>
          <p:cNvPicPr>
            <a:picLocks noChangeAspect="1" noChangeArrowheads="1"/>
          </p:cNvPicPr>
          <p:nvPr/>
        </p:nvPicPr>
        <p:blipFill rotWithShape="1">
          <a:blip r:embed="rId5" cstate="print">
            <a:clrChange>
              <a:clrFrom>
                <a:srgbClr val="FFFFFF"/>
              </a:clrFrom>
              <a:clrTo>
                <a:srgbClr val="FFFFFF">
                  <a:alpha val="0"/>
                </a:srgbClr>
              </a:clrTo>
            </a:clrChange>
          </a:blip>
          <a:srcRect b="13847"/>
          <a:stretch/>
        </p:blipFill>
        <p:spPr bwMode="auto">
          <a:xfrm>
            <a:off x="3332957" y="725853"/>
            <a:ext cx="5359052" cy="3588150"/>
          </a:xfrm>
          <a:prstGeom prst="rect">
            <a:avLst/>
          </a:prstGeom>
          <a:noFill/>
          <a:ln w="9525">
            <a:noFill/>
            <a:miter lim="800000"/>
            <a:headEnd/>
            <a:tailEnd/>
          </a:ln>
        </p:spPr>
      </p:pic>
    </p:spTree>
    <p:extLst>
      <p:ext uri="{BB962C8B-B14F-4D97-AF65-F5344CB8AC3E}">
        <p14:creationId xmlns:p14="http://schemas.microsoft.com/office/powerpoint/2010/main" val="226529199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25</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53752"/>
            <a:ext cx="8229600" cy="1143000"/>
          </a:xfrm>
        </p:spPr>
        <p:txBody>
          <a:bodyPr/>
          <a:lstStyle/>
          <a:p>
            <a:pPr lvl="0" algn="r" rtl="1"/>
            <a:r>
              <a:rPr lang="fa-IR" sz="2800" dirty="0" smtClean="0">
                <a:cs typeface="B Nazanin" panose="00000400000000000000" pitchFamily="2" charset="-78"/>
              </a:rPr>
              <a:t>مدل سازی فرآیند- بررسی پاسخ پله فرآیند در متداول ترین حالت:</a:t>
            </a:r>
            <a:br>
              <a:rPr lang="fa-IR" sz="2800" dirty="0" smtClean="0">
                <a:cs typeface="B Nazanin" panose="00000400000000000000" pitchFamily="2" charset="-78"/>
              </a:rPr>
            </a:br>
            <a:endParaRPr lang="fa-IR" sz="2800" dirty="0">
              <a:cs typeface="B Nazanin" panose="000004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sp>
        <p:nvSpPr>
          <p:cNvPr id="14" name="Title 2"/>
          <p:cNvSpPr txBox="1">
            <a:spLocks/>
          </p:cNvSpPr>
          <p:nvPr/>
        </p:nvSpPr>
        <p:spPr bwMode="auto">
          <a:xfrm>
            <a:off x="846138" y="404664"/>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endParaRPr kumimoji="0" lang="fa-IR" sz="32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pic>
        <p:nvPicPr>
          <p:cNvPr id="7170" name="Picture 2"/>
          <p:cNvPicPr>
            <a:picLocks noChangeAspect="1" noChangeArrowheads="1"/>
          </p:cNvPicPr>
          <p:nvPr/>
        </p:nvPicPr>
        <p:blipFill>
          <a:blip r:embed="rId3" cstate="print"/>
          <a:srcRect/>
          <a:stretch>
            <a:fillRect/>
          </a:stretch>
        </p:blipFill>
        <p:spPr bwMode="auto">
          <a:xfrm>
            <a:off x="25516" y="2157983"/>
            <a:ext cx="1993530" cy="334913"/>
          </a:xfrm>
          <a:prstGeom prst="rect">
            <a:avLst/>
          </a:prstGeom>
          <a:noFill/>
          <a:ln w="9525">
            <a:noFill/>
            <a:miter lim="800000"/>
            <a:headEnd/>
            <a:tailEnd/>
          </a:ln>
        </p:spPr>
      </p:pic>
      <p:pic>
        <p:nvPicPr>
          <p:cNvPr id="8194" name="Picture 2"/>
          <p:cNvPicPr>
            <a:picLocks noChangeAspect="1" noChangeArrowheads="1"/>
          </p:cNvPicPr>
          <p:nvPr/>
        </p:nvPicPr>
        <p:blipFill>
          <a:blip r:embed="rId4" cstate="print"/>
          <a:srcRect l="9501" t="56461" r="51350" b="4770"/>
          <a:stretch>
            <a:fillRect/>
          </a:stretch>
        </p:blipFill>
        <p:spPr bwMode="auto">
          <a:xfrm>
            <a:off x="107504" y="2996952"/>
            <a:ext cx="2784309" cy="576064"/>
          </a:xfrm>
          <a:prstGeom prst="rect">
            <a:avLst/>
          </a:prstGeom>
          <a:noFill/>
          <a:ln w="9525">
            <a:noFill/>
            <a:miter lim="800000"/>
            <a:headEnd/>
            <a:tailEnd/>
          </a:ln>
        </p:spPr>
      </p:pic>
      <p:pic>
        <p:nvPicPr>
          <p:cNvPr id="8195" name="Picture 3"/>
          <p:cNvPicPr>
            <a:picLocks noChangeAspect="1" noChangeArrowheads="1"/>
          </p:cNvPicPr>
          <p:nvPr/>
        </p:nvPicPr>
        <p:blipFill>
          <a:blip r:embed="rId4" cstate="print"/>
          <a:srcRect l="56750" t="50000"/>
          <a:stretch>
            <a:fillRect/>
          </a:stretch>
        </p:blipFill>
        <p:spPr bwMode="auto">
          <a:xfrm>
            <a:off x="107504" y="3718491"/>
            <a:ext cx="2975220" cy="718621"/>
          </a:xfrm>
          <a:prstGeom prst="rect">
            <a:avLst/>
          </a:prstGeom>
          <a:noFill/>
          <a:ln w="9525">
            <a:noFill/>
            <a:miter lim="800000"/>
            <a:headEnd/>
            <a:tailEnd/>
          </a:ln>
        </p:spPr>
      </p:pic>
      <p:pic>
        <p:nvPicPr>
          <p:cNvPr id="21" name="Picture 20" descr="fig11.png"/>
          <p:cNvPicPr>
            <a:picLocks noChangeAspect="1"/>
          </p:cNvPicPr>
          <p:nvPr/>
        </p:nvPicPr>
        <p:blipFill>
          <a:blip r:embed="rId5" cstate="print"/>
          <a:srcRect l="69092" b="46159"/>
          <a:stretch>
            <a:fillRect/>
          </a:stretch>
        </p:blipFill>
        <p:spPr>
          <a:xfrm>
            <a:off x="452705" y="1417790"/>
            <a:ext cx="2597274" cy="464486"/>
          </a:xfrm>
          <a:prstGeom prst="rect">
            <a:avLst/>
          </a:prstGeom>
        </p:spPr>
      </p:pic>
      <p:sp>
        <p:nvSpPr>
          <p:cNvPr id="24" name="Down Arrow 23"/>
          <p:cNvSpPr/>
          <p:nvPr/>
        </p:nvSpPr>
        <p:spPr bwMode="auto">
          <a:xfrm>
            <a:off x="1979335" y="2025455"/>
            <a:ext cx="202801" cy="710554"/>
          </a:xfrm>
          <a:prstGeom prst="downArrow">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25" name="Title 2"/>
          <p:cNvSpPr txBox="1">
            <a:spLocks/>
          </p:cNvSpPr>
          <p:nvPr/>
        </p:nvSpPr>
        <p:spPr bwMode="auto">
          <a:xfrm>
            <a:off x="8055073" y="555672"/>
            <a:ext cx="831330" cy="955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Tx/>
              <a:buNone/>
              <a:tabLst/>
              <a:defRPr/>
            </a:pPr>
            <a:r>
              <a:rPr kumimoji="0" lang="fa-IR" sz="2800" b="0" i="0" u="none" strike="noStrike" kern="0" cap="none" spc="0" normalizeH="0" baseline="0" noProof="0" dirty="0" smtClean="0">
                <a:ln>
                  <a:noFill/>
                </a:ln>
                <a:solidFill>
                  <a:schemeClr val="tx2"/>
                </a:solidFill>
                <a:effectLst/>
                <a:uLnTx/>
                <a:uFillTx/>
                <a:latin typeface="+mj-lt"/>
                <a:ea typeface="+mj-ea"/>
                <a:cs typeface="B Nazanin" panose="00000400000000000000" pitchFamily="2" charset="-78"/>
              </a:rPr>
              <a:t>مثال:</a:t>
            </a:r>
            <a:endParaRPr kumimoji="0" lang="fa-IR" sz="28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pic>
        <p:nvPicPr>
          <p:cNvPr id="8196" name="Picture 4"/>
          <p:cNvPicPr>
            <a:picLocks noChangeAspect="1" noChangeArrowheads="1"/>
          </p:cNvPicPr>
          <p:nvPr/>
        </p:nvPicPr>
        <p:blipFill>
          <a:blip r:embed="rId6" cstate="print"/>
          <a:srcRect/>
          <a:stretch>
            <a:fillRect/>
          </a:stretch>
        </p:blipFill>
        <p:spPr bwMode="auto">
          <a:xfrm>
            <a:off x="3118239" y="1196752"/>
            <a:ext cx="4622113" cy="3816424"/>
          </a:xfrm>
          <a:prstGeom prst="rect">
            <a:avLst/>
          </a:prstGeom>
          <a:noFill/>
          <a:ln w="9525">
            <a:noFill/>
            <a:miter lim="800000"/>
            <a:headEnd/>
            <a:tailEnd/>
          </a:ln>
        </p:spPr>
      </p:pic>
      <p:pic>
        <p:nvPicPr>
          <p:cNvPr id="26" name="Picture 25" descr="fig15.png"/>
          <p:cNvPicPr>
            <a:picLocks noChangeAspect="1"/>
          </p:cNvPicPr>
          <p:nvPr/>
        </p:nvPicPr>
        <p:blipFill>
          <a:blip r:embed="rId7" cstate="print"/>
          <a:stretch>
            <a:fillRect/>
          </a:stretch>
        </p:blipFill>
        <p:spPr>
          <a:xfrm>
            <a:off x="2370013" y="4760868"/>
            <a:ext cx="6705725" cy="946691"/>
          </a:xfrm>
          <a:prstGeom prst="rect">
            <a:avLst/>
          </a:prstGeom>
        </p:spPr>
      </p:pic>
      <p:pic>
        <p:nvPicPr>
          <p:cNvPr id="20" name="Picture 3"/>
          <p:cNvPicPr>
            <a:picLocks noChangeAspect="1" noChangeArrowheads="1"/>
          </p:cNvPicPr>
          <p:nvPr/>
        </p:nvPicPr>
        <p:blipFill rotWithShape="1">
          <a:blip r:embed="rId4" cstate="print">
            <a:clrChange>
              <a:clrFrom>
                <a:srgbClr val="FFFFFF"/>
              </a:clrFrom>
              <a:clrTo>
                <a:srgbClr val="FFFFFF">
                  <a:alpha val="0"/>
                </a:srgbClr>
              </a:clrTo>
            </a:clrChange>
          </a:blip>
          <a:srcRect l="60309" t="66673" r="30036" b="7655"/>
          <a:stretch/>
        </p:blipFill>
        <p:spPr bwMode="auto">
          <a:xfrm>
            <a:off x="6012160" y="1484784"/>
            <a:ext cx="648072" cy="360040"/>
          </a:xfrm>
          <a:prstGeom prst="rect">
            <a:avLst/>
          </a:prstGeom>
          <a:noFill/>
          <a:ln w="9525">
            <a:noFill/>
            <a:miter lim="800000"/>
            <a:headEnd/>
            <a:tailEnd/>
          </a:ln>
        </p:spPr>
      </p:pic>
      <p:pic>
        <p:nvPicPr>
          <p:cNvPr id="22" name="Picture 2"/>
          <p:cNvPicPr>
            <a:picLocks noChangeAspect="1" noChangeArrowheads="1"/>
          </p:cNvPicPr>
          <p:nvPr/>
        </p:nvPicPr>
        <p:blipFill rotWithShape="1">
          <a:blip r:embed="rId4" cstate="print"/>
          <a:srcRect l="12449" t="68451" r="77426" b="12165"/>
          <a:stretch/>
        </p:blipFill>
        <p:spPr bwMode="auto">
          <a:xfrm>
            <a:off x="6012160" y="2176060"/>
            <a:ext cx="792089" cy="316836"/>
          </a:xfrm>
          <a:prstGeom prst="rect">
            <a:avLst/>
          </a:prstGeom>
          <a:noFill/>
          <a:ln w="9525">
            <a:noFill/>
            <a:miter lim="800000"/>
            <a:headEnd/>
            <a:tailEnd/>
          </a:ln>
        </p:spPr>
      </p:pic>
      <p:pic>
        <p:nvPicPr>
          <p:cNvPr id="23" name="Picture 22" descr="fig11.png"/>
          <p:cNvPicPr>
            <a:picLocks noChangeAspect="1"/>
          </p:cNvPicPr>
          <p:nvPr/>
        </p:nvPicPr>
        <p:blipFill rotWithShape="1">
          <a:blip r:embed="rId5" cstate="print"/>
          <a:srcRect l="69092" t="8086" r="23304" b="50179"/>
          <a:stretch/>
        </p:blipFill>
        <p:spPr>
          <a:xfrm>
            <a:off x="5210546" y="1341215"/>
            <a:ext cx="612279" cy="345002"/>
          </a:xfrm>
          <a:prstGeom prst="rect">
            <a:avLst/>
          </a:prstGeom>
        </p:spPr>
      </p:pic>
    </p:spTree>
    <p:extLst>
      <p:ext uri="{BB962C8B-B14F-4D97-AF65-F5344CB8AC3E}">
        <p14:creationId xmlns:p14="http://schemas.microsoft.com/office/powerpoint/2010/main" val="202072002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26</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53752"/>
            <a:ext cx="8229600" cy="1143000"/>
          </a:xfrm>
        </p:spPr>
        <p:txBody>
          <a:bodyPr/>
          <a:lstStyle/>
          <a:p>
            <a:pPr lvl="0" algn="r" rtl="1"/>
            <a:r>
              <a:rPr lang="fa-IR" sz="2800" dirty="0" smtClean="0">
                <a:cs typeface="B Nazanin" panose="00000400000000000000" pitchFamily="2" charset="-78"/>
              </a:rPr>
              <a:t>مدل سازی فرآیند- در متداول ترین حالت:</a:t>
            </a:r>
            <a:br>
              <a:rPr lang="fa-IR" sz="2800" dirty="0" smtClean="0">
                <a:cs typeface="B Nazanin" panose="00000400000000000000" pitchFamily="2" charset="-78"/>
              </a:rPr>
            </a:br>
            <a:endParaRPr lang="fa-IR" sz="2800" dirty="0">
              <a:cs typeface="B Nazanin" panose="000004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sp>
        <p:nvSpPr>
          <p:cNvPr id="14" name="Title 2"/>
          <p:cNvSpPr txBox="1">
            <a:spLocks/>
          </p:cNvSpPr>
          <p:nvPr/>
        </p:nvSpPr>
        <p:spPr bwMode="auto">
          <a:xfrm>
            <a:off x="846138" y="404664"/>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endParaRPr kumimoji="0" lang="fa-IR" sz="32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pic>
        <p:nvPicPr>
          <p:cNvPr id="9219" name="Picture 3"/>
          <p:cNvPicPr>
            <a:picLocks noChangeAspect="1" noChangeArrowheads="1"/>
          </p:cNvPicPr>
          <p:nvPr/>
        </p:nvPicPr>
        <p:blipFill>
          <a:blip r:embed="rId3" cstate="print"/>
          <a:srcRect/>
          <a:stretch>
            <a:fillRect/>
          </a:stretch>
        </p:blipFill>
        <p:spPr bwMode="auto">
          <a:xfrm>
            <a:off x="200303" y="3969060"/>
            <a:ext cx="8448263" cy="2016224"/>
          </a:xfrm>
          <a:prstGeom prst="rect">
            <a:avLst/>
          </a:prstGeom>
          <a:noFill/>
          <a:ln w="9525">
            <a:noFill/>
            <a:miter lim="800000"/>
            <a:headEnd/>
            <a:tailEnd/>
          </a:ln>
        </p:spPr>
      </p:pic>
      <p:pic>
        <p:nvPicPr>
          <p:cNvPr id="9220" name="Picture 4"/>
          <p:cNvPicPr>
            <a:picLocks noChangeAspect="1" noChangeArrowheads="1"/>
          </p:cNvPicPr>
          <p:nvPr/>
        </p:nvPicPr>
        <p:blipFill>
          <a:blip r:embed="rId4" cstate="print"/>
          <a:srcRect/>
          <a:stretch>
            <a:fillRect/>
          </a:stretch>
        </p:blipFill>
        <p:spPr bwMode="auto">
          <a:xfrm>
            <a:off x="197941" y="836712"/>
            <a:ext cx="8111379" cy="2781436"/>
          </a:xfrm>
          <a:prstGeom prst="rect">
            <a:avLst/>
          </a:prstGeom>
          <a:noFill/>
          <a:ln w="9525">
            <a:noFill/>
            <a:miter lim="800000"/>
            <a:headEnd/>
            <a:tailEnd/>
          </a:ln>
        </p:spPr>
      </p:pic>
    </p:spTree>
    <p:extLst>
      <p:ext uri="{BB962C8B-B14F-4D97-AF65-F5344CB8AC3E}">
        <p14:creationId xmlns:p14="http://schemas.microsoft.com/office/powerpoint/2010/main" val="202072002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27</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53752"/>
            <a:ext cx="8229600" cy="1143000"/>
          </a:xfrm>
        </p:spPr>
        <p:txBody>
          <a:bodyPr/>
          <a:lstStyle/>
          <a:p>
            <a:pPr lvl="0" algn="r" rtl="1"/>
            <a:r>
              <a:rPr lang="fa-IR" sz="2800" dirty="0" smtClean="0">
                <a:cs typeface="B Nazanin" panose="00000400000000000000" pitchFamily="2" charset="-78"/>
              </a:rPr>
              <a:t>مدل سازی فرآیند- بررسی پاسخ پله فرآیند در متداول ترین حالت:</a:t>
            </a:r>
            <a:br>
              <a:rPr lang="fa-IR" sz="2800" dirty="0" smtClean="0">
                <a:cs typeface="B Nazanin" panose="00000400000000000000" pitchFamily="2" charset="-78"/>
              </a:rPr>
            </a:br>
            <a:endParaRPr lang="fa-IR" sz="2800" dirty="0">
              <a:cs typeface="B Nazanin" panose="000004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sp>
        <p:nvSpPr>
          <p:cNvPr id="14" name="Title 2"/>
          <p:cNvSpPr txBox="1">
            <a:spLocks/>
          </p:cNvSpPr>
          <p:nvPr/>
        </p:nvSpPr>
        <p:spPr bwMode="auto">
          <a:xfrm>
            <a:off x="846138" y="404664"/>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endParaRPr kumimoji="0" lang="fa-IR" sz="32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pic>
        <p:nvPicPr>
          <p:cNvPr id="21" name="Picture 20" descr="fig11.png"/>
          <p:cNvPicPr>
            <a:picLocks noChangeAspect="1"/>
          </p:cNvPicPr>
          <p:nvPr/>
        </p:nvPicPr>
        <p:blipFill>
          <a:blip r:embed="rId3" cstate="print"/>
          <a:srcRect l="69092" b="46159"/>
          <a:stretch>
            <a:fillRect/>
          </a:stretch>
        </p:blipFill>
        <p:spPr>
          <a:xfrm>
            <a:off x="755576" y="1268760"/>
            <a:ext cx="2232248" cy="399206"/>
          </a:xfrm>
          <a:prstGeom prst="rect">
            <a:avLst/>
          </a:prstGeom>
        </p:spPr>
      </p:pic>
      <p:sp>
        <p:nvSpPr>
          <p:cNvPr id="24" name="Down Arrow 23"/>
          <p:cNvSpPr/>
          <p:nvPr/>
        </p:nvSpPr>
        <p:spPr bwMode="auto">
          <a:xfrm>
            <a:off x="1619672" y="1772816"/>
            <a:ext cx="266137" cy="436186"/>
          </a:xfrm>
          <a:prstGeom prst="downArrow">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25" name="Title 2"/>
          <p:cNvSpPr txBox="1">
            <a:spLocks/>
          </p:cNvSpPr>
          <p:nvPr/>
        </p:nvSpPr>
        <p:spPr bwMode="auto">
          <a:xfrm>
            <a:off x="846138" y="836712"/>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Tx/>
              <a:buNone/>
              <a:tabLst/>
              <a:defRPr/>
            </a:pPr>
            <a:r>
              <a:rPr kumimoji="0" lang="fa-IR" sz="2800" b="0" i="0" u="none" strike="noStrike" kern="0" cap="none" spc="0" normalizeH="0" baseline="0" noProof="0" dirty="0" smtClean="0">
                <a:ln>
                  <a:noFill/>
                </a:ln>
                <a:solidFill>
                  <a:schemeClr val="tx2"/>
                </a:solidFill>
                <a:effectLst/>
                <a:uLnTx/>
                <a:uFillTx/>
                <a:latin typeface="+mj-lt"/>
                <a:ea typeface="+mj-ea"/>
                <a:cs typeface="B Nazanin" panose="00000400000000000000" pitchFamily="2" charset="-78"/>
              </a:rPr>
              <a:t>مثال:</a:t>
            </a:r>
            <a:endParaRPr kumimoji="0" lang="fa-IR" sz="28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grpSp>
        <p:nvGrpSpPr>
          <p:cNvPr id="23" name="Group 22"/>
          <p:cNvGrpSpPr/>
          <p:nvPr/>
        </p:nvGrpSpPr>
        <p:grpSpPr>
          <a:xfrm>
            <a:off x="539552" y="3510136"/>
            <a:ext cx="6768752" cy="2691614"/>
            <a:chOff x="467544" y="3803554"/>
            <a:chExt cx="6264696" cy="2412710"/>
          </a:xfrm>
        </p:grpSpPr>
        <p:pic>
          <p:nvPicPr>
            <p:cNvPr id="10242" name="Picture 2"/>
            <p:cNvPicPr>
              <a:picLocks noChangeAspect="1" noChangeArrowheads="1"/>
            </p:cNvPicPr>
            <p:nvPr/>
          </p:nvPicPr>
          <p:blipFill>
            <a:blip r:embed="rId4" cstate="print"/>
            <a:srcRect t="14615"/>
            <a:stretch>
              <a:fillRect/>
            </a:stretch>
          </p:blipFill>
          <p:spPr bwMode="auto">
            <a:xfrm>
              <a:off x="467544" y="3803554"/>
              <a:ext cx="6264696" cy="2188276"/>
            </a:xfrm>
            <a:prstGeom prst="rect">
              <a:avLst/>
            </a:prstGeom>
            <a:noFill/>
            <a:ln w="9525">
              <a:noFill/>
              <a:miter lim="800000"/>
              <a:headEnd/>
              <a:tailEnd/>
            </a:ln>
          </p:spPr>
        </p:pic>
        <p:pic>
          <p:nvPicPr>
            <p:cNvPr id="10243" name="Picture 3"/>
            <p:cNvPicPr>
              <a:picLocks noChangeAspect="1" noChangeArrowheads="1"/>
            </p:cNvPicPr>
            <p:nvPr/>
          </p:nvPicPr>
          <p:blipFill>
            <a:blip r:embed="rId5" cstate="print"/>
            <a:srcRect/>
            <a:stretch>
              <a:fillRect/>
            </a:stretch>
          </p:blipFill>
          <p:spPr bwMode="auto">
            <a:xfrm>
              <a:off x="525038" y="5920252"/>
              <a:ext cx="3960440" cy="296012"/>
            </a:xfrm>
            <a:prstGeom prst="rect">
              <a:avLst/>
            </a:prstGeom>
            <a:noFill/>
            <a:ln w="9525">
              <a:noFill/>
              <a:miter lim="800000"/>
              <a:headEnd/>
              <a:tailEnd/>
            </a:ln>
          </p:spPr>
        </p:pic>
      </p:grpSp>
      <p:pic>
        <p:nvPicPr>
          <p:cNvPr id="27" name="Picture 4"/>
          <p:cNvPicPr>
            <a:picLocks noChangeAspect="1" noChangeArrowheads="1"/>
          </p:cNvPicPr>
          <p:nvPr/>
        </p:nvPicPr>
        <p:blipFill>
          <a:blip r:embed="rId6" cstate="print"/>
          <a:srcRect l="32273" t="23529" r="31419" b="50000"/>
          <a:stretch>
            <a:fillRect/>
          </a:stretch>
        </p:blipFill>
        <p:spPr bwMode="auto">
          <a:xfrm>
            <a:off x="539552" y="2276872"/>
            <a:ext cx="2592288" cy="648072"/>
          </a:xfrm>
          <a:prstGeom prst="rect">
            <a:avLst/>
          </a:prstGeom>
          <a:noFill/>
          <a:ln w="9525">
            <a:noFill/>
            <a:miter lim="800000"/>
            <a:headEnd/>
            <a:tailEnd/>
          </a:ln>
        </p:spPr>
      </p:pic>
      <p:pic>
        <p:nvPicPr>
          <p:cNvPr id="10244" name="Picture 4"/>
          <p:cNvPicPr>
            <a:picLocks noChangeAspect="1" noChangeArrowheads="1"/>
          </p:cNvPicPr>
          <p:nvPr/>
        </p:nvPicPr>
        <p:blipFill>
          <a:blip r:embed="rId7" cstate="print"/>
          <a:srcRect/>
          <a:stretch>
            <a:fillRect/>
          </a:stretch>
        </p:blipFill>
        <p:spPr bwMode="auto">
          <a:xfrm>
            <a:off x="4139952" y="822201"/>
            <a:ext cx="3190875" cy="2390775"/>
          </a:xfrm>
          <a:prstGeom prst="rect">
            <a:avLst/>
          </a:prstGeom>
          <a:noFill/>
          <a:ln w="9525">
            <a:noFill/>
            <a:miter lim="800000"/>
            <a:headEnd/>
            <a:tailEnd/>
          </a:ln>
        </p:spPr>
      </p:pic>
      <p:pic>
        <p:nvPicPr>
          <p:cNvPr id="28" name="Picture 27" descr="fig17.png"/>
          <p:cNvPicPr>
            <a:picLocks noChangeAspect="1"/>
          </p:cNvPicPr>
          <p:nvPr/>
        </p:nvPicPr>
        <p:blipFill>
          <a:blip r:embed="rId8" cstate="print"/>
          <a:stretch>
            <a:fillRect/>
          </a:stretch>
        </p:blipFill>
        <p:spPr>
          <a:xfrm>
            <a:off x="2339752" y="3140968"/>
            <a:ext cx="5553851" cy="523948"/>
          </a:xfrm>
          <a:prstGeom prst="rect">
            <a:avLst/>
          </a:prstGeom>
        </p:spPr>
      </p:pic>
    </p:spTree>
    <p:extLst>
      <p:ext uri="{BB962C8B-B14F-4D97-AF65-F5344CB8AC3E}">
        <p14:creationId xmlns:p14="http://schemas.microsoft.com/office/powerpoint/2010/main" val="202072002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1295400" y="2924944"/>
            <a:ext cx="6400800" cy="1752600"/>
          </a:xfrm>
        </p:spPr>
        <p:txBody>
          <a:bodyPr/>
          <a:lstStyle/>
          <a:p>
            <a:r>
              <a:rPr lang="fa-IR" sz="4000" dirty="0" smtClean="0">
                <a:cs typeface="B Titr" panose="00000700000000000000" pitchFamily="2" charset="-78"/>
              </a:rPr>
              <a:t>طراحی کنترولر</a:t>
            </a:r>
            <a:endParaRPr lang="en-US" sz="4000" dirty="0">
              <a:cs typeface="B Titr" panose="00000700000000000000" pitchFamily="2" charset="-78"/>
            </a:endParaRPr>
          </a:p>
        </p:txBody>
      </p:sp>
    </p:spTree>
    <p:extLst>
      <p:ext uri="{BB962C8B-B14F-4D97-AF65-F5344CB8AC3E}">
        <p14:creationId xmlns:p14="http://schemas.microsoft.com/office/powerpoint/2010/main" val="342946752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29</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18256"/>
            <a:ext cx="8229600" cy="1143000"/>
          </a:xfrm>
        </p:spPr>
        <p:txBody>
          <a:bodyPr/>
          <a:lstStyle/>
          <a:p>
            <a:pPr lvl="0" algn="r" rtl="1"/>
            <a:r>
              <a:rPr lang="fa-IR" sz="2800" dirty="0" smtClean="0">
                <a:cs typeface="B Nazanin" panose="00000400000000000000" pitchFamily="2" charset="-78"/>
              </a:rPr>
              <a:t>انواع کنترولر</a:t>
            </a:r>
            <a:endParaRPr lang="fa-IR" sz="2800" dirty="0">
              <a:cs typeface="B Nazanin" panose="000004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sp>
        <p:nvSpPr>
          <p:cNvPr id="25" name="Title 2"/>
          <p:cNvSpPr txBox="1">
            <a:spLocks/>
          </p:cNvSpPr>
          <p:nvPr/>
        </p:nvSpPr>
        <p:spPr bwMode="auto">
          <a:xfrm>
            <a:off x="846138" y="762000"/>
            <a:ext cx="8229600" cy="857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r>
              <a:rPr kumimoji="0" lang="fa-IR" sz="2800" b="0" i="0" u="none" strike="noStrike" kern="0" cap="none" spc="0" normalizeH="0" baseline="0" noProof="0" dirty="0" smtClean="0">
                <a:ln>
                  <a:noFill/>
                </a:ln>
                <a:solidFill>
                  <a:schemeClr val="tx2"/>
                </a:solidFill>
                <a:effectLst/>
                <a:uLnTx/>
                <a:uFillTx/>
                <a:latin typeface="+mj-lt"/>
                <a:ea typeface="+mj-ea"/>
                <a:cs typeface="B Nazanin" panose="00000400000000000000" pitchFamily="2" charset="-78"/>
              </a:rPr>
              <a:t>کنترولر خاموش و روشن </a:t>
            </a:r>
            <a:r>
              <a:rPr kumimoji="0" lang="en-US" sz="2400" b="0" i="0" u="none" strike="noStrike" kern="0" cap="none" spc="0" normalizeH="0" baseline="0" noProof="0" dirty="0" smtClean="0">
                <a:ln>
                  <a:noFill/>
                </a:ln>
                <a:solidFill>
                  <a:schemeClr val="tx2"/>
                </a:solidFill>
                <a:effectLst/>
                <a:uLnTx/>
                <a:uFillTx/>
                <a:latin typeface="+mj-lt"/>
                <a:ea typeface="+mj-ea"/>
                <a:cs typeface="B Nazanin" panose="00000400000000000000" pitchFamily="2" charset="-78"/>
              </a:rPr>
              <a:t>(On-Off</a:t>
            </a:r>
            <a:r>
              <a:rPr kumimoji="0" lang="en-US" sz="2400" b="0" i="0" u="none" strike="noStrike" kern="0" cap="none" spc="0" normalizeH="0" noProof="0" dirty="0" smtClean="0">
                <a:ln>
                  <a:noFill/>
                </a:ln>
                <a:solidFill>
                  <a:schemeClr val="tx2"/>
                </a:solidFill>
                <a:effectLst/>
                <a:uLnTx/>
                <a:uFillTx/>
                <a:latin typeface="+mj-lt"/>
                <a:ea typeface="+mj-ea"/>
                <a:cs typeface="B Nazanin" panose="00000400000000000000" pitchFamily="2" charset="-78"/>
              </a:rPr>
              <a:t> controller) </a:t>
            </a:r>
            <a:endParaRPr kumimoji="0" lang="fa-IR" sz="28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pic>
        <p:nvPicPr>
          <p:cNvPr id="23" name="Picture 22" descr="fig18.png"/>
          <p:cNvPicPr>
            <a:picLocks noChangeAspect="1"/>
          </p:cNvPicPr>
          <p:nvPr/>
        </p:nvPicPr>
        <p:blipFill>
          <a:blip r:embed="rId3" cstate="print"/>
          <a:stretch>
            <a:fillRect/>
          </a:stretch>
        </p:blipFill>
        <p:spPr>
          <a:xfrm>
            <a:off x="324586" y="1459393"/>
            <a:ext cx="8285296" cy="4631199"/>
          </a:xfrm>
          <a:prstGeom prst="rect">
            <a:avLst/>
          </a:prstGeom>
        </p:spPr>
      </p:pic>
    </p:spTree>
    <p:extLst>
      <p:ext uri="{BB962C8B-B14F-4D97-AF65-F5344CB8AC3E}">
        <p14:creationId xmlns:p14="http://schemas.microsoft.com/office/powerpoint/2010/main" val="202072002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30</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18256"/>
            <a:ext cx="8229600" cy="1143000"/>
          </a:xfrm>
        </p:spPr>
        <p:txBody>
          <a:bodyPr/>
          <a:lstStyle/>
          <a:p>
            <a:pPr lvl="0" algn="r" rtl="1"/>
            <a:r>
              <a:rPr lang="fa-IR" sz="2800" dirty="0" smtClean="0">
                <a:cs typeface="B Nazanin" panose="00000400000000000000" pitchFamily="2" charset="-78"/>
              </a:rPr>
              <a:t>انواع </a:t>
            </a:r>
            <a:r>
              <a:rPr lang="fa-IR" sz="2800" dirty="0" smtClean="0">
                <a:cs typeface="B Nazanin" panose="00000400000000000000" pitchFamily="2" charset="-78"/>
              </a:rPr>
              <a:t>کنترولر- نوع روشن- خاموش</a:t>
            </a:r>
            <a:endParaRPr lang="fa-IR" sz="2800" dirty="0">
              <a:cs typeface="B Nazanin" panose="000004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sp>
        <p:nvSpPr>
          <p:cNvPr id="14" name="Title 2"/>
          <p:cNvSpPr txBox="1">
            <a:spLocks/>
          </p:cNvSpPr>
          <p:nvPr/>
        </p:nvSpPr>
        <p:spPr bwMode="auto">
          <a:xfrm>
            <a:off x="956468" y="476672"/>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endParaRPr kumimoji="0" lang="fa-IR" sz="32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sp>
        <p:nvSpPr>
          <p:cNvPr id="25" name="Title 2"/>
          <p:cNvSpPr txBox="1">
            <a:spLocks/>
          </p:cNvSpPr>
          <p:nvPr/>
        </p:nvSpPr>
        <p:spPr bwMode="auto">
          <a:xfrm>
            <a:off x="-268425" y="554535"/>
            <a:ext cx="9400282"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r>
              <a:rPr lang="en-US" sz="2800" kern="0" dirty="0" smtClean="0">
                <a:solidFill>
                  <a:schemeClr val="tx2"/>
                </a:solidFill>
                <a:latin typeface="+mj-lt"/>
                <a:ea typeface="+mj-ea"/>
                <a:cs typeface="B Nazanin" panose="00000400000000000000" pitchFamily="2" charset="-78"/>
              </a:rPr>
              <a:t>  </a:t>
            </a:r>
            <a:r>
              <a:rPr lang="fa-IR" sz="2800" kern="0" dirty="0" smtClean="0">
                <a:solidFill>
                  <a:schemeClr val="tx2"/>
                </a:solidFill>
                <a:latin typeface="+mj-lt"/>
                <a:ea typeface="+mj-ea"/>
                <a:cs typeface="B Nazanin" panose="00000400000000000000" pitchFamily="2" charset="-78"/>
              </a:rPr>
              <a:t>انواع </a:t>
            </a:r>
            <a:r>
              <a:rPr kumimoji="0" lang="fa-IR" sz="2800" b="0" i="0" u="none" strike="noStrike" kern="0" cap="none" spc="0" normalizeH="0" baseline="0" noProof="0" dirty="0" smtClean="0">
                <a:ln>
                  <a:noFill/>
                </a:ln>
                <a:solidFill>
                  <a:schemeClr val="tx2"/>
                </a:solidFill>
                <a:effectLst/>
                <a:uLnTx/>
                <a:uFillTx/>
                <a:latin typeface="+mj-lt"/>
                <a:ea typeface="+mj-ea"/>
                <a:cs typeface="B Nazanin" panose="00000400000000000000" pitchFamily="2" charset="-78"/>
              </a:rPr>
              <a:t>کنترل </a:t>
            </a:r>
            <a:r>
              <a:rPr kumimoji="0" lang="fa-IR" sz="2800" b="0" i="0" u="none" strike="noStrike" kern="0" cap="none" spc="0" normalizeH="0" baseline="0" noProof="0" dirty="0" smtClean="0">
                <a:ln>
                  <a:noFill/>
                </a:ln>
                <a:solidFill>
                  <a:schemeClr val="tx2"/>
                </a:solidFill>
                <a:effectLst/>
                <a:uLnTx/>
                <a:uFillTx/>
                <a:latin typeface="+mj-lt"/>
                <a:ea typeface="+mj-ea"/>
                <a:cs typeface="B Nazanin" panose="00000400000000000000" pitchFamily="2" charset="-78"/>
              </a:rPr>
              <a:t>روشن-</a:t>
            </a:r>
            <a:r>
              <a:rPr kumimoji="0" lang="fa-IR" sz="2800" b="0" i="0" u="none" strike="noStrike" kern="0" cap="none" spc="0" normalizeH="0" noProof="0" dirty="0" smtClean="0">
                <a:ln>
                  <a:noFill/>
                </a:ln>
                <a:solidFill>
                  <a:schemeClr val="tx2"/>
                </a:solidFill>
                <a:effectLst/>
                <a:uLnTx/>
                <a:uFillTx/>
                <a:latin typeface="+mj-lt"/>
                <a:ea typeface="+mj-ea"/>
                <a:cs typeface="B Nazanin" panose="00000400000000000000" pitchFamily="2" charset="-78"/>
              </a:rPr>
              <a:t> خاموش </a:t>
            </a:r>
            <a:r>
              <a:rPr kumimoji="0" lang="fa-IR" sz="2800" b="0" i="0" u="none" strike="noStrike" kern="0" cap="none" spc="0" normalizeH="0" baseline="0" noProof="0" dirty="0" smtClean="0">
                <a:ln>
                  <a:noFill/>
                </a:ln>
                <a:solidFill>
                  <a:schemeClr val="tx2"/>
                </a:solidFill>
                <a:effectLst/>
                <a:uLnTx/>
                <a:uFillTx/>
                <a:latin typeface="+mj-lt"/>
                <a:ea typeface="+mj-ea"/>
                <a:cs typeface="B Nazanin" panose="00000400000000000000" pitchFamily="2" charset="-78"/>
              </a:rPr>
              <a:t>(ایده</a:t>
            </a:r>
            <a:r>
              <a:rPr kumimoji="0" lang="fa-IR" sz="2800" b="0" i="0" u="none" strike="noStrike" kern="0" cap="none" spc="0" normalizeH="0" noProof="0" dirty="0" smtClean="0">
                <a:ln>
                  <a:noFill/>
                </a:ln>
                <a:solidFill>
                  <a:schemeClr val="tx2"/>
                </a:solidFill>
                <a:effectLst/>
                <a:uLnTx/>
                <a:uFillTx/>
                <a:latin typeface="+mj-lt"/>
                <a:ea typeface="+mj-ea"/>
                <a:cs typeface="B Nazanin" panose="00000400000000000000" pitchFamily="2" charset="-78"/>
              </a:rPr>
              <a:t> آل و </a:t>
            </a:r>
            <a:r>
              <a:rPr kumimoji="0" lang="fa-IR" sz="2800" b="0" i="0" u="none" strike="noStrike" kern="0" cap="none" spc="0" normalizeH="0" baseline="0" noProof="0" dirty="0" smtClean="0">
                <a:ln>
                  <a:noFill/>
                </a:ln>
                <a:solidFill>
                  <a:schemeClr val="tx2"/>
                </a:solidFill>
                <a:effectLst/>
                <a:uLnTx/>
                <a:uFillTx/>
                <a:latin typeface="+mj-lt"/>
                <a:ea typeface="+mj-ea"/>
                <a:cs typeface="B Nazanin" panose="00000400000000000000" pitchFamily="2" charset="-78"/>
              </a:rPr>
              <a:t>توسعه</a:t>
            </a:r>
            <a:r>
              <a:rPr kumimoji="0" lang="fa-IR" sz="2800" b="0" i="0" u="none" strike="noStrike" kern="0" cap="none" spc="0" normalizeH="0" noProof="0" dirty="0" smtClean="0">
                <a:ln>
                  <a:noFill/>
                </a:ln>
                <a:solidFill>
                  <a:schemeClr val="tx2"/>
                </a:solidFill>
                <a:effectLst/>
                <a:uLnTx/>
                <a:uFillTx/>
                <a:latin typeface="+mj-lt"/>
                <a:ea typeface="+mj-ea"/>
                <a:cs typeface="B Nazanin" panose="00000400000000000000" pitchFamily="2" charset="-78"/>
              </a:rPr>
              <a:t> یافته با ناحیه مرده و </a:t>
            </a:r>
            <a:r>
              <a:rPr kumimoji="0" lang="fa-IR" sz="2400" b="0" i="0" u="none" strike="noStrike" kern="0" cap="none" spc="0" normalizeH="0" noProof="0" dirty="0" smtClean="0">
                <a:ln>
                  <a:noFill/>
                </a:ln>
                <a:solidFill>
                  <a:schemeClr val="tx2"/>
                </a:solidFill>
                <a:effectLst/>
                <a:uLnTx/>
                <a:uFillTx/>
                <a:latin typeface="+mj-lt"/>
                <a:ea typeface="+mj-ea"/>
                <a:cs typeface="B Nazanin" panose="00000400000000000000" pitchFamily="2" charset="-78"/>
              </a:rPr>
              <a:t>هیسترزیس</a:t>
            </a:r>
            <a:r>
              <a:rPr kumimoji="0" lang="fa-IR" sz="2800" b="0" i="0" u="none" strike="noStrike" kern="0" cap="none" spc="0" normalizeH="0" noProof="0" dirty="0" smtClean="0">
                <a:ln>
                  <a:noFill/>
                </a:ln>
                <a:solidFill>
                  <a:schemeClr val="tx2"/>
                </a:solidFill>
                <a:effectLst/>
                <a:uLnTx/>
                <a:uFillTx/>
                <a:latin typeface="+mj-lt"/>
                <a:ea typeface="+mj-ea"/>
                <a:cs typeface="B Nazanin" panose="00000400000000000000" pitchFamily="2" charset="-78"/>
              </a:rPr>
              <a:t>)</a:t>
            </a:r>
            <a:endParaRPr kumimoji="0" lang="fa-IR" sz="28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pic>
        <p:nvPicPr>
          <p:cNvPr id="12290" name="Picture 2"/>
          <p:cNvPicPr>
            <a:picLocks noChangeAspect="1" noChangeArrowheads="1"/>
          </p:cNvPicPr>
          <p:nvPr/>
        </p:nvPicPr>
        <p:blipFill>
          <a:blip r:embed="rId3" cstate="print"/>
          <a:srcRect/>
          <a:stretch>
            <a:fillRect/>
          </a:stretch>
        </p:blipFill>
        <p:spPr bwMode="auto">
          <a:xfrm>
            <a:off x="334943" y="1876264"/>
            <a:ext cx="8474112" cy="3600400"/>
          </a:xfrm>
          <a:prstGeom prst="rect">
            <a:avLst/>
          </a:prstGeom>
          <a:noFill/>
          <a:ln w="9525">
            <a:noFill/>
            <a:miter lim="800000"/>
            <a:headEnd/>
            <a:tailEnd/>
          </a:ln>
        </p:spPr>
      </p:pic>
    </p:spTree>
    <p:extLst>
      <p:ext uri="{BB962C8B-B14F-4D97-AF65-F5344CB8AC3E}">
        <p14:creationId xmlns:p14="http://schemas.microsoft.com/office/powerpoint/2010/main" val="202072002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31</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18256"/>
            <a:ext cx="8229600" cy="1143000"/>
          </a:xfrm>
        </p:spPr>
        <p:txBody>
          <a:bodyPr/>
          <a:lstStyle/>
          <a:p>
            <a:pPr lvl="0" algn="r" rtl="1"/>
            <a:r>
              <a:rPr lang="fa-IR" sz="2800" dirty="0" smtClean="0">
                <a:cs typeface="B Nazanin" panose="00000400000000000000" pitchFamily="2" charset="-78"/>
              </a:rPr>
              <a:t>انواع کنترولر- </a:t>
            </a:r>
            <a:r>
              <a:rPr lang="fa-IR" sz="2800" dirty="0" smtClean="0">
                <a:cs typeface="B Nazanin" panose="00000400000000000000" pitchFamily="2" charset="-78"/>
              </a:rPr>
              <a:t>کنترولر نوع </a:t>
            </a:r>
            <a:r>
              <a:rPr lang="en-US" sz="2800" dirty="0" smtClean="0">
                <a:cs typeface="B Nazanin" panose="00000400000000000000" pitchFamily="2" charset="-78"/>
              </a:rPr>
              <a:t>PID</a:t>
            </a:r>
            <a:endParaRPr lang="fa-IR" sz="2800" dirty="0">
              <a:cs typeface="B Nazanin" panose="000004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sp>
        <p:nvSpPr>
          <p:cNvPr id="14" name="Title 2"/>
          <p:cNvSpPr txBox="1">
            <a:spLocks/>
          </p:cNvSpPr>
          <p:nvPr/>
        </p:nvSpPr>
        <p:spPr bwMode="auto">
          <a:xfrm>
            <a:off x="846138" y="404664"/>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endParaRPr kumimoji="0" lang="fa-IR" sz="32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sp>
        <p:nvSpPr>
          <p:cNvPr id="25" name="Title 2"/>
          <p:cNvSpPr txBox="1">
            <a:spLocks/>
          </p:cNvSpPr>
          <p:nvPr/>
        </p:nvSpPr>
        <p:spPr bwMode="auto">
          <a:xfrm>
            <a:off x="846138" y="473230"/>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r>
              <a:rPr lang="en-US" sz="2800" kern="0" dirty="0" smtClean="0">
                <a:solidFill>
                  <a:schemeClr val="tx2"/>
                </a:solidFill>
                <a:latin typeface="+mj-lt"/>
                <a:ea typeface="+mj-ea"/>
                <a:cs typeface="B Nazanin" panose="00000400000000000000" pitchFamily="2" charset="-78"/>
              </a:rPr>
              <a:t>  </a:t>
            </a:r>
            <a:r>
              <a:rPr lang="fa-IR" sz="2800" kern="0" dirty="0">
                <a:solidFill>
                  <a:schemeClr val="tx2"/>
                </a:solidFill>
                <a:latin typeface="+mj-lt"/>
                <a:ea typeface="+mj-ea"/>
                <a:cs typeface="B Nazanin" panose="00000400000000000000" pitchFamily="2" charset="-78"/>
              </a:rPr>
              <a:t> </a:t>
            </a:r>
            <a:r>
              <a:rPr lang="fa-IR" sz="2800" kern="0" dirty="0" smtClean="0">
                <a:solidFill>
                  <a:schemeClr val="tx2"/>
                </a:solidFill>
                <a:latin typeface="+mj-lt"/>
                <a:ea typeface="+mj-ea"/>
                <a:cs typeface="B Nazanin" panose="00000400000000000000" pitchFamily="2" charset="-78"/>
              </a:rPr>
              <a:t>معرفی</a:t>
            </a:r>
            <a:endParaRPr kumimoji="0" lang="fa-IR" sz="28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sp>
        <p:nvSpPr>
          <p:cNvPr id="2" name="Rectangle 1"/>
          <p:cNvSpPr/>
          <p:nvPr/>
        </p:nvSpPr>
        <p:spPr>
          <a:xfrm>
            <a:off x="289297" y="1122040"/>
            <a:ext cx="8383786" cy="4708981"/>
          </a:xfrm>
          <a:prstGeom prst="rect">
            <a:avLst/>
          </a:prstGeom>
        </p:spPr>
        <p:txBody>
          <a:bodyPr wrap="square">
            <a:spAutoFit/>
          </a:bodyPr>
          <a:lstStyle/>
          <a:p>
            <a:r>
              <a:rPr lang="en-US" sz="2000" dirty="0"/>
              <a:t>The PID controller has several important functions: </a:t>
            </a:r>
            <a:endParaRPr lang="en-US" sz="2000" dirty="0" smtClean="0"/>
          </a:p>
          <a:p>
            <a:pPr marL="285750" indent="-285750">
              <a:buFont typeface="Wingdings" panose="05000000000000000000" pitchFamily="2" charset="2"/>
              <a:buChar char="ü"/>
            </a:pPr>
            <a:r>
              <a:rPr lang="en-US" sz="2000" dirty="0" smtClean="0"/>
              <a:t>It </a:t>
            </a:r>
            <a:r>
              <a:rPr lang="en-US" sz="2000" dirty="0"/>
              <a:t>provides </a:t>
            </a:r>
            <a:r>
              <a:rPr lang="en-US" sz="2000" dirty="0" smtClean="0"/>
              <a:t>feed</a:t>
            </a:r>
            <a:r>
              <a:rPr lang="en-US" sz="2000" dirty="0"/>
              <a:t>b</a:t>
            </a:r>
            <a:r>
              <a:rPr lang="en-US" sz="2000" dirty="0" smtClean="0"/>
              <a:t>ack;</a:t>
            </a:r>
          </a:p>
          <a:p>
            <a:pPr marL="285750" indent="-285750">
              <a:buFont typeface="Wingdings" panose="05000000000000000000" pitchFamily="2" charset="2"/>
              <a:buChar char="ü"/>
            </a:pPr>
            <a:r>
              <a:rPr lang="en-US" sz="2000" dirty="0" smtClean="0"/>
              <a:t> It </a:t>
            </a:r>
            <a:r>
              <a:rPr lang="en-US" sz="2000" dirty="0"/>
              <a:t>has the ability to eliminate steady state offsets </a:t>
            </a:r>
            <a:r>
              <a:rPr lang="en-US" sz="2000" dirty="0" smtClean="0"/>
              <a:t>through integral </a:t>
            </a:r>
            <a:r>
              <a:rPr lang="en-US" sz="2000" dirty="0"/>
              <a:t>action</a:t>
            </a:r>
            <a:r>
              <a:rPr lang="en-US" sz="2000" dirty="0" smtClean="0"/>
              <a:t>;</a:t>
            </a:r>
          </a:p>
          <a:p>
            <a:pPr marL="285750" indent="-285750">
              <a:buFont typeface="Wingdings" panose="05000000000000000000" pitchFamily="2" charset="2"/>
              <a:buChar char="ü"/>
            </a:pPr>
            <a:r>
              <a:rPr lang="en-US" sz="2000" dirty="0" smtClean="0"/>
              <a:t>It </a:t>
            </a:r>
            <a:r>
              <a:rPr lang="en-US" sz="2000" dirty="0"/>
              <a:t>can anticipate the future through derivative action. </a:t>
            </a:r>
            <a:endParaRPr lang="en-US" sz="2000" dirty="0" smtClean="0"/>
          </a:p>
          <a:p>
            <a:endParaRPr lang="en-US" sz="2000" dirty="0" smtClean="0"/>
          </a:p>
          <a:p>
            <a:pPr algn="just"/>
            <a:r>
              <a:rPr lang="en-US" sz="2000" dirty="0" smtClean="0"/>
              <a:t>PID </a:t>
            </a:r>
            <a:r>
              <a:rPr lang="en-US" sz="2000" dirty="0"/>
              <a:t>controllers are found in large numbers in all </a:t>
            </a:r>
            <a:r>
              <a:rPr lang="en-US" sz="2000" dirty="0" smtClean="0"/>
              <a:t>industries</a:t>
            </a:r>
            <a:r>
              <a:rPr lang="en-US" sz="2000" dirty="0"/>
              <a:t>. The controllers come in many different forms. There are </a:t>
            </a:r>
            <a:r>
              <a:rPr lang="en-US" sz="2000" dirty="0" smtClean="0"/>
              <a:t>standalone </a:t>
            </a:r>
            <a:r>
              <a:rPr lang="en-US" sz="2000" dirty="0"/>
              <a:t>systems in boxes for one or a few loops, which are manufactured by the hundred thousands yearly. PID control is an important </a:t>
            </a:r>
            <a:r>
              <a:rPr lang="en-US" sz="2000" dirty="0" smtClean="0"/>
              <a:t>ingredient </a:t>
            </a:r>
            <a:r>
              <a:rPr lang="en-US" sz="2000" dirty="0"/>
              <a:t>of a distributed control system. The controllers are also </a:t>
            </a:r>
            <a:r>
              <a:rPr lang="en-US" sz="2000" dirty="0" smtClean="0"/>
              <a:t>embedded </a:t>
            </a:r>
            <a:r>
              <a:rPr lang="en-US" sz="2000" dirty="0"/>
              <a:t>in many special-purpose control systems. In process control, more than 95% of the control loops are of PID type, most loops are actually PI control. Many useful features of PID control have not been widely disseminated because they have been considered trade </a:t>
            </a:r>
            <a:r>
              <a:rPr lang="en-US" sz="2000" dirty="0" smtClean="0"/>
              <a:t>secrets.</a:t>
            </a:r>
            <a:endParaRPr lang="en-US" sz="2000" dirty="0"/>
          </a:p>
        </p:txBody>
      </p:sp>
    </p:spTree>
    <p:extLst>
      <p:ext uri="{BB962C8B-B14F-4D97-AF65-F5344CB8AC3E}">
        <p14:creationId xmlns:p14="http://schemas.microsoft.com/office/powerpoint/2010/main" val="155429161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32</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18256"/>
            <a:ext cx="8229600" cy="1143000"/>
          </a:xfrm>
        </p:spPr>
        <p:txBody>
          <a:bodyPr/>
          <a:lstStyle/>
          <a:p>
            <a:pPr lvl="0" algn="r" rtl="1"/>
            <a:r>
              <a:rPr lang="fa-IR" sz="2800" dirty="0" smtClean="0">
                <a:cs typeface="B Nazanin" panose="00000400000000000000" pitchFamily="2" charset="-78"/>
              </a:rPr>
              <a:t>کنترولر </a:t>
            </a:r>
            <a:r>
              <a:rPr lang="en-US" sz="2800" dirty="0" smtClean="0">
                <a:cs typeface="B Nazanin" panose="00000400000000000000" pitchFamily="2" charset="-78"/>
              </a:rPr>
              <a:t>PID</a:t>
            </a:r>
            <a:endParaRPr lang="fa-IR" sz="2800" dirty="0">
              <a:cs typeface="B Nazanin" panose="00000400000000000000" pitchFamily="2" charset="-78"/>
            </a:endParaRPr>
          </a:p>
        </p:txBody>
      </p:sp>
      <p:sp>
        <p:nvSpPr>
          <p:cNvPr id="19" name="Rectangle 18"/>
          <p:cNvSpPr/>
          <p:nvPr/>
        </p:nvSpPr>
        <p:spPr>
          <a:xfrm>
            <a:off x="56010" y="6363580"/>
            <a:ext cx="9324528" cy="523220"/>
          </a:xfrm>
          <a:prstGeom prst="rect">
            <a:avLst/>
          </a:prstGeom>
        </p:spPr>
        <p:txBody>
          <a:bodyPr wrap="square">
            <a:spAutoFit/>
          </a:bodyPr>
          <a:lstStyle/>
          <a:p>
            <a:r>
              <a:rPr lang="en-US" sz="1400" dirty="0" smtClean="0">
                <a:solidFill>
                  <a:schemeClr val="bg1"/>
                </a:solidFill>
              </a:rPr>
              <a:t>H. </a:t>
            </a:r>
            <a:r>
              <a:rPr lang="en-US" sz="1400" dirty="0">
                <a:solidFill>
                  <a:schemeClr val="bg1"/>
                </a:solidFill>
              </a:rPr>
              <a:t>L. </a:t>
            </a:r>
            <a:r>
              <a:rPr lang="en-US" sz="1400" dirty="0" smtClean="0">
                <a:solidFill>
                  <a:schemeClr val="bg1"/>
                </a:solidFill>
              </a:rPr>
              <a:t>Wade, Basic </a:t>
            </a:r>
            <a:r>
              <a:rPr lang="en-US" sz="1400" dirty="0">
                <a:solidFill>
                  <a:schemeClr val="bg1"/>
                </a:solidFill>
              </a:rPr>
              <a:t>and Advanced Regulatory Control: System Design and </a:t>
            </a:r>
            <a:r>
              <a:rPr lang="en-US" sz="1400" dirty="0" smtClean="0">
                <a:solidFill>
                  <a:schemeClr val="bg1"/>
                </a:solidFill>
              </a:rPr>
              <a:t>Application, ISA (The </a:t>
            </a:r>
            <a:r>
              <a:rPr lang="en-US" sz="1400" dirty="0">
                <a:solidFill>
                  <a:schemeClr val="bg1"/>
                </a:solidFill>
              </a:rPr>
              <a:t>Instrumentation, Systems, and Automation </a:t>
            </a:r>
            <a:r>
              <a:rPr lang="en-US" sz="1400" dirty="0" smtClean="0">
                <a:solidFill>
                  <a:schemeClr val="bg1"/>
                </a:solidFill>
              </a:rPr>
              <a:t>Society) 2nd Edition, 2010.</a:t>
            </a:r>
            <a:endParaRPr lang="fa-IR" sz="1400" dirty="0">
              <a:solidFill>
                <a:schemeClr val="bg1"/>
              </a:solidFill>
            </a:endParaRPr>
          </a:p>
        </p:txBody>
      </p:sp>
      <p:sp>
        <p:nvSpPr>
          <p:cNvPr id="14" name="Title 2"/>
          <p:cNvSpPr txBox="1">
            <a:spLocks/>
          </p:cNvSpPr>
          <p:nvPr/>
        </p:nvSpPr>
        <p:spPr bwMode="auto">
          <a:xfrm>
            <a:off x="846138" y="404664"/>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endParaRPr kumimoji="0" lang="fa-IR" sz="32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sp>
        <p:nvSpPr>
          <p:cNvPr id="25" name="Title 2"/>
          <p:cNvSpPr txBox="1">
            <a:spLocks/>
          </p:cNvSpPr>
          <p:nvPr/>
        </p:nvSpPr>
        <p:spPr bwMode="auto">
          <a:xfrm>
            <a:off x="846138" y="476672"/>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r>
              <a:rPr lang="en-US" sz="2800" kern="0" dirty="0" smtClean="0">
                <a:solidFill>
                  <a:schemeClr val="tx2"/>
                </a:solidFill>
                <a:latin typeface="+mj-lt"/>
                <a:ea typeface="+mj-ea"/>
                <a:cs typeface="B Nazanin" panose="00000400000000000000" pitchFamily="2" charset="-78"/>
              </a:rPr>
              <a:t>  </a:t>
            </a:r>
            <a:r>
              <a:rPr lang="fa-IR" sz="2800" kern="0" dirty="0">
                <a:solidFill>
                  <a:schemeClr val="tx2"/>
                </a:solidFill>
                <a:latin typeface="+mj-lt"/>
                <a:ea typeface="+mj-ea"/>
                <a:cs typeface="B Nazanin" panose="00000400000000000000" pitchFamily="2" charset="-78"/>
              </a:rPr>
              <a:t> </a:t>
            </a:r>
            <a:r>
              <a:rPr lang="fa-IR" sz="2800" kern="0" dirty="0" smtClean="0">
                <a:solidFill>
                  <a:schemeClr val="tx2"/>
                </a:solidFill>
                <a:latin typeface="+mj-lt"/>
                <a:ea typeface="+mj-ea"/>
                <a:cs typeface="B Nazanin" panose="00000400000000000000" pitchFamily="2" charset="-78"/>
              </a:rPr>
              <a:t>کاربردهای انواع ترکیبات </a:t>
            </a:r>
            <a:r>
              <a:rPr lang="en-US" sz="2800" kern="0" dirty="0" smtClean="0">
                <a:solidFill>
                  <a:schemeClr val="tx2"/>
                </a:solidFill>
                <a:latin typeface="+mj-lt"/>
                <a:ea typeface="+mj-ea"/>
                <a:cs typeface="B Nazanin" panose="00000400000000000000" pitchFamily="2" charset="-78"/>
              </a:rPr>
              <a:t>P</a:t>
            </a:r>
            <a:r>
              <a:rPr lang="fa-IR" sz="2800" kern="0" dirty="0" smtClean="0">
                <a:solidFill>
                  <a:schemeClr val="tx2"/>
                </a:solidFill>
                <a:latin typeface="+mj-lt"/>
                <a:ea typeface="+mj-ea"/>
                <a:cs typeface="B Nazanin" panose="00000400000000000000" pitchFamily="2" charset="-78"/>
              </a:rPr>
              <a:t>، </a:t>
            </a:r>
            <a:r>
              <a:rPr lang="en-US" sz="2800" kern="0" dirty="0" smtClean="0">
                <a:solidFill>
                  <a:schemeClr val="tx2"/>
                </a:solidFill>
                <a:latin typeface="+mj-lt"/>
                <a:ea typeface="+mj-ea"/>
                <a:cs typeface="B Nazanin" panose="00000400000000000000" pitchFamily="2" charset="-78"/>
              </a:rPr>
              <a:t>I</a:t>
            </a:r>
            <a:r>
              <a:rPr lang="fa-IR" sz="2800" kern="0" dirty="0" smtClean="0">
                <a:solidFill>
                  <a:schemeClr val="tx2"/>
                </a:solidFill>
                <a:latin typeface="+mj-lt"/>
                <a:ea typeface="+mj-ea"/>
                <a:cs typeface="B Nazanin" panose="00000400000000000000" pitchFamily="2" charset="-78"/>
              </a:rPr>
              <a:t> و </a:t>
            </a:r>
            <a:r>
              <a:rPr lang="en-US" sz="2800" kern="0" dirty="0" smtClean="0">
                <a:solidFill>
                  <a:schemeClr val="tx2"/>
                </a:solidFill>
                <a:latin typeface="+mj-lt"/>
                <a:ea typeface="+mj-ea"/>
                <a:cs typeface="B Nazanin" panose="00000400000000000000" pitchFamily="2" charset="-78"/>
              </a:rPr>
              <a:t>D</a:t>
            </a:r>
            <a:r>
              <a:rPr lang="fa-IR" sz="2800" kern="0" dirty="0" smtClean="0">
                <a:solidFill>
                  <a:schemeClr val="tx2"/>
                </a:solidFill>
                <a:latin typeface="+mj-lt"/>
                <a:ea typeface="+mj-ea"/>
                <a:cs typeface="B Nazanin" panose="00000400000000000000" pitchFamily="2" charset="-78"/>
              </a:rPr>
              <a:t> (تناسبی، انتگرالی و مشتقی)</a:t>
            </a:r>
            <a:endParaRPr kumimoji="0" lang="fa-IR" sz="28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l="24557" t="40254" r="16864" b="33272"/>
          <a:stretch/>
        </p:blipFill>
        <p:spPr>
          <a:xfrm>
            <a:off x="180989" y="1907704"/>
            <a:ext cx="8894749" cy="2260093"/>
          </a:xfrm>
          <a:prstGeom prst="rect">
            <a:avLst/>
          </a:prstGeom>
        </p:spPr>
      </p:pic>
    </p:spTree>
    <p:extLst>
      <p:ext uri="{BB962C8B-B14F-4D97-AF65-F5344CB8AC3E}">
        <p14:creationId xmlns:p14="http://schemas.microsoft.com/office/powerpoint/2010/main" val="245072428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33</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171400"/>
            <a:ext cx="8229600" cy="1143000"/>
          </a:xfrm>
        </p:spPr>
        <p:txBody>
          <a:bodyPr/>
          <a:lstStyle/>
          <a:p>
            <a:pPr lvl="0" algn="r" rtl="1"/>
            <a:r>
              <a:rPr lang="fa-IR" sz="2800" dirty="0" smtClean="0">
                <a:cs typeface="B Nazanin" panose="00000400000000000000" pitchFamily="2" charset="-78"/>
              </a:rPr>
              <a:t> کنترولر </a:t>
            </a:r>
            <a:r>
              <a:rPr lang="en-US" sz="2800" dirty="0" smtClean="0">
                <a:cs typeface="B Nazanin" panose="00000400000000000000" pitchFamily="2" charset="-78"/>
              </a:rPr>
              <a:t>PID</a:t>
            </a:r>
            <a:endParaRPr lang="fa-IR" sz="2800" dirty="0">
              <a:cs typeface="B Nazanin" panose="000004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sp>
        <p:nvSpPr>
          <p:cNvPr id="14" name="Title 2"/>
          <p:cNvSpPr txBox="1">
            <a:spLocks/>
          </p:cNvSpPr>
          <p:nvPr/>
        </p:nvSpPr>
        <p:spPr bwMode="auto">
          <a:xfrm>
            <a:off x="846138" y="404664"/>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endParaRPr kumimoji="0" lang="fa-IR" sz="32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sp>
        <p:nvSpPr>
          <p:cNvPr id="25" name="Title 2"/>
          <p:cNvSpPr txBox="1">
            <a:spLocks/>
          </p:cNvSpPr>
          <p:nvPr/>
        </p:nvSpPr>
        <p:spPr bwMode="auto">
          <a:xfrm>
            <a:off x="846138" y="476672"/>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endParaRPr kumimoji="0" lang="fa-IR" sz="28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pic>
        <p:nvPicPr>
          <p:cNvPr id="17410" name="Picture 2"/>
          <p:cNvPicPr>
            <a:picLocks noChangeAspect="1" noChangeArrowheads="1"/>
          </p:cNvPicPr>
          <p:nvPr/>
        </p:nvPicPr>
        <p:blipFill>
          <a:blip r:embed="rId3" cstate="print"/>
          <a:srcRect/>
          <a:stretch>
            <a:fillRect/>
          </a:stretch>
        </p:blipFill>
        <p:spPr bwMode="auto">
          <a:xfrm>
            <a:off x="-8687" y="762000"/>
            <a:ext cx="8253096" cy="3027040"/>
          </a:xfrm>
          <a:prstGeom prst="rect">
            <a:avLst/>
          </a:prstGeom>
          <a:noFill/>
          <a:ln w="9525">
            <a:noFill/>
            <a:miter lim="800000"/>
            <a:headEnd/>
            <a:tailEnd/>
          </a:ln>
        </p:spPr>
      </p:pic>
      <p:pic>
        <p:nvPicPr>
          <p:cNvPr id="17411" name="Picture 3"/>
          <p:cNvPicPr>
            <a:picLocks noChangeAspect="1" noChangeArrowheads="1"/>
          </p:cNvPicPr>
          <p:nvPr/>
        </p:nvPicPr>
        <p:blipFill>
          <a:blip r:embed="rId4" cstate="print"/>
          <a:srcRect/>
          <a:stretch>
            <a:fillRect/>
          </a:stretch>
        </p:blipFill>
        <p:spPr bwMode="auto">
          <a:xfrm>
            <a:off x="2843808" y="3789040"/>
            <a:ext cx="3296616" cy="2520280"/>
          </a:xfrm>
          <a:prstGeom prst="rect">
            <a:avLst/>
          </a:prstGeom>
          <a:noFill/>
          <a:ln w="9525">
            <a:noFill/>
            <a:miter lim="800000"/>
            <a:headEnd/>
            <a:tailEnd/>
          </a:ln>
        </p:spPr>
      </p:pic>
    </p:spTree>
    <p:extLst>
      <p:ext uri="{BB962C8B-B14F-4D97-AF65-F5344CB8AC3E}">
        <p14:creationId xmlns:p14="http://schemas.microsoft.com/office/powerpoint/2010/main" val="230439646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34</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761998" y="-127582"/>
            <a:ext cx="8229600" cy="1143000"/>
          </a:xfrm>
        </p:spPr>
        <p:txBody>
          <a:bodyPr/>
          <a:lstStyle/>
          <a:p>
            <a:pPr lvl="0" algn="r" rtl="1"/>
            <a:r>
              <a:rPr lang="fa-IR" sz="2800" dirty="0" smtClean="0">
                <a:cs typeface="B Nazanin" panose="00000400000000000000" pitchFamily="2" charset="-78"/>
              </a:rPr>
              <a:t>کنترولر نوع تناسبی </a:t>
            </a:r>
            <a:r>
              <a:rPr lang="en-US" sz="2800" dirty="0" smtClean="0">
                <a:cs typeface="B Nazanin" panose="00000400000000000000" pitchFamily="2" charset="-78"/>
              </a:rPr>
              <a:t>(P)</a:t>
            </a:r>
            <a:endParaRPr lang="fa-IR" sz="2800" dirty="0">
              <a:cs typeface="B Nazanin" panose="00000400000000000000" pitchFamily="2" charset="-78"/>
            </a:endParaRPr>
          </a:p>
        </p:txBody>
      </p:sp>
      <p:sp>
        <p:nvSpPr>
          <p:cNvPr id="19" name="Rectangle 18"/>
          <p:cNvSpPr/>
          <p:nvPr/>
        </p:nvSpPr>
        <p:spPr>
          <a:xfrm>
            <a:off x="56010" y="6363580"/>
            <a:ext cx="9324528" cy="523220"/>
          </a:xfrm>
          <a:prstGeom prst="rect">
            <a:avLst/>
          </a:prstGeom>
        </p:spPr>
        <p:txBody>
          <a:bodyPr wrap="square">
            <a:spAutoFit/>
          </a:bodyPr>
          <a:lstStyle/>
          <a:p>
            <a:r>
              <a:rPr lang="en-US" sz="1400" dirty="0" smtClean="0">
                <a:solidFill>
                  <a:schemeClr val="bg1"/>
                </a:solidFill>
              </a:rPr>
              <a:t>H. </a:t>
            </a:r>
            <a:r>
              <a:rPr lang="en-US" sz="1400" dirty="0">
                <a:solidFill>
                  <a:schemeClr val="bg1"/>
                </a:solidFill>
              </a:rPr>
              <a:t>L. </a:t>
            </a:r>
            <a:r>
              <a:rPr lang="en-US" sz="1400" dirty="0" smtClean="0">
                <a:solidFill>
                  <a:schemeClr val="bg1"/>
                </a:solidFill>
              </a:rPr>
              <a:t>Wade, Basic </a:t>
            </a:r>
            <a:r>
              <a:rPr lang="en-US" sz="1400" dirty="0">
                <a:solidFill>
                  <a:schemeClr val="bg1"/>
                </a:solidFill>
              </a:rPr>
              <a:t>and Advanced Regulatory Control: System Design and </a:t>
            </a:r>
            <a:r>
              <a:rPr lang="en-US" sz="1400" dirty="0" smtClean="0">
                <a:solidFill>
                  <a:schemeClr val="bg1"/>
                </a:solidFill>
              </a:rPr>
              <a:t>Application, ISA (The </a:t>
            </a:r>
            <a:r>
              <a:rPr lang="en-US" sz="1400" dirty="0">
                <a:solidFill>
                  <a:schemeClr val="bg1"/>
                </a:solidFill>
              </a:rPr>
              <a:t>Instrumentation, Systems, and Automation </a:t>
            </a:r>
            <a:r>
              <a:rPr lang="en-US" sz="1400" dirty="0" smtClean="0">
                <a:solidFill>
                  <a:schemeClr val="bg1"/>
                </a:solidFill>
              </a:rPr>
              <a:t>Society) 2nd Edition, 2010.</a:t>
            </a:r>
            <a:endParaRPr lang="fa-IR" sz="1400" dirty="0">
              <a:solidFill>
                <a:schemeClr val="bg1"/>
              </a:solidFill>
            </a:endParaRPr>
          </a:p>
        </p:txBody>
      </p:sp>
      <p:pic>
        <p:nvPicPr>
          <p:cNvPr id="2" name="Picture 1"/>
          <p:cNvPicPr>
            <a:picLocks noChangeAspect="1"/>
          </p:cNvPicPr>
          <p:nvPr/>
        </p:nvPicPr>
        <p:blipFill rotWithShape="1">
          <a:blip r:embed="rId3"/>
          <a:srcRect l="23797" t="20846" r="23627" b="34858"/>
          <a:stretch/>
        </p:blipFill>
        <p:spPr>
          <a:xfrm>
            <a:off x="682222" y="804428"/>
            <a:ext cx="7418169" cy="3513871"/>
          </a:xfrm>
          <a:prstGeom prst="rect">
            <a:avLst/>
          </a:prstGeom>
        </p:spPr>
      </p:pic>
      <p:sp>
        <p:nvSpPr>
          <p:cNvPr id="20" name="Title 2"/>
          <p:cNvSpPr txBox="1">
            <a:spLocks/>
          </p:cNvSpPr>
          <p:nvPr/>
        </p:nvSpPr>
        <p:spPr bwMode="auto">
          <a:xfrm>
            <a:off x="-3052508" y="-99420"/>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r>
              <a:rPr lang="fa-IR" sz="2800" kern="0" dirty="0" smtClean="0">
                <a:solidFill>
                  <a:schemeClr val="tx2"/>
                </a:solidFill>
                <a:latin typeface="+mj-lt"/>
                <a:ea typeface="+mj-ea"/>
                <a:cs typeface="B Nazanin" panose="00000400000000000000" pitchFamily="2" charset="-78"/>
              </a:rPr>
              <a:t> بلوک دیاگرام کنترولر تناسبی </a:t>
            </a:r>
            <a:endParaRPr kumimoji="0" lang="fa-IR" sz="28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sp>
        <p:nvSpPr>
          <p:cNvPr id="4" name="Rectangle 3"/>
          <p:cNvSpPr/>
          <p:nvPr/>
        </p:nvSpPr>
        <p:spPr>
          <a:xfrm>
            <a:off x="90424" y="4386809"/>
            <a:ext cx="8901173" cy="1938992"/>
          </a:xfrm>
          <a:prstGeom prst="rect">
            <a:avLst/>
          </a:prstGeom>
        </p:spPr>
        <p:txBody>
          <a:bodyPr wrap="square">
            <a:spAutoFit/>
          </a:bodyPr>
          <a:lstStyle/>
          <a:p>
            <a:pPr algn="just"/>
            <a:r>
              <a:rPr lang="en-US" sz="2000" dirty="0"/>
              <a:t>The </a:t>
            </a:r>
            <a:r>
              <a:rPr lang="en-US" sz="2000" dirty="0" smtClean="0"/>
              <a:t>bias </a:t>
            </a:r>
            <a:r>
              <a:rPr lang="en-US" sz="2000" dirty="0"/>
              <a:t>term, </a:t>
            </a:r>
            <a:r>
              <a:rPr lang="en-US" sz="2000" b="1" dirty="0"/>
              <a:t>b</a:t>
            </a:r>
            <a:r>
              <a:rPr lang="en-US" sz="2000" dirty="0"/>
              <a:t>, provides the value of the controller output when the measurement and set point are equal. A very inexpensive controller might be constructed with a fixed value of b, say of 50 percent. Thus, the controller output would be 50 percent when there is no error in the loop. In most industrial-grade proportional-only controllers, the bias is adjustable; this is </a:t>
            </a:r>
            <a:r>
              <a:rPr lang="en-US" sz="2000" dirty="0" smtClean="0"/>
              <a:t>frequently </a:t>
            </a:r>
            <a:r>
              <a:rPr lang="en-US" sz="2000" dirty="0"/>
              <a:t>labeled “manual reset.”</a:t>
            </a:r>
          </a:p>
        </p:txBody>
      </p:sp>
    </p:spTree>
    <p:extLst>
      <p:ext uri="{BB962C8B-B14F-4D97-AF65-F5344CB8AC3E}">
        <p14:creationId xmlns:p14="http://schemas.microsoft.com/office/powerpoint/2010/main" val="101037979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35</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761998" y="-127582"/>
            <a:ext cx="8229600" cy="1143000"/>
          </a:xfrm>
        </p:spPr>
        <p:txBody>
          <a:bodyPr/>
          <a:lstStyle/>
          <a:p>
            <a:pPr lvl="0" algn="r" rtl="1"/>
            <a:r>
              <a:rPr lang="fa-IR" sz="2800" dirty="0" smtClean="0">
                <a:cs typeface="B Nazanin" panose="00000400000000000000" pitchFamily="2" charset="-78"/>
              </a:rPr>
              <a:t>کنترولر نوع تناسبی </a:t>
            </a:r>
            <a:r>
              <a:rPr lang="en-US" sz="2800" dirty="0" smtClean="0">
                <a:cs typeface="B Nazanin" panose="00000400000000000000" pitchFamily="2" charset="-78"/>
              </a:rPr>
              <a:t>(P)</a:t>
            </a:r>
            <a:endParaRPr lang="fa-IR" sz="2800" dirty="0">
              <a:cs typeface="B Nazanin" panose="00000400000000000000" pitchFamily="2" charset="-78"/>
            </a:endParaRPr>
          </a:p>
        </p:txBody>
      </p:sp>
      <p:sp>
        <p:nvSpPr>
          <p:cNvPr id="19" name="Rectangle 18"/>
          <p:cNvSpPr/>
          <p:nvPr/>
        </p:nvSpPr>
        <p:spPr>
          <a:xfrm>
            <a:off x="56010" y="6363580"/>
            <a:ext cx="9324528" cy="523220"/>
          </a:xfrm>
          <a:prstGeom prst="rect">
            <a:avLst/>
          </a:prstGeom>
        </p:spPr>
        <p:txBody>
          <a:bodyPr wrap="square">
            <a:spAutoFit/>
          </a:bodyPr>
          <a:lstStyle/>
          <a:p>
            <a:r>
              <a:rPr lang="en-US" sz="1400" dirty="0" smtClean="0">
                <a:solidFill>
                  <a:schemeClr val="bg1"/>
                </a:solidFill>
              </a:rPr>
              <a:t>H. </a:t>
            </a:r>
            <a:r>
              <a:rPr lang="en-US" sz="1400" dirty="0">
                <a:solidFill>
                  <a:schemeClr val="bg1"/>
                </a:solidFill>
              </a:rPr>
              <a:t>L. </a:t>
            </a:r>
            <a:r>
              <a:rPr lang="en-US" sz="1400" dirty="0" smtClean="0">
                <a:solidFill>
                  <a:schemeClr val="bg1"/>
                </a:solidFill>
              </a:rPr>
              <a:t>Wade, Basic </a:t>
            </a:r>
            <a:r>
              <a:rPr lang="en-US" sz="1400" dirty="0">
                <a:solidFill>
                  <a:schemeClr val="bg1"/>
                </a:solidFill>
              </a:rPr>
              <a:t>and Advanced Regulatory Control: System Design and </a:t>
            </a:r>
            <a:r>
              <a:rPr lang="en-US" sz="1400" dirty="0" smtClean="0">
                <a:solidFill>
                  <a:schemeClr val="bg1"/>
                </a:solidFill>
              </a:rPr>
              <a:t>Application, ISA (The </a:t>
            </a:r>
            <a:r>
              <a:rPr lang="en-US" sz="1400" dirty="0">
                <a:solidFill>
                  <a:schemeClr val="bg1"/>
                </a:solidFill>
              </a:rPr>
              <a:t>Instrumentation, Systems, and Automation </a:t>
            </a:r>
            <a:r>
              <a:rPr lang="en-US" sz="1400" dirty="0" smtClean="0">
                <a:solidFill>
                  <a:schemeClr val="bg1"/>
                </a:solidFill>
              </a:rPr>
              <a:t>Society) 2nd Edition, 2010.</a:t>
            </a:r>
            <a:endParaRPr lang="fa-IR" sz="1400" dirty="0">
              <a:solidFill>
                <a:schemeClr val="bg1"/>
              </a:solidFill>
            </a:endParaRPr>
          </a:p>
        </p:txBody>
      </p:sp>
      <p:sp>
        <p:nvSpPr>
          <p:cNvPr id="20" name="Title 2"/>
          <p:cNvSpPr txBox="1">
            <a:spLocks/>
          </p:cNvSpPr>
          <p:nvPr/>
        </p:nvSpPr>
        <p:spPr bwMode="auto">
          <a:xfrm>
            <a:off x="-3052508" y="-99420"/>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r>
              <a:rPr lang="fa-IR" sz="2800" kern="0" dirty="0" smtClean="0">
                <a:solidFill>
                  <a:schemeClr val="tx2"/>
                </a:solidFill>
                <a:latin typeface="+mj-lt"/>
                <a:ea typeface="+mj-ea"/>
                <a:cs typeface="B Nazanin" panose="00000400000000000000" pitchFamily="2" charset="-78"/>
              </a:rPr>
              <a:t> بلوک دیاگرام کنترولر تناسبی </a:t>
            </a:r>
            <a:endParaRPr kumimoji="0" lang="fa-IR" sz="28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pic>
        <p:nvPicPr>
          <p:cNvPr id="3" name="Picture 2"/>
          <p:cNvPicPr>
            <a:picLocks noChangeAspect="1"/>
          </p:cNvPicPr>
          <p:nvPr/>
        </p:nvPicPr>
        <p:blipFill rotWithShape="1">
          <a:blip r:embed="rId3"/>
          <a:srcRect l="21584" t="24590" r="24920" b="9439"/>
          <a:stretch/>
        </p:blipFill>
        <p:spPr>
          <a:xfrm>
            <a:off x="1037997" y="925183"/>
            <a:ext cx="6960458" cy="4825952"/>
          </a:xfrm>
          <a:prstGeom prst="rect">
            <a:avLst/>
          </a:prstGeom>
        </p:spPr>
      </p:pic>
    </p:spTree>
    <p:extLst>
      <p:ext uri="{BB962C8B-B14F-4D97-AF65-F5344CB8AC3E}">
        <p14:creationId xmlns:p14="http://schemas.microsoft.com/office/powerpoint/2010/main" val="389213951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36</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761998" y="-127582"/>
            <a:ext cx="8229600" cy="1143000"/>
          </a:xfrm>
        </p:spPr>
        <p:txBody>
          <a:bodyPr/>
          <a:lstStyle/>
          <a:p>
            <a:pPr lvl="0" algn="r" rtl="1"/>
            <a:r>
              <a:rPr lang="fa-IR" sz="2800" dirty="0" smtClean="0">
                <a:cs typeface="B Nazanin" panose="00000400000000000000" pitchFamily="2" charset="-78"/>
              </a:rPr>
              <a:t>کنترولر نوع تناسبی </a:t>
            </a:r>
            <a:r>
              <a:rPr lang="en-US" sz="2800" dirty="0" smtClean="0">
                <a:cs typeface="B Nazanin" panose="00000400000000000000" pitchFamily="2" charset="-78"/>
              </a:rPr>
              <a:t>(P)</a:t>
            </a:r>
            <a:endParaRPr lang="fa-IR" sz="2800" dirty="0">
              <a:cs typeface="B Nazanin" panose="00000400000000000000" pitchFamily="2" charset="-78"/>
            </a:endParaRPr>
          </a:p>
        </p:txBody>
      </p:sp>
      <p:sp>
        <p:nvSpPr>
          <p:cNvPr id="19" name="Rectangle 18"/>
          <p:cNvSpPr/>
          <p:nvPr/>
        </p:nvSpPr>
        <p:spPr>
          <a:xfrm>
            <a:off x="56010" y="6363580"/>
            <a:ext cx="9324528" cy="523220"/>
          </a:xfrm>
          <a:prstGeom prst="rect">
            <a:avLst/>
          </a:prstGeom>
        </p:spPr>
        <p:txBody>
          <a:bodyPr wrap="square">
            <a:spAutoFit/>
          </a:bodyPr>
          <a:lstStyle/>
          <a:p>
            <a:r>
              <a:rPr lang="en-US" sz="1400" dirty="0" smtClean="0">
                <a:solidFill>
                  <a:schemeClr val="bg1"/>
                </a:solidFill>
              </a:rPr>
              <a:t>H. </a:t>
            </a:r>
            <a:r>
              <a:rPr lang="en-US" sz="1400" dirty="0">
                <a:solidFill>
                  <a:schemeClr val="bg1"/>
                </a:solidFill>
              </a:rPr>
              <a:t>L. </a:t>
            </a:r>
            <a:r>
              <a:rPr lang="en-US" sz="1400" dirty="0" smtClean="0">
                <a:solidFill>
                  <a:schemeClr val="bg1"/>
                </a:solidFill>
              </a:rPr>
              <a:t>Wade, Basic </a:t>
            </a:r>
            <a:r>
              <a:rPr lang="en-US" sz="1400" dirty="0">
                <a:solidFill>
                  <a:schemeClr val="bg1"/>
                </a:solidFill>
              </a:rPr>
              <a:t>and Advanced Regulatory Control: System Design and </a:t>
            </a:r>
            <a:r>
              <a:rPr lang="en-US" sz="1400" dirty="0" smtClean="0">
                <a:solidFill>
                  <a:schemeClr val="bg1"/>
                </a:solidFill>
              </a:rPr>
              <a:t>Application, ISA (The </a:t>
            </a:r>
            <a:r>
              <a:rPr lang="en-US" sz="1400" dirty="0">
                <a:solidFill>
                  <a:schemeClr val="bg1"/>
                </a:solidFill>
              </a:rPr>
              <a:t>Instrumentation, Systems, and Automation </a:t>
            </a:r>
            <a:r>
              <a:rPr lang="en-US" sz="1400" dirty="0" smtClean="0">
                <a:solidFill>
                  <a:schemeClr val="bg1"/>
                </a:solidFill>
              </a:rPr>
              <a:t>Society) 2nd Edition, 2010.</a:t>
            </a:r>
            <a:endParaRPr lang="fa-IR" sz="1400" dirty="0">
              <a:solidFill>
                <a:schemeClr val="bg1"/>
              </a:solidFill>
            </a:endParaRPr>
          </a:p>
        </p:txBody>
      </p:sp>
      <p:sp>
        <p:nvSpPr>
          <p:cNvPr id="20" name="Title 2"/>
          <p:cNvSpPr txBox="1">
            <a:spLocks/>
          </p:cNvSpPr>
          <p:nvPr/>
        </p:nvSpPr>
        <p:spPr bwMode="auto">
          <a:xfrm>
            <a:off x="-3052508" y="-99420"/>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r>
              <a:rPr lang="fa-IR" sz="2800" kern="0" dirty="0" smtClean="0">
                <a:solidFill>
                  <a:schemeClr val="tx2"/>
                </a:solidFill>
                <a:latin typeface="+mj-lt"/>
                <a:ea typeface="+mj-ea"/>
                <a:cs typeface="B Nazanin" panose="00000400000000000000" pitchFamily="2" charset="-78"/>
              </a:rPr>
              <a:t> بلوک دیاگرام کنترولر تناسبی </a:t>
            </a:r>
            <a:endParaRPr kumimoji="0" lang="fa-IR" sz="28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sp>
        <p:nvSpPr>
          <p:cNvPr id="6" name="Rectangle 5"/>
          <p:cNvSpPr/>
          <p:nvPr/>
        </p:nvSpPr>
        <p:spPr>
          <a:xfrm>
            <a:off x="56010" y="1705742"/>
            <a:ext cx="8666734" cy="3754874"/>
          </a:xfrm>
          <a:prstGeom prst="rect">
            <a:avLst/>
          </a:prstGeom>
        </p:spPr>
        <p:txBody>
          <a:bodyPr wrap="square">
            <a:spAutoFit/>
          </a:bodyPr>
          <a:lstStyle/>
          <a:p>
            <a:pPr algn="just"/>
            <a:r>
              <a:rPr lang="en-US" sz="2000" dirty="0"/>
              <a:t>Examine this figure and note the following</a:t>
            </a:r>
            <a:r>
              <a:rPr lang="en-US" sz="2000" dirty="0" smtClean="0"/>
              <a:t>:</a:t>
            </a:r>
          </a:p>
          <a:p>
            <a:pPr marL="285750" indent="-285750" algn="just">
              <a:buFont typeface="Arial" panose="020B0604020202020204" pitchFamily="34" charset="0"/>
              <a:buChar char="•"/>
            </a:pPr>
            <a:r>
              <a:rPr lang="en-US" sz="2000" dirty="0" smtClean="0"/>
              <a:t>The </a:t>
            </a:r>
            <a:r>
              <a:rPr lang="en-US" sz="2000" dirty="0"/>
              <a:t>figure depicts a reverse-acting controller, since an increase in the process variable will cause a decrease in the controller output</a:t>
            </a:r>
            <a:r>
              <a:rPr lang="en-US" sz="2000" dirty="0" smtClean="0"/>
              <a:t>.</a:t>
            </a:r>
            <a:endParaRPr lang="fa-IR" sz="2000" dirty="0" smtClean="0"/>
          </a:p>
          <a:p>
            <a:pPr marL="285750" indent="-285750" algn="just">
              <a:buFont typeface="Arial" panose="020B0604020202020204" pitchFamily="34" charset="0"/>
              <a:buChar char="•"/>
            </a:pPr>
            <a:r>
              <a:rPr lang="en-US" sz="2000" dirty="0"/>
              <a:t>The graph in Figure 4-3 clearly indicates that when the process variable and set point are equal, the controller output is equal to the bias value</a:t>
            </a:r>
            <a:r>
              <a:rPr lang="en-US" sz="2000" dirty="0" smtClean="0"/>
              <a:t>.</a:t>
            </a:r>
          </a:p>
          <a:p>
            <a:pPr marL="285750" indent="-285750" algn="just">
              <a:buFont typeface="Arial" panose="020B0604020202020204" pitchFamily="34" charset="0"/>
              <a:buChar char="•"/>
            </a:pPr>
            <a:r>
              <a:rPr lang="en-US" sz="2000" dirty="0" smtClean="0"/>
              <a:t>As </a:t>
            </a:r>
            <a:r>
              <a:rPr lang="en-US" sz="2000" dirty="0"/>
              <a:t>Figure 4-3 illustrates, if the process variable is 85 percent, the controller output will be 0 percent; if the process variable falls to 35 percent, the controller output will be 100 percent. Thus, a change in input to the controller (change in process variable) of 50 percent will cause an output change of 100 percent. The graph depicts a controller with a gain of </a:t>
            </a:r>
            <a:r>
              <a:rPr lang="en-US" sz="2000" dirty="0" smtClean="0"/>
              <a:t>-2.0.</a:t>
            </a:r>
          </a:p>
          <a:p>
            <a:pPr algn="just"/>
            <a:r>
              <a:rPr lang="en-US" sz="2000" dirty="0" smtClean="0"/>
              <a:t> </a:t>
            </a:r>
            <a:endParaRPr lang="en-US" sz="2000" dirty="0"/>
          </a:p>
        </p:txBody>
      </p:sp>
    </p:spTree>
    <p:extLst>
      <p:ext uri="{BB962C8B-B14F-4D97-AF65-F5344CB8AC3E}">
        <p14:creationId xmlns:p14="http://schemas.microsoft.com/office/powerpoint/2010/main" val="244375535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37</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18256"/>
            <a:ext cx="8229600" cy="1143000"/>
          </a:xfrm>
        </p:spPr>
        <p:txBody>
          <a:bodyPr/>
          <a:lstStyle/>
          <a:p>
            <a:pPr lvl="0" algn="r" rtl="1"/>
            <a:r>
              <a:rPr lang="fa-IR" sz="2800" dirty="0" smtClean="0">
                <a:cs typeface="B Nazanin" panose="00000400000000000000" pitchFamily="2" charset="-78"/>
              </a:rPr>
              <a:t>انواع کنترولر</a:t>
            </a:r>
            <a:endParaRPr lang="fa-IR" sz="2800" dirty="0">
              <a:cs typeface="B Nazanin" panose="000004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sp>
        <p:nvSpPr>
          <p:cNvPr id="14" name="Title 2"/>
          <p:cNvSpPr txBox="1">
            <a:spLocks/>
          </p:cNvSpPr>
          <p:nvPr/>
        </p:nvSpPr>
        <p:spPr bwMode="auto">
          <a:xfrm>
            <a:off x="846138" y="404664"/>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endParaRPr kumimoji="0" lang="fa-IR" sz="32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sp>
        <p:nvSpPr>
          <p:cNvPr id="25" name="Title 2"/>
          <p:cNvSpPr txBox="1">
            <a:spLocks/>
          </p:cNvSpPr>
          <p:nvPr/>
        </p:nvSpPr>
        <p:spPr bwMode="auto">
          <a:xfrm>
            <a:off x="846138" y="476672"/>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r>
              <a:rPr lang="fa-IR" sz="2800" kern="0" dirty="0" smtClean="0">
                <a:solidFill>
                  <a:schemeClr val="tx2"/>
                </a:solidFill>
                <a:latin typeface="+mj-lt"/>
                <a:ea typeface="+mj-ea"/>
                <a:cs typeface="B Nazanin" panose="00000400000000000000" pitchFamily="2" charset="-78"/>
              </a:rPr>
              <a:t>کنترل تناسبی</a:t>
            </a:r>
            <a:r>
              <a:rPr lang="fa-IR" sz="2800" kern="0" dirty="0">
                <a:solidFill>
                  <a:schemeClr val="tx2"/>
                </a:solidFill>
                <a:latin typeface="+mj-lt"/>
                <a:ea typeface="+mj-ea"/>
                <a:cs typeface="B Nazanin" panose="00000400000000000000" pitchFamily="2" charset="-78"/>
              </a:rPr>
              <a:t> </a:t>
            </a:r>
            <a:r>
              <a:rPr lang="fa-IR" sz="2800" kern="0" dirty="0" smtClean="0">
                <a:solidFill>
                  <a:schemeClr val="tx2"/>
                </a:solidFill>
                <a:latin typeface="+mj-lt"/>
                <a:ea typeface="+mj-ea"/>
                <a:cs typeface="B Nazanin" panose="00000400000000000000" pitchFamily="2" charset="-78"/>
              </a:rPr>
              <a:t>و</a:t>
            </a:r>
            <a:r>
              <a:rPr lang="en-US" sz="2800" kern="0" dirty="0" smtClean="0">
                <a:solidFill>
                  <a:schemeClr val="tx2"/>
                </a:solidFill>
                <a:latin typeface="+mj-lt"/>
                <a:ea typeface="+mj-ea"/>
                <a:cs typeface="B Nazanin" panose="00000400000000000000" pitchFamily="2" charset="-78"/>
              </a:rPr>
              <a:t> </a:t>
            </a:r>
            <a:r>
              <a:rPr lang="fa-IR" sz="2800" kern="0" dirty="0" smtClean="0">
                <a:solidFill>
                  <a:schemeClr val="tx2"/>
                </a:solidFill>
                <a:latin typeface="+mj-lt"/>
                <a:ea typeface="+mj-ea"/>
                <a:cs typeface="B Nazanin" panose="00000400000000000000" pitchFamily="2" charset="-78"/>
              </a:rPr>
              <a:t>مقایسه با کنترل</a:t>
            </a:r>
            <a:r>
              <a:rPr lang="en-US" sz="2800" kern="0" dirty="0" smtClean="0">
                <a:solidFill>
                  <a:schemeClr val="tx2"/>
                </a:solidFill>
                <a:latin typeface="+mj-lt"/>
                <a:ea typeface="+mj-ea"/>
                <a:cs typeface="B Nazanin" panose="00000400000000000000" pitchFamily="2" charset="-78"/>
              </a:rPr>
              <a:t> </a:t>
            </a:r>
            <a:r>
              <a:rPr lang="fa-IR" sz="2800" kern="0" dirty="0" smtClean="0">
                <a:solidFill>
                  <a:schemeClr val="tx2"/>
                </a:solidFill>
                <a:latin typeface="+mj-lt"/>
                <a:ea typeface="+mj-ea"/>
                <a:cs typeface="B Nazanin" panose="00000400000000000000" pitchFamily="2" charset="-78"/>
              </a:rPr>
              <a:t>روشن- خاموش </a:t>
            </a:r>
            <a:r>
              <a:rPr lang="en-US" sz="2800" kern="0" dirty="0" smtClean="0">
                <a:solidFill>
                  <a:schemeClr val="tx2"/>
                </a:solidFill>
                <a:latin typeface="+mj-lt"/>
                <a:ea typeface="+mj-ea"/>
                <a:cs typeface="B Nazanin" panose="00000400000000000000" pitchFamily="2" charset="-78"/>
              </a:rPr>
              <a:t>(on/off)</a:t>
            </a:r>
            <a:r>
              <a:rPr lang="fa-IR" sz="2800" kern="0" dirty="0" smtClean="0">
                <a:solidFill>
                  <a:schemeClr val="tx2"/>
                </a:solidFill>
                <a:latin typeface="+mj-lt"/>
                <a:ea typeface="+mj-ea"/>
                <a:cs typeface="B Nazanin" panose="00000400000000000000" pitchFamily="2" charset="-78"/>
              </a:rPr>
              <a:t> </a:t>
            </a:r>
            <a:endParaRPr kumimoji="0" lang="fa-IR" sz="28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pic>
        <p:nvPicPr>
          <p:cNvPr id="13314" name="Picture 2"/>
          <p:cNvPicPr>
            <a:picLocks noChangeAspect="1" noChangeArrowheads="1"/>
          </p:cNvPicPr>
          <p:nvPr/>
        </p:nvPicPr>
        <p:blipFill>
          <a:blip r:embed="rId3" cstate="print"/>
          <a:srcRect/>
          <a:stretch>
            <a:fillRect/>
          </a:stretch>
        </p:blipFill>
        <p:spPr bwMode="auto">
          <a:xfrm>
            <a:off x="755576" y="1340768"/>
            <a:ext cx="7344816" cy="1960272"/>
          </a:xfrm>
          <a:prstGeom prst="rect">
            <a:avLst/>
          </a:prstGeom>
          <a:noFill/>
          <a:ln w="9525">
            <a:noFill/>
            <a:miter lim="800000"/>
            <a:headEnd/>
            <a:tailEnd/>
          </a:ln>
        </p:spPr>
      </p:pic>
      <p:pic>
        <p:nvPicPr>
          <p:cNvPr id="13315" name="Picture 3"/>
          <p:cNvPicPr>
            <a:picLocks noChangeAspect="1" noChangeArrowheads="1"/>
          </p:cNvPicPr>
          <p:nvPr/>
        </p:nvPicPr>
        <p:blipFill>
          <a:blip r:embed="rId4" cstate="print"/>
          <a:srcRect/>
          <a:stretch>
            <a:fillRect/>
          </a:stretch>
        </p:blipFill>
        <p:spPr bwMode="auto">
          <a:xfrm>
            <a:off x="2468687" y="3284984"/>
            <a:ext cx="4047529" cy="3041880"/>
          </a:xfrm>
          <a:prstGeom prst="rect">
            <a:avLst/>
          </a:prstGeom>
          <a:noFill/>
          <a:ln w="9525">
            <a:noFill/>
            <a:miter lim="800000"/>
            <a:headEnd/>
            <a:tailEnd/>
          </a:ln>
        </p:spPr>
      </p:pic>
    </p:spTree>
    <p:extLst>
      <p:ext uri="{BB962C8B-B14F-4D97-AF65-F5344CB8AC3E}">
        <p14:creationId xmlns:p14="http://schemas.microsoft.com/office/powerpoint/2010/main" val="202072002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38</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18256"/>
            <a:ext cx="8229600" cy="1143000"/>
          </a:xfrm>
        </p:spPr>
        <p:txBody>
          <a:bodyPr/>
          <a:lstStyle/>
          <a:p>
            <a:pPr lvl="0" algn="r" rtl="1"/>
            <a:r>
              <a:rPr lang="fa-IR" sz="2800" dirty="0" smtClean="0">
                <a:cs typeface="B Nazanin" panose="00000400000000000000" pitchFamily="2" charset="-78"/>
              </a:rPr>
              <a:t>انواع کنترولر</a:t>
            </a:r>
            <a:endParaRPr lang="fa-IR" sz="2800" dirty="0">
              <a:cs typeface="B Nazanin" panose="000004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sp>
        <p:nvSpPr>
          <p:cNvPr id="14" name="Title 2"/>
          <p:cNvSpPr txBox="1">
            <a:spLocks/>
          </p:cNvSpPr>
          <p:nvPr/>
        </p:nvSpPr>
        <p:spPr bwMode="auto">
          <a:xfrm>
            <a:off x="846138" y="404664"/>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endParaRPr kumimoji="0" lang="fa-IR" sz="32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sp>
        <p:nvSpPr>
          <p:cNvPr id="25" name="Title 2"/>
          <p:cNvSpPr txBox="1">
            <a:spLocks/>
          </p:cNvSpPr>
          <p:nvPr/>
        </p:nvSpPr>
        <p:spPr bwMode="auto">
          <a:xfrm>
            <a:off x="846138" y="476672"/>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r>
              <a:rPr lang="fa-IR" sz="2800" kern="0" dirty="0" smtClean="0">
                <a:solidFill>
                  <a:schemeClr val="tx2"/>
                </a:solidFill>
                <a:latin typeface="+mj-lt"/>
                <a:ea typeface="+mj-ea"/>
                <a:cs typeface="B Nazanin" panose="00000400000000000000" pitchFamily="2" charset="-78"/>
              </a:rPr>
              <a:t>کنترل تناسبی </a:t>
            </a:r>
            <a:endParaRPr kumimoji="0" lang="fa-IR" sz="28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pic>
        <p:nvPicPr>
          <p:cNvPr id="14338" name="Picture 2"/>
          <p:cNvPicPr>
            <a:picLocks noChangeAspect="1" noChangeArrowheads="1"/>
          </p:cNvPicPr>
          <p:nvPr/>
        </p:nvPicPr>
        <p:blipFill>
          <a:blip r:embed="rId3" cstate="print"/>
          <a:srcRect/>
          <a:stretch>
            <a:fillRect/>
          </a:stretch>
        </p:blipFill>
        <p:spPr bwMode="auto">
          <a:xfrm>
            <a:off x="-1" y="836712"/>
            <a:ext cx="3949505" cy="2448272"/>
          </a:xfrm>
          <a:prstGeom prst="rect">
            <a:avLst/>
          </a:prstGeom>
          <a:noFill/>
          <a:ln w="9525">
            <a:noFill/>
            <a:miter lim="800000"/>
            <a:headEnd/>
            <a:tailEnd/>
          </a:ln>
        </p:spPr>
      </p:pic>
      <p:pic>
        <p:nvPicPr>
          <p:cNvPr id="20" name="Picture 19" descr="fig18.png"/>
          <p:cNvPicPr>
            <a:picLocks noChangeAspect="1"/>
          </p:cNvPicPr>
          <p:nvPr/>
        </p:nvPicPr>
        <p:blipFill>
          <a:blip r:embed="rId4" cstate="print"/>
          <a:srcRect l="8406" t="40952" r="10580" b="12525"/>
          <a:stretch>
            <a:fillRect/>
          </a:stretch>
        </p:blipFill>
        <p:spPr>
          <a:xfrm>
            <a:off x="4139952" y="1268760"/>
            <a:ext cx="4968552" cy="1594844"/>
          </a:xfrm>
          <a:prstGeom prst="rect">
            <a:avLst/>
          </a:prstGeom>
        </p:spPr>
      </p:pic>
      <p:pic>
        <p:nvPicPr>
          <p:cNvPr id="14340" name="Picture 4"/>
          <p:cNvPicPr>
            <a:picLocks noChangeAspect="1" noChangeArrowheads="1"/>
          </p:cNvPicPr>
          <p:nvPr/>
        </p:nvPicPr>
        <p:blipFill>
          <a:blip r:embed="rId5" cstate="print"/>
          <a:srcRect/>
          <a:stretch>
            <a:fillRect/>
          </a:stretch>
        </p:blipFill>
        <p:spPr bwMode="auto">
          <a:xfrm>
            <a:off x="1547664" y="3284984"/>
            <a:ext cx="5988385" cy="3024336"/>
          </a:xfrm>
          <a:prstGeom prst="rect">
            <a:avLst/>
          </a:prstGeom>
          <a:noFill/>
          <a:ln w="9525">
            <a:noFill/>
            <a:miter lim="800000"/>
            <a:headEnd/>
            <a:tailEnd/>
          </a:ln>
        </p:spPr>
      </p:pic>
    </p:spTree>
    <p:extLst>
      <p:ext uri="{BB962C8B-B14F-4D97-AF65-F5344CB8AC3E}">
        <p14:creationId xmlns:p14="http://schemas.microsoft.com/office/powerpoint/2010/main" val="202072002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39</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171400"/>
            <a:ext cx="8229600" cy="1143000"/>
          </a:xfrm>
        </p:spPr>
        <p:txBody>
          <a:bodyPr/>
          <a:lstStyle/>
          <a:p>
            <a:pPr lvl="0" algn="r" rtl="1"/>
            <a:r>
              <a:rPr lang="fa-IR" sz="2800" dirty="0" smtClean="0">
                <a:cs typeface="B Nazanin" panose="00000400000000000000" pitchFamily="2" charset="-78"/>
              </a:rPr>
              <a:t>انواع کنترولر- کنترل تناسبی</a:t>
            </a:r>
            <a:endParaRPr lang="fa-IR" sz="2800" dirty="0">
              <a:cs typeface="B Nazanin" panose="000004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sp>
        <p:nvSpPr>
          <p:cNvPr id="14" name="Title 2"/>
          <p:cNvSpPr txBox="1">
            <a:spLocks/>
          </p:cNvSpPr>
          <p:nvPr/>
        </p:nvSpPr>
        <p:spPr bwMode="auto">
          <a:xfrm>
            <a:off x="846138" y="404664"/>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endParaRPr kumimoji="0" lang="fa-IR" sz="32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sp>
        <p:nvSpPr>
          <p:cNvPr id="25" name="Title 2"/>
          <p:cNvSpPr txBox="1">
            <a:spLocks/>
          </p:cNvSpPr>
          <p:nvPr/>
        </p:nvSpPr>
        <p:spPr bwMode="auto">
          <a:xfrm>
            <a:off x="846138" y="476672"/>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endParaRPr kumimoji="0" lang="fa-IR" sz="28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pic>
        <p:nvPicPr>
          <p:cNvPr id="14339" name="Picture 3"/>
          <p:cNvPicPr>
            <a:picLocks noChangeAspect="1" noChangeArrowheads="1"/>
          </p:cNvPicPr>
          <p:nvPr/>
        </p:nvPicPr>
        <p:blipFill>
          <a:blip r:embed="rId3" cstate="print"/>
          <a:srcRect/>
          <a:stretch>
            <a:fillRect/>
          </a:stretch>
        </p:blipFill>
        <p:spPr bwMode="auto">
          <a:xfrm>
            <a:off x="2238722" y="3104830"/>
            <a:ext cx="4421510" cy="3276497"/>
          </a:xfrm>
          <a:prstGeom prst="rect">
            <a:avLst/>
          </a:prstGeom>
          <a:noFill/>
          <a:ln w="9525">
            <a:noFill/>
            <a:miter lim="800000"/>
            <a:headEnd/>
            <a:tailEnd/>
          </a:ln>
        </p:spPr>
      </p:pic>
      <p:pic>
        <p:nvPicPr>
          <p:cNvPr id="15362" name="Picture 2"/>
          <p:cNvPicPr>
            <a:picLocks noChangeAspect="1" noChangeArrowheads="1"/>
          </p:cNvPicPr>
          <p:nvPr/>
        </p:nvPicPr>
        <p:blipFill>
          <a:blip r:embed="rId4" cstate="print"/>
          <a:srcRect/>
          <a:stretch>
            <a:fillRect/>
          </a:stretch>
        </p:blipFill>
        <p:spPr bwMode="auto">
          <a:xfrm>
            <a:off x="908102" y="764704"/>
            <a:ext cx="6688234" cy="2448272"/>
          </a:xfrm>
          <a:prstGeom prst="rect">
            <a:avLst/>
          </a:prstGeom>
          <a:noFill/>
          <a:ln w="9525">
            <a:noFill/>
            <a:miter lim="800000"/>
            <a:headEnd/>
            <a:tailEnd/>
          </a:ln>
        </p:spPr>
      </p:pic>
      <p:pic>
        <p:nvPicPr>
          <p:cNvPr id="20" name="Picture 4"/>
          <p:cNvPicPr>
            <a:picLocks noChangeAspect="1" noChangeArrowheads="1"/>
          </p:cNvPicPr>
          <p:nvPr/>
        </p:nvPicPr>
        <p:blipFill rotWithShape="1">
          <a:blip r:embed="rId5" cstate="print"/>
          <a:srcRect l="33143" t="85940" r="31985" b="2156"/>
          <a:stretch/>
        </p:blipFill>
        <p:spPr bwMode="auto">
          <a:xfrm>
            <a:off x="6668194" y="4563057"/>
            <a:ext cx="2088232" cy="360041"/>
          </a:xfrm>
          <a:prstGeom prst="rect">
            <a:avLst/>
          </a:prstGeom>
          <a:noFill/>
          <a:ln w="9525">
            <a:noFill/>
            <a:miter lim="800000"/>
            <a:headEnd/>
            <a:tailEnd/>
          </a:ln>
        </p:spPr>
      </p:pic>
      <p:cxnSp>
        <p:nvCxnSpPr>
          <p:cNvPr id="3" name="Straight Arrow Connector 2"/>
          <p:cNvCxnSpPr/>
          <p:nvPr/>
        </p:nvCxnSpPr>
        <p:spPr bwMode="auto">
          <a:xfrm flipH="1" flipV="1">
            <a:off x="4788025" y="4466062"/>
            <a:ext cx="1872207" cy="232072"/>
          </a:xfrm>
          <a:prstGeom prst="straightConnector1">
            <a:avLst/>
          </a:prstGeom>
          <a:noFill/>
          <a:ln w="12700" cap="flat" cmpd="sng" algn="ctr">
            <a:solidFill>
              <a:schemeClr val="tx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02072002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40</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171400"/>
            <a:ext cx="8229600" cy="1143000"/>
          </a:xfrm>
        </p:spPr>
        <p:txBody>
          <a:bodyPr/>
          <a:lstStyle/>
          <a:p>
            <a:pPr lvl="0" algn="r" rtl="1"/>
            <a:r>
              <a:rPr lang="fa-IR" sz="2800" dirty="0" smtClean="0">
                <a:cs typeface="B Nazanin" panose="00000400000000000000" pitchFamily="2" charset="-78"/>
              </a:rPr>
              <a:t>انواع کنترولر- کنترل تناسبی</a:t>
            </a:r>
            <a:endParaRPr lang="fa-IR" sz="2800" dirty="0">
              <a:cs typeface="B Nazanin" panose="000004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sp>
        <p:nvSpPr>
          <p:cNvPr id="14" name="Title 2"/>
          <p:cNvSpPr txBox="1">
            <a:spLocks/>
          </p:cNvSpPr>
          <p:nvPr/>
        </p:nvSpPr>
        <p:spPr bwMode="auto">
          <a:xfrm>
            <a:off x="846138" y="404664"/>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endParaRPr kumimoji="0" lang="fa-IR" sz="32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sp>
        <p:nvSpPr>
          <p:cNvPr id="25" name="Title 2"/>
          <p:cNvSpPr txBox="1">
            <a:spLocks/>
          </p:cNvSpPr>
          <p:nvPr/>
        </p:nvSpPr>
        <p:spPr bwMode="auto">
          <a:xfrm>
            <a:off x="846138" y="476672"/>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endParaRPr kumimoji="0" lang="fa-IR" sz="28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pic>
        <p:nvPicPr>
          <p:cNvPr id="14339"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5417726" y="3428999"/>
            <a:ext cx="3726272" cy="2761301"/>
          </a:xfrm>
          <a:prstGeom prst="rect">
            <a:avLst/>
          </a:prstGeom>
          <a:noFill/>
          <a:ln w="9525">
            <a:noFill/>
            <a:miter lim="800000"/>
            <a:headEnd/>
            <a:tailEnd/>
          </a:ln>
        </p:spPr>
      </p:pic>
      <p:pic>
        <p:nvPicPr>
          <p:cNvPr id="16386" name="Picture 2"/>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56780" y="853926"/>
            <a:ext cx="5933792" cy="3456384"/>
          </a:xfrm>
          <a:prstGeom prst="rect">
            <a:avLst/>
          </a:prstGeom>
          <a:noFill/>
          <a:ln w="9525">
            <a:noFill/>
            <a:miter lim="800000"/>
            <a:headEnd/>
            <a:tailEnd/>
          </a:ln>
        </p:spPr>
      </p:pic>
    </p:spTree>
    <p:extLst>
      <p:ext uri="{BB962C8B-B14F-4D97-AF65-F5344CB8AC3E}">
        <p14:creationId xmlns:p14="http://schemas.microsoft.com/office/powerpoint/2010/main" val="202072002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41</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171400"/>
            <a:ext cx="8229600" cy="1143000"/>
          </a:xfrm>
        </p:spPr>
        <p:txBody>
          <a:bodyPr/>
          <a:lstStyle/>
          <a:p>
            <a:pPr lvl="0" algn="r" rtl="1"/>
            <a:r>
              <a:rPr lang="fa-IR" sz="2800" dirty="0" smtClean="0">
                <a:cs typeface="B Nazanin" panose="00000400000000000000" pitchFamily="2" charset="-78"/>
              </a:rPr>
              <a:t>انواع کنترولر- کنترل </a:t>
            </a:r>
            <a:r>
              <a:rPr lang="en-US" sz="2800" dirty="0" smtClean="0">
                <a:cs typeface="B Nazanin" panose="00000400000000000000" pitchFamily="2" charset="-78"/>
              </a:rPr>
              <a:t>PID</a:t>
            </a:r>
            <a:endParaRPr lang="fa-IR" sz="2800" dirty="0">
              <a:cs typeface="B Nazanin" panose="000004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pic>
        <p:nvPicPr>
          <p:cNvPr id="2" name="Picture 1"/>
          <p:cNvPicPr>
            <a:picLocks noChangeAspect="1"/>
          </p:cNvPicPr>
          <p:nvPr/>
        </p:nvPicPr>
        <p:blipFill rotWithShape="1">
          <a:blip r:embed="rId3">
            <a:clrChange>
              <a:clrFrom>
                <a:srgbClr val="FFFFFF"/>
              </a:clrFrom>
              <a:clrTo>
                <a:srgbClr val="FFFFFF">
                  <a:alpha val="0"/>
                </a:srgbClr>
              </a:clrTo>
            </a:clrChange>
          </a:blip>
          <a:srcRect l="37271" t="29329" r="20115" b="26375"/>
          <a:stretch/>
        </p:blipFill>
        <p:spPr>
          <a:xfrm>
            <a:off x="251520" y="665782"/>
            <a:ext cx="6336704" cy="3703269"/>
          </a:xfrm>
          <a:prstGeom prst="rect">
            <a:avLst/>
          </a:prstGeom>
        </p:spPr>
      </p:pic>
      <p:sp>
        <p:nvSpPr>
          <p:cNvPr id="21" name="Title 2"/>
          <p:cNvSpPr txBox="1">
            <a:spLocks/>
          </p:cNvSpPr>
          <p:nvPr/>
        </p:nvSpPr>
        <p:spPr bwMode="auto">
          <a:xfrm>
            <a:off x="693738" y="627112"/>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defRPr>
            </a:lvl2pPr>
            <a:lvl3pPr algn="ctr" rtl="0" fontAlgn="base">
              <a:spcBef>
                <a:spcPct val="0"/>
              </a:spcBef>
              <a:spcAft>
                <a:spcPct val="0"/>
              </a:spcAft>
              <a:defRPr sz="4400">
                <a:solidFill>
                  <a:schemeClr val="tx2"/>
                </a:solidFill>
                <a:latin typeface="Arial" pitchFamily="34" charset="0"/>
              </a:defRPr>
            </a:lvl3pPr>
            <a:lvl4pPr algn="ctr" rtl="0" fontAlgn="base">
              <a:spcBef>
                <a:spcPct val="0"/>
              </a:spcBef>
              <a:spcAft>
                <a:spcPct val="0"/>
              </a:spcAft>
              <a:defRPr sz="4400">
                <a:solidFill>
                  <a:schemeClr val="tx2"/>
                </a:solidFill>
                <a:latin typeface="Arial" pitchFamily="34" charset="0"/>
              </a:defRPr>
            </a:lvl4pPr>
            <a:lvl5pPr algn="ctr" rtl="0" fontAlgn="base">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marL="457200" indent="-457200" algn="r" rtl="1">
              <a:buFont typeface="Courier New" panose="02070309020205020404" pitchFamily="49" charset="0"/>
              <a:buChar char="o"/>
            </a:pPr>
            <a:r>
              <a:rPr lang="fa-IR" sz="2800" kern="0" dirty="0" smtClean="0">
                <a:cs typeface="B Nazanin" panose="00000400000000000000" pitchFamily="2" charset="-78"/>
              </a:rPr>
              <a:t>پارامترهای پاسخ پله:</a:t>
            </a:r>
            <a:endParaRPr lang="fa-IR" sz="2800" kern="0" dirty="0">
              <a:cs typeface="B Nazanin" panose="00000400000000000000" pitchFamily="2" charset="-78"/>
            </a:endParaRPr>
          </a:p>
        </p:txBody>
      </p:sp>
      <p:pic>
        <p:nvPicPr>
          <p:cNvPr id="3" name="Picture 2"/>
          <p:cNvPicPr>
            <a:picLocks noChangeAspect="1"/>
          </p:cNvPicPr>
          <p:nvPr/>
        </p:nvPicPr>
        <p:blipFill rotWithShape="1">
          <a:blip r:embed="rId4">
            <a:clrChange>
              <a:clrFrom>
                <a:srgbClr val="FFFFFF"/>
              </a:clrFrom>
              <a:clrTo>
                <a:srgbClr val="FFFFFF">
                  <a:alpha val="0"/>
                </a:srgbClr>
              </a:clrTo>
            </a:clrChange>
          </a:blip>
          <a:srcRect l="29523" t="38188" r="14027" b="36219"/>
          <a:stretch/>
        </p:blipFill>
        <p:spPr>
          <a:xfrm>
            <a:off x="317325" y="4350745"/>
            <a:ext cx="8192295" cy="2088232"/>
          </a:xfrm>
          <a:prstGeom prst="rect">
            <a:avLst/>
          </a:prstGeom>
        </p:spPr>
      </p:pic>
    </p:spTree>
    <p:extLst>
      <p:ext uri="{BB962C8B-B14F-4D97-AF65-F5344CB8AC3E}">
        <p14:creationId xmlns:p14="http://schemas.microsoft.com/office/powerpoint/2010/main" val="40227300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42</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171400"/>
            <a:ext cx="8229600" cy="1143000"/>
          </a:xfrm>
        </p:spPr>
        <p:txBody>
          <a:bodyPr/>
          <a:lstStyle/>
          <a:p>
            <a:pPr lvl="0" algn="r" rtl="1"/>
            <a:r>
              <a:rPr lang="fa-IR" sz="2800" dirty="0" smtClean="0">
                <a:cs typeface="B Nazanin" panose="00000400000000000000" pitchFamily="2" charset="-78"/>
              </a:rPr>
              <a:t>انواع کنترولر- کنترل </a:t>
            </a:r>
            <a:r>
              <a:rPr lang="en-US" sz="2800" dirty="0" smtClean="0">
                <a:cs typeface="B Nazanin" panose="00000400000000000000" pitchFamily="2" charset="-78"/>
              </a:rPr>
              <a:t>PID</a:t>
            </a:r>
            <a:endParaRPr lang="fa-IR" sz="2800" dirty="0">
              <a:cs typeface="B Nazanin" panose="000004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pic>
        <p:nvPicPr>
          <p:cNvPr id="2" name="Picture 1"/>
          <p:cNvPicPr>
            <a:picLocks noChangeAspect="1"/>
          </p:cNvPicPr>
          <p:nvPr/>
        </p:nvPicPr>
        <p:blipFill rotWithShape="1">
          <a:blip r:embed="rId3">
            <a:clrChange>
              <a:clrFrom>
                <a:srgbClr val="FFFFFF"/>
              </a:clrFrom>
              <a:clrTo>
                <a:srgbClr val="FFFFFF">
                  <a:alpha val="0"/>
                </a:srgbClr>
              </a:clrTo>
            </a:clrChange>
          </a:blip>
          <a:srcRect l="37271" t="29329" r="20115" b="26375"/>
          <a:stretch/>
        </p:blipFill>
        <p:spPr>
          <a:xfrm>
            <a:off x="409278" y="707529"/>
            <a:ext cx="4708478" cy="2751708"/>
          </a:xfrm>
          <a:prstGeom prst="rect">
            <a:avLst/>
          </a:prstGeom>
        </p:spPr>
      </p:pic>
      <p:sp>
        <p:nvSpPr>
          <p:cNvPr id="21" name="Title 2"/>
          <p:cNvSpPr txBox="1">
            <a:spLocks/>
          </p:cNvSpPr>
          <p:nvPr/>
        </p:nvSpPr>
        <p:spPr bwMode="auto">
          <a:xfrm>
            <a:off x="693738" y="627112"/>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defRPr>
            </a:lvl2pPr>
            <a:lvl3pPr algn="ctr" rtl="0" fontAlgn="base">
              <a:spcBef>
                <a:spcPct val="0"/>
              </a:spcBef>
              <a:spcAft>
                <a:spcPct val="0"/>
              </a:spcAft>
              <a:defRPr sz="4400">
                <a:solidFill>
                  <a:schemeClr val="tx2"/>
                </a:solidFill>
                <a:latin typeface="Arial" pitchFamily="34" charset="0"/>
              </a:defRPr>
            </a:lvl3pPr>
            <a:lvl4pPr algn="ctr" rtl="0" fontAlgn="base">
              <a:spcBef>
                <a:spcPct val="0"/>
              </a:spcBef>
              <a:spcAft>
                <a:spcPct val="0"/>
              </a:spcAft>
              <a:defRPr sz="4400">
                <a:solidFill>
                  <a:schemeClr val="tx2"/>
                </a:solidFill>
                <a:latin typeface="Arial" pitchFamily="34" charset="0"/>
              </a:defRPr>
            </a:lvl4pPr>
            <a:lvl5pPr algn="ctr" rtl="0" fontAlgn="base">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marL="457200" indent="-457200" algn="r" rtl="1">
              <a:buFont typeface="Courier New" panose="02070309020205020404" pitchFamily="49" charset="0"/>
              <a:buChar char="o"/>
            </a:pPr>
            <a:r>
              <a:rPr lang="fa-IR" sz="2800" kern="0" dirty="0" smtClean="0">
                <a:cs typeface="B Nazanin" panose="00000400000000000000" pitchFamily="2" charset="-78"/>
              </a:rPr>
              <a:t>پارامترهای پاسخ پله:</a:t>
            </a:r>
            <a:endParaRPr lang="fa-IR" sz="2800" kern="0" dirty="0">
              <a:cs typeface="B Nazanin" panose="00000400000000000000" pitchFamily="2" charset="-78"/>
            </a:endParaRPr>
          </a:p>
        </p:txBody>
      </p:sp>
      <p:pic>
        <p:nvPicPr>
          <p:cNvPr id="3" name="Picture 2"/>
          <p:cNvPicPr>
            <a:picLocks noChangeAspect="1"/>
          </p:cNvPicPr>
          <p:nvPr/>
        </p:nvPicPr>
        <p:blipFill rotWithShape="1">
          <a:blip r:embed="rId4"/>
          <a:srcRect l="30439" t="45004" r="14218" b="22511"/>
          <a:stretch/>
        </p:blipFill>
        <p:spPr>
          <a:xfrm>
            <a:off x="305078" y="3380481"/>
            <a:ext cx="8386236" cy="2767459"/>
          </a:xfrm>
          <a:prstGeom prst="rect">
            <a:avLst/>
          </a:prstGeom>
        </p:spPr>
      </p:pic>
    </p:spTree>
    <p:extLst>
      <p:ext uri="{BB962C8B-B14F-4D97-AF65-F5344CB8AC3E}">
        <p14:creationId xmlns:p14="http://schemas.microsoft.com/office/powerpoint/2010/main" val="194034527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43</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171400"/>
            <a:ext cx="8229600" cy="1143000"/>
          </a:xfrm>
        </p:spPr>
        <p:txBody>
          <a:bodyPr/>
          <a:lstStyle/>
          <a:p>
            <a:pPr lvl="0" algn="r" rtl="1"/>
            <a:r>
              <a:rPr lang="fa-IR" sz="2800" dirty="0" smtClean="0">
                <a:cs typeface="B Nazanin" panose="00000400000000000000" pitchFamily="2" charset="-78"/>
              </a:rPr>
              <a:t>کنترل </a:t>
            </a:r>
            <a:r>
              <a:rPr lang="en-US" sz="2800" dirty="0" smtClean="0">
                <a:cs typeface="B Nazanin" panose="00000400000000000000" pitchFamily="2" charset="-78"/>
              </a:rPr>
              <a:t>PID</a:t>
            </a:r>
            <a:r>
              <a:rPr lang="fa-IR" sz="2800" dirty="0" smtClean="0">
                <a:cs typeface="B Nazanin" panose="00000400000000000000" pitchFamily="2" charset="-78"/>
              </a:rPr>
              <a:t>- اثر عملکرد تناسبی</a:t>
            </a:r>
            <a:endParaRPr lang="fa-IR" sz="2800" dirty="0">
              <a:cs typeface="B Nazanin" panose="000004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sp>
        <p:nvSpPr>
          <p:cNvPr id="14" name="Title 2"/>
          <p:cNvSpPr txBox="1">
            <a:spLocks/>
          </p:cNvSpPr>
          <p:nvPr/>
        </p:nvSpPr>
        <p:spPr bwMode="auto">
          <a:xfrm>
            <a:off x="846138" y="404664"/>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endParaRPr kumimoji="0" lang="fa-IR" sz="32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sp>
        <p:nvSpPr>
          <p:cNvPr id="25" name="Title 2"/>
          <p:cNvSpPr txBox="1">
            <a:spLocks/>
          </p:cNvSpPr>
          <p:nvPr/>
        </p:nvSpPr>
        <p:spPr bwMode="auto">
          <a:xfrm>
            <a:off x="846138" y="476672"/>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endParaRPr kumimoji="0" lang="fa-IR" sz="28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pic>
        <p:nvPicPr>
          <p:cNvPr id="18434" name="Picture 2"/>
          <p:cNvPicPr>
            <a:picLocks noChangeAspect="1" noChangeArrowheads="1"/>
          </p:cNvPicPr>
          <p:nvPr/>
        </p:nvPicPr>
        <p:blipFill>
          <a:blip r:embed="rId3" cstate="print"/>
          <a:srcRect/>
          <a:stretch>
            <a:fillRect/>
          </a:stretch>
        </p:blipFill>
        <p:spPr bwMode="auto">
          <a:xfrm>
            <a:off x="323527" y="836712"/>
            <a:ext cx="7560841" cy="1408143"/>
          </a:xfrm>
          <a:prstGeom prst="rect">
            <a:avLst/>
          </a:prstGeom>
          <a:noFill/>
          <a:ln w="9525">
            <a:noFill/>
            <a:miter lim="800000"/>
            <a:headEnd/>
            <a:tailEnd/>
          </a:ln>
        </p:spPr>
      </p:pic>
      <p:pic>
        <p:nvPicPr>
          <p:cNvPr id="18435" name="Picture 3"/>
          <p:cNvPicPr>
            <a:picLocks noChangeAspect="1" noChangeArrowheads="1"/>
          </p:cNvPicPr>
          <p:nvPr/>
        </p:nvPicPr>
        <p:blipFill>
          <a:blip r:embed="rId4" cstate="print"/>
          <a:srcRect/>
          <a:stretch>
            <a:fillRect/>
          </a:stretch>
        </p:blipFill>
        <p:spPr bwMode="auto">
          <a:xfrm>
            <a:off x="395535" y="2204864"/>
            <a:ext cx="7704857" cy="792088"/>
          </a:xfrm>
          <a:prstGeom prst="rect">
            <a:avLst/>
          </a:prstGeom>
          <a:noFill/>
          <a:ln w="9525">
            <a:noFill/>
            <a:miter lim="800000"/>
            <a:headEnd/>
            <a:tailEnd/>
          </a:ln>
        </p:spPr>
      </p:pic>
      <p:pic>
        <p:nvPicPr>
          <p:cNvPr id="18436" name="Picture 4"/>
          <p:cNvPicPr>
            <a:picLocks noChangeAspect="1" noChangeArrowheads="1"/>
          </p:cNvPicPr>
          <p:nvPr/>
        </p:nvPicPr>
        <p:blipFill>
          <a:blip r:embed="rId5" cstate="print"/>
          <a:srcRect/>
          <a:stretch>
            <a:fillRect/>
          </a:stretch>
        </p:blipFill>
        <p:spPr bwMode="auto">
          <a:xfrm>
            <a:off x="395536" y="2780928"/>
            <a:ext cx="7726154" cy="936104"/>
          </a:xfrm>
          <a:prstGeom prst="rect">
            <a:avLst/>
          </a:prstGeom>
          <a:noFill/>
          <a:ln w="9525">
            <a:noFill/>
            <a:miter lim="800000"/>
            <a:headEnd/>
            <a:tailEnd/>
          </a:ln>
        </p:spPr>
      </p:pic>
      <p:pic>
        <p:nvPicPr>
          <p:cNvPr id="18437" name="Picture 5"/>
          <p:cNvPicPr>
            <a:picLocks noChangeAspect="1" noChangeArrowheads="1"/>
          </p:cNvPicPr>
          <p:nvPr/>
        </p:nvPicPr>
        <p:blipFill>
          <a:blip r:embed="rId6" cstate="print"/>
          <a:srcRect/>
          <a:stretch>
            <a:fillRect/>
          </a:stretch>
        </p:blipFill>
        <p:spPr bwMode="auto">
          <a:xfrm>
            <a:off x="1209648" y="3717032"/>
            <a:ext cx="5882632" cy="1544191"/>
          </a:xfrm>
          <a:prstGeom prst="rect">
            <a:avLst/>
          </a:prstGeom>
          <a:noFill/>
          <a:ln w="9525">
            <a:noFill/>
            <a:miter lim="800000"/>
            <a:headEnd/>
            <a:tailEnd/>
          </a:ln>
        </p:spPr>
      </p:pic>
      <p:pic>
        <p:nvPicPr>
          <p:cNvPr id="20" name="Picture 19" descr="fig19.png"/>
          <p:cNvPicPr>
            <a:picLocks noChangeAspect="1"/>
          </p:cNvPicPr>
          <p:nvPr/>
        </p:nvPicPr>
        <p:blipFill>
          <a:blip r:embed="rId7" cstate="print"/>
          <a:stretch>
            <a:fillRect/>
          </a:stretch>
        </p:blipFill>
        <p:spPr>
          <a:xfrm>
            <a:off x="827584" y="5301208"/>
            <a:ext cx="6534938" cy="1008112"/>
          </a:xfrm>
          <a:prstGeom prst="rect">
            <a:avLst/>
          </a:prstGeom>
        </p:spPr>
      </p:pic>
    </p:spTree>
    <p:extLst>
      <p:ext uri="{BB962C8B-B14F-4D97-AF65-F5344CB8AC3E}">
        <p14:creationId xmlns:p14="http://schemas.microsoft.com/office/powerpoint/2010/main" val="202072002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44</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8" name="Title 2"/>
          <p:cNvSpPr>
            <a:spLocks noGrp="1"/>
          </p:cNvSpPr>
          <p:nvPr>
            <p:ph type="title"/>
          </p:nvPr>
        </p:nvSpPr>
        <p:spPr>
          <a:xfrm>
            <a:off x="693738" y="-171400"/>
            <a:ext cx="8229600" cy="1143000"/>
          </a:xfrm>
        </p:spPr>
        <p:txBody>
          <a:bodyPr/>
          <a:lstStyle/>
          <a:p>
            <a:pPr lvl="0" algn="r" rtl="1"/>
            <a:r>
              <a:rPr lang="fa-IR" sz="2800" dirty="0" smtClean="0">
                <a:cs typeface="B Nazanin" panose="00000400000000000000" pitchFamily="2" charset="-78"/>
              </a:rPr>
              <a:t>کنترل </a:t>
            </a:r>
            <a:r>
              <a:rPr lang="en-US" sz="2800" dirty="0" smtClean="0">
                <a:cs typeface="B Nazanin" panose="00000400000000000000" pitchFamily="2" charset="-78"/>
              </a:rPr>
              <a:t>PID</a:t>
            </a:r>
            <a:r>
              <a:rPr lang="fa-IR" sz="2800" dirty="0" smtClean="0">
                <a:cs typeface="B Nazanin" panose="00000400000000000000" pitchFamily="2" charset="-78"/>
              </a:rPr>
              <a:t>- عملکرد انتگرال گیر</a:t>
            </a:r>
            <a:endParaRPr lang="fa-IR" sz="2800" dirty="0">
              <a:cs typeface="B Nazanin" panose="00000400000000000000" pitchFamily="2" charset="-78"/>
            </a:endParaRP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pic>
        <p:nvPicPr>
          <p:cNvPr id="21" name="Picture 20" descr="fig20.png"/>
          <p:cNvPicPr>
            <a:picLocks noChangeAspect="1"/>
          </p:cNvPicPr>
          <p:nvPr/>
        </p:nvPicPr>
        <p:blipFill>
          <a:blip r:embed="rId3" cstate="print"/>
          <a:stretch>
            <a:fillRect/>
          </a:stretch>
        </p:blipFill>
        <p:spPr>
          <a:xfrm>
            <a:off x="467543" y="836712"/>
            <a:ext cx="7983569" cy="1152128"/>
          </a:xfrm>
          <a:prstGeom prst="rect">
            <a:avLst/>
          </a:prstGeom>
        </p:spPr>
      </p:pic>
      <p:pic>
        <p:nvPicPr>
          <p:cNvPr id="22" name="Picture 21" descr="fig21.png"/>
          <p:cNvPicPr>
            <a:picLocks noChangeAspect="1"/>
          </p:cNvPicPr>
          <p:nvPr/>
        </p:nvPicPr>
        <p:blipFill>
          <a:blip r:embed="rId4" cstate="print"/>
          <a:stretch>
            <a:fillRect/>
          </a:stretch>
        </p:blipFill>
        <p:spPr>
          <a:xfrm>
            <a:off x="467544" y="1988840"/>
            <a:ext cx="8002822" cy="792088"/>
          </a:xfrm>
          <a:prstGeom prst="rect">
            <a:avLst/>
          </a:prstGeom>
        </p:spPr>
      </p:pic>
      <p:pic>
        <p:nvPicPr>
          <p:cNvPr id="19459" name="Picture 3"/>
          <p:cNvPicPr>
            <a:picLocks noChangeAspect="1" noChangeArrowheads="1"/>
          </p:cNvPicPr>
          <p:nvPr/>
        </p:nvPicPr>
        <p:blipFill>
          <a:blip r:embed="rId5" cstate="print"/>
          <a:srcRect/>
          <a:stretch>
            <a:fillRect/>
          </a:stretch>
        </p:blipFill>
        <p:spPr bwMode="auto">
          <a:xfrm>
            <a:off x="1187623" y="2924944"/>
            <a:ext cx="6573907" cy="2304256"/>
          </a:xfrm>
          <a:prstGeom prst="rect">
            <a:avLst/>
          </a:prstGeom>
          <a:noFill/>
          <a:ln w="9525">
            <a:noFill/>
            <a:miter lim="800000"/>
            <a:headEnd/>
            <a:tailEnd/>
          </a:ln>
        </p:spPr>
      </p:pic>
    </p:spTree>
    <p:extLst>
      <p:ext uri="{BB962C8B-B14F-4D97-AF65-F5344CB8AC3E}">
        <p14:creationId xmlns:p14="http://schemas.microsoft.com/office/powerpoint/2010/main" val="202072002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45</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sp>
        <p:nvSpPr>
          <p:cNvPr id="14" name="Title 2"/>
          <p:cNvSpPr txBox="1">
            <a:spLocks/>
          </p:cNvSpPr>
          <p:nvPr/>
        </p:nvSpPr>
        <p:spPr bwMode="auto">
          <a:xfrm>
            <a:off x="846138" y="404664"/>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endParaRPr kumimoji="0" lang="fa-IR" sz="32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sp>
        <p:nvSpPr>
          <p:cNvPr id="25" name="Title 2"/>
          <p:cNvSpPr txBox="1">
            <a:spLocks/>
          </p:cNvSpPr>
          <p:nvPr/>
        </p:nvSpPr>
        <p:spPr bwMode="auto">
          <a:xfrm>
            <a:off x="846138" y="476672"/>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marL="0" marR="0" lvl="0" indent="0" algn="r" defTabSz="914400" rtl="1" eaLnBrk="1" fontAlgn="base" latinLnBrk="0" hangingPunct="1">
              <a:lnSpc>
                <a:spcPct val="100000"/>
              </a:lnSpc>
              <a:spcBef>
                <a:spcPct val="0"/>
              </a:spcBef>
              <a:spcAft>
                <a:spcPct val="0"/>
              </a:spcAft>
              <a:buClrTx/>
              <a:buSzTx/>
              <a:buFont typeface="Courier New" pitchFamily="49" charset="0"/>
              <a:buChar char="o"/>
              <a:tabLst/>
              <a:defRPr/>
            </a:pPr>
            <a:endParaRPr kumimoji="0" lang="fa-IR" sz="2800" b="0" i="0" u="none" strike="noStrike" kern="0" cap="none" spc="0" normalizeH="0" baseline="0" noProof="0" dirty="0">
              <a:ln>
                <a:noFill/>
              </a:ln>
              <a:solidFill>
                <a:schemeClr val="tx2"/>
              </a:solidFill>
              <a:effectLst/>
              <a:uLnTx/>
              <a:uFillTx/>
              <a:latin typeface="+mj-lt"/>
              <a:ea typeface="+mj-ea"/>
              <a:cs typeface="B Nazanin" panose="00000400000000000000" pitchFamily="2" charset="-78"/>
            </a:endParaRPr>
          </a:p>
        </p:txBody>
      </p:sp>
      <p:pic>
        <p:nvPicPr>
          <p:cNvPr id="21" name="Picture 20" descr="fig20.png"/>
          <p:cNvPicPr>
            <a:picLocks noChangeAspect="1"/>
          </p:cNvPicPr>
          <p:nvPr/>
        </p:nvPicPr>
        <p:blipFill>
          <a:blip r:embed="rId3" cstate="print"/>
          <a:srcRect b="62500"/>
          <a:stretch>
            <a:fillRect/>
          </a:stretch>
        </p:blipFill>
        <p:spPr>
          <a:xfrm>
            <a:off x="467543" y="836712"/>
            <a:ext cx="7983569" cy="432048"/>
          </a:xfrm>
          <a:prstGeom prst="rect">
            <a:avLst/>
          </a:prstGeom>
        </p:spPr>
      </p:pic>
      <p:pic>
        <p:nvPicPr>
          <p:cNvPr id="19460" name="Picture 4"/>
          <p:cNvPicPr>
            <a:picLocks noChangeAspect="1" noChangeArrowheads="1"/>
          </p:cNvPicPr>
          <p:nvPr/>
        </p:nvPicPr>
        <p:blipFill>
          <a:blip r:embed="rId4" cstate="print"/>
          <a:srcRect/>
          <a:stretch>
            <a:fillRect/>
          </a:stretch>
        </p:blipFill>
        <p:spPr bwMode="auto">
          <a:xfrm>
            <a:off x="1236409" y="2811388"/>
            <a:ext cx="6791975" cy="1769740"/>
          </a:xfrm>
          <a:prstGeom prst="rect">
            <a:avLst/>
          </a:prstGeom>
          <a:noFill/>
          <a:ln w="9525">
            <a:noFill/>
            <a:miter lim="800000"/>
            <a:headEnd/>
            <a:tailEnd/>
          </a:ln>
        </p:spPr>
      </p:pic>
      <p:pic>
        <p:nvPicPr>
          <p:cNvPr id="20" name="Picture 3"/>
          <p:cNvPicPr>
            <a:picLocks noChangeAspect="1" noChangeArrowheads="1"/>
          </p:cNvPicPr>
          <p:nvPr/>
        </p:nvPicPr>
        <p:blipFill>
          <a:blip r:embed="rId5" cstate="print">
            <a:clrChange>
              <a:clrFrom>
                <a:srgbClr val="FFFFFF"/>
              </a:clrFrom>
              <a:clrTo>
                <a:srgbClr val="FFFFFF">
                  <a:alpha val="0"/>
                </a:srgbClr>
              </a:clrTo>
            </a:clrChange>
          </a:blip>
          <a:srcRect b="31250"/>
          <a:stretch>
            <a:fillRect/>
          </a:stretch>
        </p:blipFill>
        <p:spPr bwMode="auto">
          <a:xfrm>
            <a:off x="1670501" y="980728"/>
            <a:ext cx="6573907" cy="1584176"/>
          </a:xfrm>
          <a:prstGeom prst="rect">
            <a:avLst/>
          </a:prstGeom>
          <a:noFill/>
          <a:ln w="9525">
            <a:noFill/>
            <a:miter lim="800000"/>
            <a:headEnd/>
            <a:tailEnd/>
          </a:ln>
        </p:spPr>
      </p:pic>
      <p:pic>
        <p:nvPicPr>
          <p:cNvPr id="23" name="Picture 22" descr="fig22.png"/>
          <p:cNvPicPr>
            <a:picLocks noChangeAspect="1"/>
          </p:cNvPicPr>
          <p:nvPr/>
        </p:nvPicPr>
        <p:blipFill>
          <a:blip r:embed="rId6" cstate="print"/>
          <a:stretch>
            <a:fillRect/>
          </a:stretch>
        </p:blipFill>
        <p:spPr>
          <a:xfrm>
            <a:off x="899592" y="4581128"/>
            <a:ext cx="7984746" cy="1365628"/>
          </a:xfrm>
          <a:prstGeom prst="rect">
            <a:avLst/>
          </a:prstGeom>
        </p:spPr>
      </p:pic>
      <p:sp>
        <p:nvSpPr>
          <p:cNvPr id="22" name="Title 2"/>
          <p:cNvSpPr>
            <a:spLocks noGrp="1"/>
          </p:cNvSpPr>
          <p:nvPr>
            <p:ph type="title"/>
          </p:nvPr>
        </p:nvSpPr>
        <p:spPr>
          <a:xfrm>
            <a:off x="693738" y="-171400"/>
            <a:ext cx="8229600" cy="1143000"/>
          </a:xfrm>
        </p:spPr>
        <p:txBody>
          <a:bodyPr/>
          <a:lstStyle/>
          <a:p>
            <a:pPr lvl="0" algn="r" rtl="1"/>
            <a:r>
              <a:rPr lang="fa-IR" sz="2800" dirty="0" smtClean="0">
                <a:cs typeface="B Nazanin" panose="00000400000000000000" pitchFamily="2" charset="-78"/>
              </a:rPr>
              <a:t>کنترل </a:t>
            </a:r>
            <a:r>
              <a:rPr lang="en-US" sz="2800" dirty="0" smtClean="0">
                <a:cs typeface="B Nazanin" panose="00000400000000000000" pitchFamily="2" charset="-78"/>
              </a:rPr>
              <a:t>PID</a:t>
            </a:r>
            <a:r>
              <a:rPr lang="fa-IR" sz="2800" dirty="0" smtClean="0">
                <a:cs typeface="B Nazanin" panose="00000400000000000000" pitchFamily="2" charset="-78"/>
              </a:rPr>
              <a:t>- عملکرد انتگرال گیر</a:t>
            </a:r>
            <a:endParaRPr lang="fa-IR" sz="2800" dirty="0">
              <a:cs typeface="B Nazanin" panose="00000400000000000000" pitchFamily="2" charset="-78"/>
            </a:endParaRPr>
          </a:p>
        </p:txBody>
      </p:sp>
    </p:spTree>
    <p:extLst>
      <p:ext uri="{BB962C8B-B14F-4D97-AF65-F5344CB8AC3E}">
        <p14:creationId xmlns:p14="http://schemas.microsoft.com/office/powerpoint/2010/main" val="202072002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46</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pic>
        <p:nvPicPr>
          <p:cNvPr id="20482" name="Picture 2"/>
          <p:cNvPicPr>
            <a:picLocks noChangeAspect="1" noChangeArrowheads="1"/>
          </p:cNvPicPr>
          <p:nvPr/>
        </p:nvPicPr>
        <p:blipFill>
          <a:blip r:embed="rId3" cstate="print"/>
          <a:srcRect/>
          <a:stretch>
            <a:fillRect/>
          </a:stretch>
        </p:blipFill>
        <p:spPr bwMode="auto">
          <a:xfrm>
            <a:off x="755576" y="908720"/>
            <a:ext cx="7889572" cy="5184576"/>
          </a:xfrm>
          <a:prstGeom prst="rect">
            <a:avLst/>
          </a:prstGeom>
          <a:noFill/>
          <a:ln w="9525">
            <a:noFill/>
            <a:miter lim="800000"/>
            <a:headEnd/>
            <a:tailEnd/>
          </a:ln>
        </p:spPr>
      </p:pic>
      <p:sp>
        <p:nvSpPr>
          <p:cNvPr id="20" name="Title 2"/>
          <p:cNvSpPr>
            <a:spLocks noGrp="1"/>
          </p:cNvSpPr>
          <p:nvPr>
            <p:ph type="title"/>
          </p:nvPr>
        </p:nvSpPr>
        <p:spPr>
          <a:xfrm>
            <a:off x="693738" y="-171400"/>
            <a:ext cx="8229600" cy="1143000"/>
          </a:xfrm>
        </p:spPr>
        <p:txBody>
          <a:bodyPr/>
          <a:lstStyle/>
          <a:p>
            <a:pPr lvl="0" algn="r" rtl="1"/>
            <a:r>
              <a:rPr lang="fa-IR" sz="2800" dirty="0" smtClean="0">
                <a:cs typeface="B Nazanin" panose="00000400000000000000" pitchFamily="2" charset="-78"/>
              </a:rPr>
              <a:t>کنترل </a:t>
            </a:r>
            <a:r>
              <a:rPr lang="en-US" sz="2800" dirty="0" smtClean="0">
                <a:cs typeface="B Nazanin" panose="00000400000000000000" pitchFamily="2" charset="-78"/>
              </a:rPr>
              <a:t>PID</a:t>
            </a:r>
            <a:r>
              <a:rPr lang="fa-IR" sz="2800" dirty="0" smtClean="0">
                <a:cs typeface="B Nazanin" panose="00000400000000000000" pitchFamily="2" charset="-78"/>
              </a:rPr>
              <a:t>- عملکرد مشتق گیر</a:t>
            </a:r>
            <a:endParaRPr lang="fa-IR" sz="2800" dirty="0">
              <a:cs typeface="B Nazanin" panose="00000400000000000000" pitchFamily="2" charset="-78"/>
            </a:endParaRPr>
          </a:p>
        </p:txBody>
      </p:sp>
    </p:spTree>
    <p:extLst>
      <p:ext uri="{BB962C8B-B14F-4D97-AF65-F5344CB8AC3E}">
        <p14:creationId xmlns:p14="http://schemas.microsoft.com/office/powerpoint/2010/main" val="202072002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47</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pic>
        <p:nvPicPr>
          <p:cNvPr id="20482" name="Picture 2"/>
          <p:cNvPicPr>
            <a:picLocks noChangeAspect="1" noChangeArrowheads="1"/>
          </p:cNvPicPr>
          <p:nvPr/>
        </p:nvPicPr>
        <p:blipFill>
          <a:blip r:embed="rId3" cstate="print"/>
          <a:srcRect b="91667"/>
          <a:stretch>
            <a:fillRect/>
          </a:stretch>
        </p:blipFill>
        <p:spPr bwMode="auto">
          <a:xfrm>
            <a:off x="755576" y="908720"/>
            <a:ext cx="7889572" cy="432048"/>
          </a:xfrm>
          <a:prstGeom prst="rect">
            <a:avLst/>
          </a:prstGeom>
          <a:noFill/>
          <a:ln w="9525">
            <a:noFill/>
            <a:miter lim="800000"/>
            <a:headEnd/>
            <a:tailEnd/>
          </a:ln>
        </p:spPr>
      </p:pic>
      <p:pic>
        <p:nvPicPr>
          <p:cNvPr id="21506" name="Picture 2"/>
          <p:cNvPicPr>
            <a:picLocks noChangeAspect="1" noChangeArrowheads="1"/>
          </p:cNvPicPr>
          <p:nvPr/>
        </p:nvPicPr>
        <p:blipFill>
          <a:blip r:embed="rId4" cstate="print"/>
          <a:srcRect/>
          <a:stretch>
            <a:fillRect/>
          </a:stretch>
        </p:blipFill>
        <p:spPr bwMode="auto">
          <a:xfrm>
            <a:off x="4139952" y="818616"/>
            <a:ext cx="5040560" cy="2322352"/>
          </a:xfrm>
          <a:prstGeom prst="rect">
            <a:avLst/>
          </a:prstGeom>
          <a:noFill/>
          <a:ln w="9525">
            <a:noFill/>
            <a:miter lim="800000"/>
            <a:headEnd/>
            <a:tailEnd/>
          </a:ln>
        </p:spPr>
      </p:pic>
      <p:pic>
        <p:nvPicPr>
          <p:cNvPr id="21507" name="Picture 3"/>
          <p:cNvPicPr>
            <a:picLocks noChangeAspect="1" noChangeArrowheads="1"/>
          </p:cNvPicPr>
          <p:nvPr/>
        </p:nvPicPr>
        <p:blipFill>
          <a:blip r:embed="rId5" cstate="print"/>
          <a:srcRect/>
          <a:stretch>
            <a:fillRect/>
          </a:stretch>
        </p:blipFill>
        <p:spPr bwMode="auto">
          <a:xfrm>
            <a:off x="1050154" y="3068960"/>
            <a:ext cx="7266262" cy="1872208"/>
          </a:xfrm>
          <a:prstGeom prst="rect">
            <a:avLst/>
          </a:prstGeom>
          <a:noFill/>
          <a:ln w="9525">
            <a:noFill/>
            <a:miter lim="800000"/>
            <a:headEnd/>
            <a:tailEnd/>
          </a:ln>
        </p:spPr>
      </p:pic>
      <p:pic>
        <p:nvPicPr>
          <p:cNvPr id="20" name="Picture 19" descr="fig23.png"/>
          <p:cNvPicPr>
            <a:picLocks noChangeAspect="1"/>
          </p:cNvPicPr>
          <p:nvPr/>
        </p:nvPicPr>
        <p:blipFill>
          <a:blip r:embed="rId6" cstate="print"/>
          <a:stretch>
            <a:fillRect/>
          </a:stretch>
        </p:blipFill>
        <p:spPr>
          <a:xfrm>
            <a:off x="1187624" y="4941168"/>
            <a:ext cx="6954770" cy="1368152"/>
          </a:xfrm>
          <a:prstGeom prst="rect">
            <a:avLst/>
          </a:prstGeom>
        </p:spPr>
      </p:pic>
      <p:sp>
        <p:nvSpPr>
          <p:cNvPr id="21" name="Title 2"/>
          <p:cNvSpPr>
            <a:spLocks noGrp="1"/>
          </p:cNvSpPr>
          <p:nvPr>
            <p:ph type="title"/>
          </p:nvPr>
        </p:nvSpPr>
        <p:spPr>
          <a:xfrm>
            <a:off x="693738" y="-171400"/>
            <a:ext cx="8229600" cy="1143000"/>
          </a:xfrm>
        </p:spPr>
        <p:txBody>
          <a:bodyPr/>
          <a:lstStyle/>
          <a:p>
            <a:pPr lvl="0" algn="r" rtl="1"/>
            <a:r>
              <a:rPr lang="fa-IR" sz="2800" dirty="0" smtClean="0">
                <a:cs typeface="B Nazanin" panose="00000400000000000000" pitchFamily="2" charset="-78"/>
              </a:rPr>
              <a:t>کنترل </a:t>
            </a:r>
            <a:r>
              <a:rPr lang="en-US" sz="2800" dirty="0" smtClean="0">
                <a:cs typeface="B Nazanin" panose="00000400000000000000" pitchFamily="2" charset="-78"/>
              </a:rPr>
              <a:t>PID</a:t>
            </a:r>
            <a:r>
              <a:rPr lang="fa-IR" sz="2800" dirty="0" smtClean="0">
                <a:cs typeface="B Nazanin" panose="00000400000000000000" pitchFamily="2" charset="-78"/>
              </a:rPr>
              <a:t>- عملکرد مشتق گیر</a:t>
            </a:r>
            <a:endParaRPr lang="fa-IR" sz="2800" dirty="0">
              <a:cs typeface="B Nazanin" panose="00000400000000000000" pitchFamily="2" charset="-78"/>
            </a:endParaRPr>
          </a:p>
        </p:txBody>
      </p:sp>
      <p:sp>
        <p:nvSpPr>
          <p:cNvPr id="2" name="Rectangle 1"/>
          <p:cNvSpPr/>
          <p:nvPr/>
        </p:nvSpPr>
        <p:spPr>
          <a:xfrm>
            <a:off x="666924" y="1807174"/>
            <a:ext cx="2470164" cy="1200329"/>
          </a:xfrm>
          <a:prstGeom prst="rect">
            <a:avLst/>
          </a:prstGeom>
        </p:spPr>
        <p:txBody>
          <a:bodyPr wrap="square">
            <a:spAutoFit/>
          </a:bodyPr>
          <a:lstStyle/>
          <a:p>
            <a:pPr marL="285750" indent="-285750" algn="r" rtl="1">
              <a:buFont typeface="Wingdings" panose="05000000000000000000" pitchFamily="2" charset="2"/>
              <a:buChar char="ü"/>
            </a:pPr>
            <a:r>
              <a:rPr lang="fa-IR" dirty="0" smtClean="0">
                <a:cs typeface="B Nazanin" panose="00000400000000000000" pitchFamily="2" charset="-78"/>
              </a:rPr>
              <a:t>اگر </a:t>
            </a:r>
            <a:r>
              <a:rPr lang="en-US" dirty="0" smtClean="0">
                <a:cs typeface="B Nazanin" panose="00000400000000000000" pitchFamily="2" charset="-78"/>
              </a:rPr>
              <a:t>Td</a:t>
            </a:r>
            <a:r>
              <a:rPr lang="fa-IR" dirty="0" smtClean="0">
                <a:cs typeface="B Nazanin" panose="00000400000000000000" pitchFamily="2" charset="-78"/>
              </a:rPr>
              <a:t> </a:t>
            </a:r>
            <a:r>
              <a:rPr lang="en-US" dirty="0" smtClean="0">
                <a:cs typeface="B Nazanin" panose="00000400000000000000" pitchFamily="2" charset="-78"/>
              </a:rPr>
              <a:t> </a:t>
            </a:r>
            <a:r>
              <a:rPr lang="fa-IR" dirty="0">
                <a:cs typeface="B Nazanin" panose="00000400000000000000" pitchFamily="2" charset="-78"/>
              </a:rPr>
              <a:t>از يک ششم پريود نوسانات بزرگ تر شود، کنترلر مشتقي ديگر مؤثر نخواهد بود.</a:t>
            </a:r>
            <a:endParaRPr lang="en-US" dirty="0">
              <a:cs typeface="B Nazanin" panose="00000400000000000000" pitchFamily="2" charset="-78"/>
            </a:endParaRPr>
          </a:p>
        </p:txBody>
      </p:sp>
    </p:spTree>
    <p:extLst>
      <p:ext uri="{BB962C8B-B14F-4D97-AF65-F5344CB8AC3E}">
        <p14:creationId xmlns:p14="http://schemas.microsoft.com/office/powerpoint/2010/main" val="2020720023"/>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48</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sp>
        <p:nvSpPr>
          <p:cNvPr id="21" name="Title 2"/>
          <p:cNvSpPr>
            <a:spLocks noGrp="1"/>
          </p:cNvSpPr>
          <p:nvPr>
            <p:ph type="title"/>
          </p:nvPr>
        </p:nvSpPr>
        <p:spPr>
          <a:xfrm>
            <a:off x="-84140" y="-171400"/>
            <a:ext cx="9007478" cy="1143000"/>
          </a:xfrm>
        </p:spPr>
        <p:txBody>
          <a:bodyPr/>
          <a:lstStyle/>
          <a:p>
            <a:pPr lvl="0" algn="r" rtl="1"/>
            <a:r>
              <a:rPr lang="fa-IR" sz="2800" dirty="0" smtClean="0">
                <a:cs typeface="B Nazanin" panose="00000400000000000000" pitchFamily="2" charset="-78"/>
              </a:rPr>
              <a:t>کنترل </a:t>
            </a:r>
            <a:r>
              <a:rPr lang="en-US" sz="2800" dirty="0" smtClean="0">
                <a:cs typeface="B Nazanin" panose="00000400000000000000" pitchFamily="2" charset="-78"/>
              </a:rPr>
              <a:t>PID</a:t>
            </a:r>
            <a:r>
              <a:rPr lang="fa-IR" sz="2800" dirty="0" smtClean="0">
                <a:cs typeface="B Nazanin" panose="00000400000000000000" pitchFamily="2" charset="-78"/>
              </a:rPr>
              <a:t>- تعیین ضرایب به روش زیگلر نیکولز (پاسخ پله و پاسخ فرکانسی</a:t>
            </a:r>
            <a:r>
              <a:rPr lang="fa-IR" sz="2800" dirty="0">
                <a:cs typeface="B Nazanin" panose="00000400000000000000" pitchFamily="2" charset="-78"/>
              </a:rPr>
              <a:t>)</a:t>
            </a:r>
          </a:p>
        </p:txBody>
      </p:sp>
      <p:sp>
        <p:nvSpPr>
          <p:cNvPr id="14" name="Title 2"/>
          <p:cNvSpPr txBox="1">
            <a:spLocks/>
          </p:cNvSpPr>
          <p:nvPr/>
        </p:nvSpPr>
        <p:spPr bwMode="auto">
          <a:xfrm>
            <a:off x="914398" y="747737"/>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defRPr>
            </a:lvl2pPr>
            <a:lvl3pPr algn="ctr" rtl="0" fontAlgn="base">
              <a:spcBef>
                <a:spcPct val="0"/>
              </a:spcBef>
              <a:spcAft>
                <a:spcPct val="0"/>
              </a:spcAft>
              <a:defRPr sz="4400">
                <a:solidFill>
                  <a:schemeClr val="tx2"/>
                </a:solidFill>
                <a:latin typeface="Arial" pitchFamily="34" charset="0"/>
              </a:defRPr>
            </a:lvl3pPr>
            <a:lvl4pPr algn="ctr" rtl="0" fontAlgn="base">
              <a:spcBef>
                <a:spcPct val="0"/>
              </a:spcBef>
              <a:spcAft>
                <a:spcPct val="0"/>
              </a:spcAft>
              <a:defRPr sz="4400">
                <a:solidFill>
                  <a:schemeClr val="tx2"/>
                </a:solidFill>
                <a:latin typeface="Arial" pitchFamily="34" charset="0"/>
              </a:defRPr>
            </a:lvl4pPr>
            <a:lvl5pPr algn="ctr" rtl="0" fontAlgn="base">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algn="r" rtl="1"/>
            <a:r>
              <a:rPr lang="fa-IR" sz="2800" kern="0" dirty="0" smtClean="0">
                <a:cs typeface="B Nazanin" panose="00000400000000000000" pitchFamily="2" charset="-78"/>
              </a:rPr>
              <a:t>1- روش پاسخ پله:</a:t>
            </a:r>
          </a:p>
          <a:p>
            <a:pPr algn="r" rtl="1"/>
            <a:endParaRPr lang="fa-IR" sz="2800" kern="0" dirty="0">
              <a:cs typeface="B Nazanin" panose="00000400000000000000" pitchFamily="2" charset="-78"/>
            </a:endParaRPr>
          </a:p>
        </p:txBody>
      </p:sp>
      <p:pic>
        <p:nvPicPr>
          <p:cNvPr id="2" name="Picture 1"/>
          <p:cNvPicPr>
            <a:picLocks noChangeAspect="1"/>
          </p:cNvPicPr>
          <p:nvPr/>
        </p:nvPicPr>
        <p:blipFill rotWithShape="1">
          <a:blip r:embed="rId3">
            <a:clrChange>
              <a:clrFrom>
                <a:srgbClr val="FFFFFF"/>
              </a:clrFrom>
              <a:clrTo>
                <a:srgbClr val="FFFFFF">
                  <a:alpha val="0"/>
                </a:srgbClr>
              </a:clrTo>
            </a:clrChange>
          </a:blip>
          <a:srcRect l="25095" t="24406" r="27310" b="23422"/>
          <a:stretch/>
        </p:blipFill>
        <p:spPr>
          <a:xfrm>
            <a:off x="3187850" y="2302344"/>
            <a:ext cx="6192688" cy="3816424"/>
          </a:xfrm>
          <a:prstGeom prst="rect">
            <a:avLst/>
          </a:prstGeom>
        </p:spPr>
      </p:pic>
      <p:pic>
        <p:nvPicPr>
          <p:cNvPr id="4" name="Picture 3"/>
          <p:cNvPicPr>
            <a:picLocks noChangeAspect="1"/>
          </p:cNvPicPr>
          <p:nvPr/>
        </p:nvPicPr>
        <p:blipFill rotWithShape="1">
          <a:blip r:embed="rId4"/>
          <a:srcRect l="20477" t="41343" r="53512" b="47829"/>
          <a:stretch/>
        </p:blipFill>
        <p:spPr>
          <a:xfrm>
            <a:off x="501537" y="876503"/>
            <a:ext cx="5372626" cy="1257423"/>
          </a:xfrm>
          <a:prstGeom prst="rect">
            <a:avLst/>
          </a:prstGeom>
        </p:spPr>
      </p:pic>
      <p:pic>
        <p:nvPicPr>
          <p:cNvPr id="3" name="Picture 2"/>
          <p:cNvPicPr>
            <a:picLocks noChangeAspect="1"/>
          </p:cNvPicPr>
          <p:nvPr/>
        </p:nvPicPr>
        <p:blipFill rotWithShape="1">
          <a:blip r:embed="rId5">
            <a:clrChange>
              <a:clrFrom>
                <a:srgbClr val="FFFFFF"/>
              </a:clrFrom>
              <a:clrTo>
                <a:srgbClr val="FFFFFF">
                  <a:alpha val="0"/>
                </a:srgbClr>
              </a:clrTo>
            </a:clrChange>
          </a:blip>
          <a:srcRect l="47233" t="17516" r="5726" b="17516"/>
          <a:stretch/>
        </p:blipFill>
        <p:spPr>
          <a:xfrm>
            <a:off x="269316" y="2565859"/>
            <a:ext cx="4539222" cy="3524572"/>
          </a:xfrm>
          <a:prstGeom prst="rect">
            <a:avLst/>
          </a:prstGeom>
        </p:spPr>
      </p:pic>
      <p:sp>
        <p:nvSpPr>
          <p:cNvPr id="7" name="Rectangle 6"/>
          <p:cNvSpPr/>
          <p:nvPr/>
        </p:nvSpPr>
        <p:spPr>
          <a:xfrm>
            <a:off x="6804248" y="3511011"/>
            <a:ext cx="1116011" cy="369332"/>
          </a:xfrm>
          <a:prstGeom prst="rect">
            <a:avLst/>
          </a:prstGeom>
        </p:spPr>
        <p:txBody>
          <a:bodyPr wrap="none">
            <a:spAutoFit/>
          </a:bodyPr>
          <a:lstStyle/>
          <a:p>
            <a:pPr algn="r" rtl="1"/>
            <a:r>
              <a:rPr lang="fa-IR" kern="0" dirty="0" smtClean="0">
                <a:cs typeface="B Nazanin" panose="00000400000000000000" pitchFamily="2" charset="-78"/>
              </a:rPr>
              <a:t>با فرض </a:t>
            </a:r>
            <a:r>
              <a:rPr lang="en-US" sz="1600" kern="0" dirty="0" smtClean="0">
                <a:cs typeface="B Nazanin" panose="00000400000000000000" pitchFamily="2" charset="-78"/>
              </a:rPr>
              <a:t>K=1</a:t>
            </a:r>
            <a:endParaRPr lang="en-US" sz="1600" dirty="0"/>
          </a:p>
        </p:txBody>
      </p:sp>
    </p:spTree>
    <p:extLst>
      <p:ext uri="{BB962C8B-B14F-4D97-AF65-F5344CB8AC3E}">
        <p14:creationId xmlns:p14="http://schemas.microsoft.com/office/powerpoint/2010/main" val="370309302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49</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sp>
        <p:nvSpPr>
          <p:cNvPr id="21" name="Title 2"/>
          <p:cNvSpPr>
            <a:spLocks noGrp="1"/>
          </p:cNvSpPr>
          <p:nvPr>
            <p:ph type="title"/>
          </p:nvPr>
        </p:nvSpPr>
        <p:spPr>
          <a:xfrm>
            <a:off x="693738" y="-171400"/>
            <a:ext cx="8229600" cy="1143000"/>
          </a:xfrm>
        </p:spPr>
        <p:txBody>
          <a:bodyPr/>
          <a:lstStyle/>
          <a:p>
            <a:pPr lvl="0" algn="r" rtl="1"/>
            <a:r>
              <a:rPr lang="fa-IR" sz="2800" dirty="0" smtClean="0">
                <a:cs typeface="B Nazanin" panose="00000400000000000000" pitchFamily="2" charset="-78"/>
              </a:rPr>
              <a:t>کنترل </a:t>
            </a:r>
            <a:r>
              <a:rPr lang="en-US" sz="2800" dirty="0" smtClean="0">
                <a:cs typeface="B Nazanin" panose="00000400000000000000" pitchFamily="2" charset="-78"/>
              </a:rPr>
              <a:t>PID</a:t>
            </a:r>
            <a:r>
              <a:rPr lang="fa-IR" sz="2800" dirty="0" smtClean="0">
                <a:cs typeface="B Nazanin" panose="00000400000000000000" pitchFamily="2" charset="-78"/>
              </a:rPr>
              <a:t>- تعیین ضرایب به روش زیگلر نیکولز</a:t>
            </a:r>
            <a:endParaRPr lang="fa-IR" sz="2800" dirty="0">
              <a:cs typeface="B Nazanin" panose="00000400000000000000" pitchFamily="2" charset="-78"/>
            </a:endParaRPr>
          </a:p>
        </p:txBody>
      </p:sp>
      <p:sp>
        <p:nvSpPr>
          <p:cNvPr id="14" name="Title 2"/>
          <p:cNvSpPr txBox="1">
            <a:spLocks/>
          </p:cNvSpPr>
          <p:nvPr/>
        </p:nvSpPr>
        <p:spPr bwMode="auto">
          <a:xfrm>
            <a:off x="2833896" y="1045917"/>
            <a:ext cx="606642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defRPr>
            </a:lvl2pPr>
            <a:lvl3pPr algn="ctr" rtl="0" fontAlgn="base">
              <a:spcBef>
                <a:spcPct val="0"/>
              </a:spcBef>
              <a:spcAft>
                <a:spcPct val="0"/>
              </a:spcAft>
              <a:defRPr sz="4400">
                <a:solidFill>
                  <a:schemeClr val="tx2"/>
                </a:solidFill>
                <a:latin typeface="Arial" pitchFamily="34" charset="0"/>
              </a:defRPr>
            </a:lvl3pPr>
            <a:lvl4pPr algn="ctr" rtl="0" fontAlgn="base">
              <a:spcBef>
                <a:spcPct val="0"/>
              </a:spcBef>
              <a:spcAft>
                <a:spcPct val="0"/>
              </a:spcAft>
              <a:defRPr sz="4400">
                <a:solidFill>
                  <a:schemeClr val="tx2"/>
                </a:solidFill>
                <a:latin typeface="Arial" pitchFamily="34" charset="0"/>
              </a:defRPr>
            </a:lvl4pPr>
            <a:lvl5pPr algn="ctr" rtl="0" fontAlgn="base">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algn="r" rtl="1"/>
            <a:r>
              <a:rPr lang="fa-IR" sz="2800" kern="0" dirty="0" smtClean="0">
                <a:cs typeface="B Nazanin" panose="00000400000000000000" pitchFamily="2" charset="-78"/>
              </a:rPr>
              <a:t>1- روش پاسخ پله:</a:t>
            </a:r>
            <a:endParaRPr lang="en-US" sz="2800" kern="0" dirty="0" smtClean="0">
              <a:cs typeface="B Nazanin" panose="00000400000000000000" pitchFamily="2" charset="-78"/>
            </a:endParaRPr>
          </a:p>
          <a:p>
            <a:pPr marL="457200" indent="-457200" algn="r" rtl="1">
              <a:buFont typeface="Wingdings" panose="05000000000000000000" pitchFamily="2" charset="2"/>
              <a:buChar char="ü"/>
            </a:pPr>
            <a:r>
              <a:rPr lang="fa-IR" sz="2800" kern="0" dirty="0" smtClean="0">
                <a:cs typeface="B Nazanin" panose="00000400000000000000" pitchFamily="2" charset="-78"/>
              </a:rPr>
              <a:t>محاسبه ضرایب با فرض یک بودن بهره فرآیند (اگربهره یک نبود می توان پاسخ را نرمالایز</a:t>
            </a:r>
            <a:r>
              <a:rPr lang="fa-IR" sz="2800" kern="0" dirty="0">
                <a:cs typeface="B Nazanin" panose="00000400000000000000" pitchFamily="2" charset="-78"/>
              </a:rPr>
              <a:t>ه</a:t>
            </a:r>
            <a:r>
              <a:rPr lang="fa-IR" sz="2800" kern="0" dirty="0" smtClean="0">
                <a:cs typeface="B Nazanin" panose="00000400000000000000" pitchFamily="2" charset="-78"/>
              </a:rPr>
              <a:t> کرد) </a:t>
            </a:r>
          </a:p>
          <a:p>
            <a:pPr algn="r" rtl="1"/>
            <a:endParaRPr lang="fa-IR" sz="2800" kern="0" dirty="0">
              <a:cs typeface="B Nazanin" panose="00000400000000000000" pitchFamily="2" charset="-78"/>
            </a:endParaRPr>
          </a:p>
        </p:txBody>
      </p:sp>
      <p:pic>
        <p:nvPicPr>
          <p:cNvPr id="2" name="Picture 1"/>
          <p:cNvPicPr>
            <a:picLocks noChangeAspect="1"/>
          </p:cNvPicPr>
          <p:nvPr/>
        </p:nvPicPr>
        <p:blipFill rotWithShape="1">
          <a:blip r:embed="rId3"/>
          <a:srcRect l="27863" t="23422" r="17519" b="38188"/>
          <a:stretch/>
        </p:blipFill>
        <p:spPr>
          <a:xfrm>
            <a:off x="0" y="2005684"/>
            <a:ext cx="8799415" cy="3477313"/>
          </a:xfrm>
          <a:prstGeom prst="rect">
            <a:avLst/>
          </a:prstGeom>
        </p:spPr>
      </p:pic>
      <p:pic>
        <p:nvPicPr>
          <p:cNvPr id="3" name="Picture 2"/>
          <p:cNvPicPr>
            <a:picLocks noChangeAspect="1"/>
          </p:cNvPicPr>
          <p:nvPr/>
        </p:nvPicPr>
        <p:blipFill rotWithShape="1">
          <a:blip r:embed="rId4"/>
          <a:srcRect l="38931" t="34251" r="27310" b="54239"/>
          <a:stretch/>
        </p:blipFill>
        <p:spPr>
          <a:xfrm>
            <a:off x="1907704" y="5539332"/>
            <a:ext cx="4392488" cy="841995"/>
          </a:xfrm>
          <a:prstGeom prst="rect">
            <a:avLst/>
          </a:prstGeom>
        </p:spPr>
      </p:pic>
    </p:spTree>
    <p:extLst>
      <p:ext uri="{BB962C8B-B14F-4D97-AF65-F5344CB8AC3E}">
        <p14:creationId xmlns:p14="http://schemas.microsoft.com/office/powerpoint/2010/main" val="266848925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50</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sp>
        <p:nvSpPr>
          <p:cNvPr id="21" name="Title 2"/>
          <p:cNvSpPr>
            <a:spLocks noGrp="1"/>
          </p:cNvSpPr>
          <p:nvPr>
            <p:ph type="title"/>
          </p:nvPr>
        </p:nvSpPr>
        <p:spPr>
          <a:xfrm>
            <a:off x="693738" y="-171400"/>
            <a:ext cx="8229600" cy="1143000"/>
          </a:xfrm>
        </p:spPr>
        <p:txBody>
          <a:bodyPr/>
          <a:lstStyle/>
          <a:p>
            <a:pPr lvl="0" algn="r" rtl="1"/>
            <a:r>
              <a:rPr lang="fa-IR" sz="2800" dirty="0" smtClean="0">
                <a:cs typeface="B Nazanin" panose="00000400000000000000" pitchFamily="2" charset="-78"/>
              </a:rPr>
              <a:t>کنترل </a:t>
            </a:r>
            <a:r>
              <a:rPr lang="en-US" sz="2800" dirty="0" smtClean="0">
                <a:cs typeface="B Nazanin" panose="00000400000000000000" pitchFamily="2" charset="-78"/>
              </a:rPr>
              <a:t>PID</a:t>
            </a:r>
            <a:r>
              <a:rPr lang="fa-IR" sz="2800" dirty="0" smtClean="0">
                <a:cs typeface="B Nazanin" panose="00000400000000000000" pitchFamily="2" charset="-78"/>
              </a:rPr>
              <a:t>- تعیین ضرایب به روش زیگلر نیکولز</a:t>
            </a:r>
            <a:endParaRPr lang="fa-IR" sz="2800" dirty="0">
              <a:cs typeface="B Nazanin" panose="00000400000000000000" pitchFamily="2" charset="-78"/>
            </a:endParaRPr>
          </a:p>
        </p:txBody>
      </p:sp>
      <p:sp>
        <p:nvSpPr>
          <p:cNvPr id="14" name="Title 2"/>
          <p:cNvSpPr txBox="1">
            <a:spLocks/>
          </p:cNvSpPr>
          <p:nvPr/>
        </p:nvSpPr>
        <p:spPr bwMode="auto">
          <a:xfrm>
            <a:off x="5220072" y="767488"/>
            <a:ext cx="3690156"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defRPr>
            </a:lvl2pPr>
            <a:lvl3pPr algn="ctr" rtl="0" fontAlgn="base">
              <a:spcBef>
                <a:spcPct val="0"/>
              </a:spcBef>
              <a:spcAft>
                <a:spcPct val="0"/>
              </a:spcAft>
              <a:defRPr sz="4400">
                <a:solidFill>
                  <a:schemeClr val="tx2"/>
                </a:solidFill>
                <a:latin typeface="Arial" pitchFamily="34" charset="0"/>
              </a:defRPr>
            </a:lvl3pPr>
            <a:lvl4pPr algn="ctr" rtl="0" fontAlgn="base">
              <a:spcBef>
                <a:spcPct val="0"/>
              </a:spcBef>
              <a:spcAft>
                <a:spcPct val="0"/>
              </a:spcAft>
              <a:defRPr sz="4400">
                <a:solidFill>
                  <a:schemeClr val="tx2"/>
                </a:solidFill>
                <a:latin typeface="Arial" pitchFamily="34" charset="0"/>
              </a:defRPr>
            </a:lvl4pPr>
            <a:lvl5pPr algn="ctr" rtl="0" fontAlgn="base">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algn="r" rtl="1"/>
            <a:r>
              <a:rPr lang="fa-IR" sz="2800" kern="0" dirty="0" smtClean="0">
                <a:cs typeface="B Nazanin" panose="00000400000000000000" pitchFamily="2" charset="-78"/>
              </a:rPr>
              <a:t>مثال- پاسخ:</a:t>
            </a:r>
          </a:p>
          <a:p>
            <a:pPr algn="r" rtl="1"/>
            <a:endParaRPr lang="fa-IR" sz="2800" kern="0" dirty="0">
              <a:cs typeface="B Nazanin" panose="00000400000000000000" pitchFamily="2" charset="-78"/>
            </a:endParaRPr>
          </a:p>
        </p:txBody>
      </p:sp>
      <p:pic>
        <p:nvPicPr>
          <p:cNvPr id="2" name="Picture 1"/>
          <p:cNvPicPr>
            <a:picLocks noChangeAspect="1"/>
          </p:cNvPicPr>
          <p:nvPr/>
        </p:nvPicPr>
        <p:blipFill rotWithShape="1">
          <a:blip r:embed="rId3"/>
          <a:srcRect l="27309" t="33266" r="15305" b="34250"/>
          <a:stretch/>
        </p:blipFill>
        <p:spPr>
          <a:xfrm>
            <a:off x="296656" y="1319017"/>
            <a:ext cx="8379800" cy="2666916"/>
          </a:xfrm>
          <a:prstGeom prst="rect">
            <a:avLst/>
          </a:prstGeom>
        </p:spPr>
      </p:pic>
      <p:pic>
        <p:nvPicPr>
          <p:cNvPr id="3" name="Picture 2"/>
          <p:cNvPicPr>
            <a:picLocks noChangeAspect="1"/>
          </p:cNvPicPr>
          <p:nvPr/>
        </p:nvPicPr>
        <p:blipFill rotWithShape="1">
          <a:blip r:embed="rId4">
            <a:clrChange>
              <a:clrFrom>
                <a:srgbClr val="FFFFFF"/>
              </a:clrFrom>
              <a:clrTo>
                <a:srgbClr val="FFFFFF">
                  <a:alpha val="0"/>
                </a:srgbClr>
              </a:clrTo>
            </a:clrChange>
          </a:blip>
          <a:srcRect l="27862" t="28344" r="14028" b="43109"/>
          <a:stretch/>
        </p:blipFill>
        <p:spPr>
          <a:xfrm>
            <a:off x="274952" y="3861048"/>
            <a:ext cx="8594094" cy="2373607"/>
          </a:xfrm>
          <a:prstGeom prst="rect">
            <a:avLst/>
          </a:prstGeom>
        </p:spPr>
      </p:pic>
    </p:spTree>
    <p:extLst>
      <p:ext uri="{BB962C8B-B14F-4D97-AF65-F5344CB8AC3E}">
        <p14:creationId xmlns:p14="http://schemas.microsoft.com/office/powerpoint/2010/main" val="6264392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flipV="1">
            <a:off x="0" y="152400"/>
            <a:ext cx="9143998" cy="609600"/>
          </a:xfrm>
          <a:prstGeom prst="rect">
            <a:avLst/>
          </a:prstGeom>
          <a:pattFill prst="pct40">
            <a:fgClr>
              <a:schemeClr val="accent1"/>
            </a:fgClr>
            <a:bgClr>
              <a:schemeClr val="bg1"/>
            </a:bgClr>
          </a:pattFill>
          <a:ln w="12700" cap="flat" cmpd="sng" algn="ctr">
            <a:noFill/>
            <a:prstDash val="solid"/>
            <a:round/>
            <a:headEnd type="none" w="med" len="med"/>
            <a:tailEnd type="none" w="med" len="med"/>
          </a:ln>
          <a:effectLst/>
        </p:spPr>
        <p:txBody>
          <a:bodyPr vert="horz" wrap="square" lIns="90000" tIns="46800" rIns="90000" bIns="46800" numCol="1" rtlCol="1"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fa-IR" sz="1800" b="0" i="0" u="none" strike="noStrike" cap="none" normalizeH="0" baseline="0" smtClean="0">
              <a:ln>
                <a:noFill/>
              </a:ln>
              <a:solidFill>
                <a:schemeClr val="tx1"/>
              </a:solidFill>
              <a:effectLst/>
              <a:latin typeface="Arial" pitchFamily="34" charset="0"/>
            </a:endParaRPr>
          </a:p>
        </p:txBody>
      </p:sp>
      <p:sp>
        <p:nvSpPr>
          <p:cNvPr id="5" name="Slide Number Placeholder 4"/>
          <p:cNvSpPr>
            <a:spLocks noGrp="1"/>
          </p:cNvSpPr>
          <p:nvPr>
            <p:ph type="sldNum" sz="quarter" idx="12"/>
          </p:nvPr>
        </p:nvSpPr>
        <p:spPr>
          <a:xfrm>
            <a:off x="8676456" y="6093296"/>
            <a:ext cx="467544" cy="476250"/>
          </a:xfrm>
        </p:spPr>
        <p:txBody>
          <a:bodyPr/>
          <a:lstStyle/>
          <a:p>
            <a:pPr algn="l"/>
            <a:fld id="{4A328935-7553-492B-905D-6F3CFA92109F}" type="slidenum">
              <a:rPr lang="en-US" altLang="fa-IR" smtClean="0"/>
              <a:pPr algn="l"/>
              <a:t>51</a:t>
            </a:fld>
            <a:endParaRPr lang="en-US" altLang="fa-IR" dirty="0"/>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9" name="Rectangle 18"/>
          <p:cNvSpPr/>
          <p:nvPr/>
        </p:nvSpPr>
        <p:spPr>
          <a:xfrm>
            <a:off x="0" y="6453336"/>
            <a:ext cx="9324528" cy="461665"/>
          </a:xfrm>
          <a:prstGeom prst="rect">
            <a:avLst/>
          </a:prstGeom>
        </p:spPr>
        <p:txBody>
          <a:bodyPr wrap="square">
            <a:spAutoFit/>
          </a:bodyPr>
          <a:lstStyle/>
          <a:p>
            <a:r>
              <a:rPr lang="en-US" sz="1200" dirty="0" err="1" smtClean="0">
                <a:solidFill>
                  <a:srgbClr val="FFFFFF"/>
                </a:solidFill>
              </a:rPr>
              <a:t>Åström</a:t>
            </a:r>
            <a:r>
              <a:rPr lang="en-US" sz="1200" dirty="0" smtClean="0">
                <a:solidFill>
                  <a:srgbClr val="FFFFFF"/>
                </a:solidFill>
              </a:rPr>
              <a:t>, Karl Johan, and Tore </a:t>
            </a:r>
            <a:r>
              <a:rPr lang="en-US" sz="1200" dirty="0" err="1" smtClean="0">
                <a:solidFill>
                  <a:srgbClr val="FFFFFF"/>
                </a:solidFill>
              </a:rPr>
              <a:t>Hägglund</a:t>
            </a:r>
            <a:r>
              <a:rPr lang="en-US" sz="1200" dirty="0" smtClean="0">
                <a:solidFill>
                  <a:srgbClr val="FFFFFF"/>
                </a:solidFill>
              </a:rPr>
              <a:t>. </a:t>
            </a:r>
            <a:r>
              <a:rPr lang="en-US" sz="1200" i="1" dirty="0" smtClean="0">
                <a:solidFill>
                  <a:srgbClr val="FFFFFF"/>
                </a:solidFill>
              </a:rPr>
              <a:t>PID controllers: theory, design, and tuning</a:t>
            </a:r>
            <a:r>
              <a:rPr lang="en-US" sz="1200" dirty="0" smtClean="0">
                <a:solidFill>
                  <a:srgbClr val="FFFFFF"/>
                </a:solidFill>
              </a:rPr>
              <a:t>. Vol. 2. Research Triangle Park, NC: Instrument society of America, 1995.</a:t>
            </a:r>
            <a:endParaRPr lang="fa-IR" sz="1200" dirty="0">
              <a:solidFill>
                <a:srgbClr val="FFFFFF"/>
              </a:solidFill>
            </a:endParaRPr>
          </a:p>
        </p:txBody>
      </p:sp>
      <p:sp>
        <p:nvSpPr>
          <p:cNvPr id="21" name="Title 2"/>
          <p:cNvSpPr>
            <a:spLocks noGrp="1"/>
          </p:cNvSpPr>
          <p:nvPr>
            <p:ph type="title"/>
          </p:nvPr>
        </p:nvSpPr>
        <p:spPr>
          <a:xfrm>
            <a:off x="693738" y="-171400"/>
            <a:ext cx="8229600" cy="1143000"/>
          </a:xfrm>
        </p:spPr>
        <p:txBody>
          <a:bodyPr/>
          <a:lstStyle/>
          <a:p>
            <a:pPr lvl="0" algn="r" rtl="1"/>
            <a:r>
              <a:rPr lang="fa-IR" sz="2800" dirty="0" smtClean="0">
                <a:cs typeface="B Nazanin" panose="00000400000000000000" pitchFamily="2" charset="-78"/>
              </a:rPr>
              <a:t>کنترل </a:t>
            </a:r>
            <a:r>
              <a:rPr lang="en-US" sz="2800" dirty="0" smtClean="0">
                <a:cs typeface="B Nazanin" panose="00000400000000000000" pitchFamily="2" charset="-78"/>
              </a:rPr>
              <a:t>PID</a:t>
            </a:r>
            <a:r>
              <a:rPr lang="fa-IR" sz="2800" dirty="0" smtClean="0">
                <a:cs typeface="B Nazanin" panose="00000400000000000000" pitchFamily="2" charset="-78"/>
              </a:rPr>
              <a:t>- تعیین ضرایب به روش زیگلر نیکولز</a:t>
            </a:r>
            <a:endParaRPr lang="fa-IR" sz="2800" dirty="0">
              <a:cs typeface="B Nazanin" panose="00000400000000000000" pitchFamily="2" charset="-78"/>
            </a:endParaRPr>
          </a:p>
        </p:txBody>
      </p:sp>
      <p:sp>
        <p:nvSpPr>
          <p:cNvPr id="14" name="Title 2"/>
          <p:cNvSpPr txBox="1">
            <a:spLocks/>
          </p:cNvSpPr>
          <p:nvPr/>
        </p:nvSpPr>
        <p:spPr bwMode="auto">
          <a:xfrm>
            <a:off x="5220072" y="767488"/>
            <a:ext cx="3690156"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defRPr>
            </a:lvl2pPr>
            <a:lvl3pPr algn="ctr" rtl="0" fontAlgn="base">
              <a:spcBef>
                <a:spcPct val="0"/>
              </a:spcBef>
              <a:spcAft>
                <a:spcPct val="0"/>
              </a:spcAft>
              <a:defRPr sz="4400">
                <a:solidFill>
                  <a:schemeClr val="tx2"/>
                </a:solidFill>
                <a:latin typeface="Arial" pitchFamily="34" charset="0"/>
              </a:defRPr>
            </a:lvl3pPr>
            <a:lvl4pPr algn="ctr" rtl="0" fontAlgn="base">
              <a:spcBef>
                <a:spcPct val="0"/>
              </a:spcBef>
              <a:spcAft>
                <a:spcPct val="0"/>
              </a:spcAft>
              <a:defRPr sz="4400">
                <a:solidFill>
                  <a:schemeClr val="tx2"/>
                </a:solidFill>
                <a:latin typeface="Arial" pitchFamily="34" charset="0"/>
              </a:defRPr>
            </a:lvl4pPr>
            <a:lvl5pPr algn="ctr" rtl="0" fontAlgn="base">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algn="r" rtl="1"/>
            <a:r>
              <a:rPr lang="fa-IR" sz="2800" kern="0" dirty="0" smtClean="0">
                <a:cs typeface="B Nazanin" panose="00000400000000000000" pitchFamily="2" charset="-78"/>
              </a:rPr>
              <a:t>مثال- پاسخ:</a:t>
            </a:r>
          </a:p>
          <a:p>
            <a:pPr algn="r" rtl="1"/>
            <a:endParaRPr lang="fa-IR" sz="2800" kern="0" dirty="0">
              <a:cs typeface="B Nazanin" panose="00000400000000000000" pitchFamily="2" charset="-78"/>
            </a:endParaRPr>
          </a:p>
        </p:txBody>
      </p:sp>
      <p:pic>
        <p:nvPicPr>
          <p:cNvPr id="7" name="Picture 6"/>
          <p:cNvPicPr>
            <a:picLocks noChangeAspect="1"/>
          </p:cNvPicPr>
          <p:nvPr/>
        </p:nvPicPr>
        <p:blipFill rotWithShape="1">
          <a:blip r:embed="rId3">
            <a:clrChange>
              <a:clrFrom>
                <a:srgbClr val="FFFFFF"/>
              </a:clrFrom>
              <a:clrTo>
                <a:srgbClr val="FFFFFF">
                  <a:alpha val="0"/>
                </a:srgbClr>
              </a:clrTo>
            </a:clrChange>
          </a:blip>
          <a:srcRect l="27863" t="23422" r="16241" b="15548"/>
          <a:stretch/>
        </p:blipFill>
        <p:spPr>
          <a:xfrm>
            <a:off x="384746" y="1247900"/>
            <a:ext cx="8138378" cy="4995836"/>
          </a:xfrm>
          <a:prstGeom prst="rect">
            <a:avLst/>
          </a:prstGeom>
        </p:spPr>
      </p:pic>
    </p:spTree>
    <p:extLst>
      <p:ext uri="{BB962C8B-B14F-4D97-AF65-F5344CB8AC3E}">
        <p14:creationId xmlns:p14="http://schemas.microsoft.com/office/powerpoint/2010/main" val="373242808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2339752" y="2564904"/>
            <a:ext cx="4788024" cy="1440160"/>
          </a:xfrm>
        </p:spPr>
        <p:txBody>
          <a:bodyPr/>
          <a:lstStyle/>
          <a:p>
            <a:pPr algn="ctr"/>
            <a:r>
              <a:rPr lang="fa-IR" altLang="fa-IR" sz="6600" dirty="0" smtClean="0">
                <a:solidFill>
                  <a:srgbClr val="008000"/>
                </a:solidFill>
                <a:cs typeface="B Titr" panose="00000700000000000000" pitchFamily="2" charset="-78"/>
              </a:rPr>
              <a:t>موفق باشید!</a:t>
            </a:r>
            <a:endParaRPr lang="en-US" altLang="fa-IR" sz="6600" dirty="0">
              <a:solidFill>
                <a:srgbClr val="008000"/>
              </a:solidFill>
              <a:cs typeface="B Titr" panose="00000700000000000000" pitchFamily="2" charset="-78"/>
            </a:endParaRPr>
          </a:p>
        </p:txBody>
      </p:sp>
      <p:sp>
        <p:nvSpPr>
          <p:cNvPr id="13" name="AutoShape 4" descr="Image result for Kamerlingh Onnes"/>
          <p:cNvSpPr>
            <a:spLocks noChangeAspect="1" noChangeArrowheads="1"/>
          </p:cNvSpPr>
          <p:nvPr/>
        </p:nvSpPr>
        <p:spPr bwMode="auto">
          <a:xfrm>
            <a:off x="8923338"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5" name="AutoShape 6" descr="Image result for Kamerlingh Onnes"/>
          <p:cNvSpPr>
            <a:spLocks noChangeAspect="1" noChangeArrowheads="1"/>
          </p:cNvSpPr>
          <p:nvPr/>
        </p:nvSpPr>
        <p:spPr bwMode="auto">
          <a:xfrm>
            <a:off x="9075738"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
        <p:nvSpPr>
          <p:cNvPr id="17" name="AutoShape 8" descr="Image result for Kamerlingh Onnes"/>
          <p:cNvSpPr>
            <a:spLocks noChangeAspect="1" noChangeArrowheads="1"/>
          </p:cNvSpPr>
          <p:nvPr/>
        </p:nvSpPr>
        <p:spPr bwMode="auto">
          <a:xfrm>
            <a:off x="9228138"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a-IR"/>
          </a:p>
        </p:txBody>
      </p:sp>
    </p:spTree>
    <p:extLst>
      <p:ext uri="{BB962C8B-B14F-4D97-AF65-F5344CB8AC3E}">
        <p14:creationId xmlns:p14="http://schemas.microsoft.com/office/powerpoint/2010/main" val="790370102"/>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EXPOINTINIT" val=""/>
  <p:tag name="USEAMSFONTS" val="Wahr"/>
  <p:tag name="EMBEDFONTS" val="Wahr"/>
  <p:tag name="USEBOLDAMS" val="Falsch"/>
  <p:tag name="DEFAULTDISPLAYSOURCE" val="\documentclass{article}\pagestyle{empty}&#10;\begin{document}&#10;\[&#10;&#10;\]&#10;\end{document}&#10;"/>
  <p:tag name="TEX2PS" val="latex $(base).tex; dvips -D $(res) -E -o $(base).ps $(base).dvi"/>
  <p:tag name="EXTERNALEDITCOMMAND" val="notepad %"/>
  <p:tag name="GHOSTSCRIPTCOMMAND" val="C:\Programme\gs\gs6.50\bin\gswin32c"/>
  <p:tag name="DEFAULTFONTSIZE" val="10"/>
  <p:tag name="DEFAULTBITMAP" val="pngmono"/>
  <p:tag name="DEFAULTBLEND" val="Falsch"/>
  <p:tag name="DEFAULTTRANSPARENT" val="Wahr"/>
  <p:tag name="DEFAULTWORKAROUNDTRANSPARENCYBUG" val="Falsch"/>
  <p:tag name="DEFAULTRESOLUTION" val="1200"/>
  <p:tag name="DEFAULTWIDTH" val="349"/>
  <p:tag name="DEFAULTHEIGHT" val="280"/>
  <p:tag name="DEFAULTMAGNIFICATION" val="2"/>
</p:tagLst>
</file>

<file path=ppt/theme/theme1.xml><?xml version="1.0" encoding="utf-8"?>
<a:theme xmlns:a="http://schemas.openxmlformats.org/drawingml/2006/main" name="Standarddesign">
  <a:themeElements>
    <a:clrScheme name="Standard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tandard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fa-IR"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fa-IR"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Standard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tandard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tandard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tandard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tandard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tandard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tandard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tandard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tandard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tandard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tandard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tandard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12106</TotalTime>
  <Words>3676</Words>
  <Application>Microsoft Office PowerPoint</Application>
  <PresentationFormat>On-screen Show (4:3)</PresentationFormat>
  <Paragraphs>286</Paragraphs>
  <Slides>52</Slides>
  <Notes>50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52</vt:i4>
      </vt:variant>
    </vt:vector>
  </HeadingPairs>
  <TitlesOfParts>
    <vt:vector size="61" baseType="lpstr">
      <vt:lpstr> b titr</vt:lpstr>
      <vt:lpstr>Arial</vt:lpstr>
      <vt:lpstr>B Nazanin</vt:lpstr>
      <vt:lpstr>B Titr</vt:lpstr>
      <vt:lpstr>Courier New</vt:lpstr>
      <vt:lpstr>Times New Roman</vt:lpstr>
      <vt:lpstr>Titr</vt:lpstr>
      <vt:lpstr>Wingdings</vt:lpstr>
      <vt:lpstr>Standarddesign</vt:lpstr>
      <vt:lpstr>Process modeling &amp; Controller design</vt:lpstr>
      <vt:lpstr>فهرست مطالب:</vt:lpstr>
      <vt:lpstr>PowerPoint Presentation</vt:lpstr>
      <vt:lpstr>مدلسازی فرآیند</vt:lpstr>
      <vt:lpstr>مدلسازی فرآیند-  مدل سازی استاتیکی</vt:lpstr>
      <vt:lpstr>مدلسازی فرآیند-  مدل سازی استاتیکی</vt:lpstr>
      <vt:lpstr>بلوک دیاگرام کنترل حلقه بسته- نویز و اغتشاش بار</vt:lpstr>
      <vt:lpstr>بلوک دیاگرام کنترل حلقه بسته- نویز و اغتشاش بار</vt:lpstr>
      <vt:lpstr>مدلسازی فرآیند-  مدل سازی دینامیکی</vt:lpstr>
      <vt:lpstr>مدلسازی فرآیند-  مدل سازی دینامیکی</vt:lpstr>
      <vt:lpstr>مدلسازی فرآیند-  پاسخ پله</vt:lpstr>
      <vt:lpstr>مدلسازی فرآیند-  پاسخ پله</vt:lpstr>
      <vt:lpstr>مدلسازی فرآیند-  پاسخ پله</vt:lpstr>
      <vt:lpstr>مدل سازی فرآیند</vt:lpstr>
      <vt:lpstr>مدل سازی فرآیند</vt:lpstr>
      <vt:lpstr>مدل سازی فرآیند</vt:lpstr>
      <vt:lpstr>مدل سازی فرآیند</vt:lpstr>
      <vt:lpstr>مدل سازی فرآیند- در متداول ترین حالات: </vt:lpstr>
      <vt:lpstr>مدل سازی فرآیند- در متداول ترین حالات: </vt:lpstr>
      <vt:lpstr>مدل سازی فرآیند- در متداول ترین حالات: </vt:lpstr>
      <vt:lpstr>مدل سازی فرآیند- بررسی پاسخ پله فرآیند در متداول ترین حالت: </vt:lpstr>
      <vt:lpstr>مدل سازی فرآیند- در متداول ترین حالات: </vt:lpstr>
      <vt:lpstr>مدل سازی فرآیند- در متداول ترین حالات: </vt:lpstr>
      <vt:lpstr>مدل سازی فرآیند- در متداول ترین حالات: </vt:lpstr>
      <vt:lpstr>مدل سازی فرآیند- بررسی پاسخ پله فرآیند در متداول ترین حالت: </vt:lpstr>
      <vt:lpstr>مدل سازی فرآیند- در متداول ترین حالت: </vt:lpstr>
      <vt:lpstr>مدل سازی فرآیند- بررسی پاسخ پله فرآیند در متداول ترین حالت: </vt:lpstr>
      <vt:lpstr>PowerPoint Presentation</vt:lpstr>
      <vt:lpstr>انواع کنترولر</vt:lpstr>
      <vt:lpstr>انواع کنترولر- نوع روشن- خاموش</vt:lpstr>
      <vt:lpstr>انواع کنترولر- کنترولر نوع PID</vt:lpstr>
      <vt:lpstr>کنترولر PID</vt:lpstr>
      <vt:lpstr> کنترولر PID</vt:lpstr>
      <vt:lpstr>کنترولر نوع تناسبی (P)</vt:lpstr>
      <vt:lpstr>کنترولر نوع تناسبی (P)</vt:lpstr>
      <vt:lpstr>کنترولر نوع تناسبی (P)</vt:lpstr>
      <vt:lpstr>انواع کنترولر</vt:lpstr>
      <vt:lpstr>انواع کنترولر</vt:lpstr>
      <vt:lpstr>انواع کنترولر- کنترل تناسبی</vt:lpstr>
      <vt:lpstr>انواع کنترولر- کنترل تناسبی</vt:lpstr>
      <vt:lpstr>انواع کنترولر- کنترل PID</vt:lpstr>
      <vt:lpstr>انواع کنترولر- کنترل PID</vt:lpstr>
      <vt:lpstr>کنترل PID- اثر عملکرد تناسبی</vt:lpstr>
      <vt:lpstr>کنترل PID- عملکرد انتگرال گیر</vt:lpstr>
      <vt:lpstr>کنترل PID- عملکرد انتگرال گیر</vt:lpstr>
      <vt:lpstr>کنترل PID- عملکرد مشتق گیر</vt:lpstr>
      <vt:lpstr>کنترل PID- عملکرد مشتق گیر</vt:lpstr>
      <vt:lpstr>کنترل PID- تعیین ضرایب به روش زیگلر نیکولز (پاسخ پله و پاسخ فرکانسی)</vt:lpstr>
      <vt:lpstr>کنترل PID- تعیین ضرایب به روش زیگلر نیکولز</vt:lpstr>
      <vt:lpstr>کنترل PID- تعیین ضرایب به روش زیگلر نیکولز</vt:lpstr>
      <vt:lpstr>کنترل PID- تعیین ضرایب به روش زیگلر نیکولز</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dc:creator>
  <cp:lastModifiedBy>iraniaan1700</cp:lastModifiedBy>
  <cp:revision>624</cp:revision>
  <cp:lastPrinted>1601-01-01T00:00:00Z</cp:lastPrinted>
  <dcterms:created xsi:type="dcterms:W3CDTF">1601-01-01T00:00:00Z</dcterms:created>
  <dcterms:modified xsi:type="dcterms:W3CDTF">2025-05-18T08:41:46Z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